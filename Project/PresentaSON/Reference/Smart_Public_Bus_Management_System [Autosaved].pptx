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9" r:id="rId4"/>
    <p:sldId id="258" r:id="rId5"/>
    <p:sldId id="260" r:id="rId6"/>
    <p:sldId id="261" r:id="rId7"/>
    <p:sldId id="262" r:id="rId8"/>
    <p:sldId id="263" r:id="rId9"/>
    <p:sldId id="264" r:id="rId10"/>
    <p:sldId id="265" r:id="rId11"/>
    <p:sldId id="267"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66E"/>
    <a:srgbClr val="ECFDF5"/>
    <a:srgbClr val="1E3A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2" d="100"/>
          <a:sy n="52" d="100"/>
        </p:scale>
        <p:origin x="85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2D3B3-209B-6EDB-9BEA-0D8227D237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0ECE33-D852-3551-3FA3-579E338E94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B147B-F5F0-E942-2EF6-910B89B1699D}"/>
              </a:ext>
            </a:extLst>
          </p:cNvPr>
          <p:cNvSpPr>
            <a:spLocks noGrp="1"/>
          </p:cNvSpPr>
          <p:nvPr>
            <p:ph type="body" idx="1"/>
          </p:nvPr>
        </p:nvSpPr>
        <p:spPr/>
        <p:txBody>
          <a:bodyPr/>
          <a:lstStyle/>
          <a:p>
            <a:r>
              <a:rPr dirty="0"/>
              <a:t>Invite questions and close by returning to the project's value: visible operational information for every passenger.</a:t>
            </a:r>
          </a:p>
          <a:p>
            <a:endParaRPr dirty="0"/>
          </a:p>
          <a:p>
            <a:r>
              <a:rPr dirty="0"/>
              <a:t>[Sources]</a:t>
            </a:r>
          </a:p>
          <a:p>
            <a:r>
              <a:rPr dirty="0"/>
              <a:t>- User-provided project brief, 25 August 2026.</a:t>
            </a:r>
          </a:p>
          <a:p>
            <a:r>
              <a:rPr dirty="0"/>
              <a:t>- </a:t>
            </a:r>
            <a:r>
              <a:rPr dirty="0" err="1"/>
              <a:t>Lucide</a:t>
            </a:r>
            <a:r>
              <a:rPr dirty="0"/>
              <a:t> Icons, ISC License: https://lucide.dev</a:t>
            </a:r>
          </a:p>
        </p:txBody>
      </p:sp>
      <p:sp>
        <p:nvSpPr>
          <p:cNvPr id="4" name="Slide Number Placeholder 3">
            <a:extLst>
              <a:ext uri="{FF2B5EF4-FFF2-40B4-BE49-F238E27FC236}">
                <a16:creationId xmlns:a16="http://schemas.microsoft.com/office/drawing/2014/main" id="{F6BFC845-C997-5700-B168-2E60472297F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5952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2D3B3-209B-6EDB-9BEA-0D8227D237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0ECE33-D852-3551-3FA3-579E338E94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B147B-F5F0-E942-2EF6-910B89B1699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6BFC845-C997-5700-B168-2E60472297F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17219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sv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svg"/></Relationships>
</file>

<file path=ppt/slides/_rels/slide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5.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17.svg"/><Relationship Id="rId7" Type="http://schemas.openxmlformats.org/officeDocument/2006/relationships/image" Target="../media/image26.svg"/><Relationship Id="rId12" Type="http://schemas.openxmlformats.org/officeDocument/2006/relationships/image" Target="../media/image31.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5.svg"/><Relationship Id="rId11" Type="http://schemas.openxmlformats.org/officeDocument/2006/relationships/image" Target="../media/image30.svg"/><Relationship Id="rId5" Type="http://schemas.openxmlformats.org/officeDocument/2006/relationships/image" Target="../media/image24.sv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svg"/></Relationships>
</file>

<file path=ppt/slides/_rels/slide6.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5.svg"/><Relationship Id="rId5" Type="http://schemas.openxmlformats.org/officeDocument/2006/relationships/image" Target="../media/image34.sv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svg"/></Relationships>
</file>

<file path=ppt/slides/_rels/slide7.xml.rels><?xml version="1.0" encoding="UTF-8" standalone="yes"?>
<Relationships xmlns="http://schemas.openxmlformats.org/package/2006/relationships"><Relationship Id="rId8" Type="http://schemas.openxmlformats.org/officeDocument/2006/relationships/image" Target="../media/image42.svg"/><Relationship Id="rId13" Type="http://schemas.openxmlformats.org/officeDocument/2006/relationships/image" Target="../media/image46.svg"/><Relationship Id="rId3" Type="http://schemas.openxmlformats.org/officeDocument/2006/relationships/image" Target="../media/image40.svg"/><Relationship Id="rId7" Type="http://schemas.openxmlformats.org/officeDocument/2006/relationships/image" Target="../media/image41.svg"/><Relationship Id="rId12" Type="http://schemas.openxmlformats.org/officeDocument/2006/relationships/image" Target="../media/image45.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svg"/><Relationship Id="rId11" Type="http://schemas.openxmlformats.org/officeDocument/2006/relationships/image" Target="../media/image44.svg"/><Relationship Id="rId5" Type="http://schemas.openxmlformats.org/officeDocument/2006/relationships/image" Target="../media/image19.svg"/><Relationship Id="rId10" Type="http://schemas.openxmlformats.org/officeDocument/2006/relationships/image" Target="../media/image26.svg"/><Relationship Id="rId4" Type="http://schemas.openxmlformats.org/officeDocument/2006/relationships/image" Target="../media/image18.svg"/><Relationship Id="rId9" Type="http://schemas.openxmlformats.org/officeDocument/2006/relationships/image" Target="../media/image43.svg"/><Relationship Id="rId14" Type="http://schemas.openxmlformats.org/officeDocument/2006/relationships/image" Target="../media/image47.svg"/></Relationships>
</file>

<file path=ppt/slides/_rels/slide8.xml.rels><?xml version="1.0" encoding="UTF-8" standalone="yes"?>
<Relationships xmlns="http://schemas.openxmlformats.org/package/2006/relationships"><Relationship Id="rId8" Type="http://schemas.openxmlformats.org/officeDocument/2006/relationships/image" Target="../media/image53.svg"/><Relationship Id="rId13" Type="http://schemas.openxmlformats.org/officeDocument/2006/relationships/image" Target="../media/image57.svg"/><Relationship Id="rId3" Type="http://schemas.openxmlformats.org/officeDocument/2006/relationships/image" Target="../media/image48.svg"/><Relationship Id="rId7" Type="http://schemas.openxmlformats.org/officeDocument/2006/relationships/image" Target="../media/image52.svg"/><Relationship Id="rId12" Type="http://schemas.openxmlformats.org/officeDocument/2006/relationships/image" Target="../media/image27.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1.svg"/><Relationship Id="rId11" Type="http://schemas.openxmlformats.org/officeDocument/2006/relationships/image" Target="../media/image56.svg"/><Relationship Id="rId5" Type="http://schemas.openxmlformats.org/officeDocument/2006/relationships/image" Target="../media/image50.svg"/><Relationship Id="rId10" Type="http://schemas.openxmlformats.org/officeDocument/2006/relationships/image" Target="../media/image55.svg"/><Relationship Id="rId4" Type="http://schemas.openxmlformats.org/officeDocument/2006/relationships/image" Target="../media/image49.svg"/><Relationship Id="rId9" Type="http://schemas.openxmlformats.org/officeDocument/2006/relationships/image" Target="../media/image54.svg"/><Relationship Id="rId14" Type="http://schemas.openxmlformats.org/officeDocument/2006/relationships/image" Target="../media/image58.svg"/></Relationships>
</file>

<file path=ppt/slides/_rels/slide9.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59.svg"/><Relationship Id="rId7" Type="http://schemas.openxmlformats.org/officeDocument/2006/relationships/image" Target="../media/image57.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56.svg"/><Relationship Id="rId10" Type="http://schemas.openxmlformats.org/officeDocument/2006/relationships/image" Target="../media/image62.svg"/><Relationship Id="rId4" Type="http://schemas.openxmlformats.org/officeDocument/2006/relationships/image" Target="../media/image60.svg"/><Relationship Id="rId9" Type="http://schemas.openxmlformats.org/officeDocument/2006/relationships/image" Target="../media/image61.svg"/></Relationships>
</file>

<file path=ppt/slides/_rels/slide10.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3.svg"/><Relationship Id="rId7" Type="http://schemas.openxmlformats.org/officeDocument/2006/relationships/image" Target="../media/image47.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6.svg"/><Relationship Id="rId11" Type="http://schemas.openxmlformats.org/officeDocument/2006/relationships/image" Target="../media/image70.svg"/><Relationship Id="rId5" Type="http://schemas.openxmlformats.org/officeDocument/2006/relationships/image" Target="../media/image65.svg"/><Relationship Id="rId10" Type="http://schemas.openxmlformats.org/officeDocument/2006/relationships/image" Target="../media/image69.svg"/><Relationship Id="rId4" Type="http://schemas.openxmlformats.org/officeDocument/2006/relationships/image" Target="../media/image64.svg"/><Relationship Id="rId9" Type="http://schemas.openxmlformats.org/officeDocument/2006/relationships/image" Target="../media/image68.sv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B4DA0538-3A68-4A32-A1CD-2AE3B61D9D10}"/>
              </a:ext>
            </a:extLst>
          </p:cNvPr>
          <p:cNvSpPr>
            <a:spLocks noGrp="1"/>
          </p:cNvSpPr>
          <p:nvPr/>
        </p:nvSpPr>
        <p:spPr>
          <a:xfrm>
            <a:off x="0" y="0"/>
            <a:ext cx="171450" cy="6858000"/>
          </a:xfrm>
          <a:prstGeom prst="rect">
            <a:avLst/>
          </a:prstGeom>
          <a:solidFill>
            <a:srgbClr val="1E3A8A"/>
          </a:solidFill>
          <a:ln w="0">
            <a:noFill/>
            <a:prstDash val="solid"/>
          </a:ln>
        </p:spPr>
      </p:sp>
      <p:sp>
        <p:nvSpPr>
          <p:cNvPr id="2" name="Rectangle: Rounded Corners 1">
            <a:extLst>
              <a:ext uri="{FF2B5EF4-FFF2-40B4-BE49-F238E27FC236}">
                <a16:creationId xmlns:a16="http://schemas.microsoft.com/office/drawing/2014/main" id="{B9EC58BF-2525-438A-885A-BB726392CE62}"/>
              </a:ext>
            </a:extLst>
          </p:cNvPr>
          <p:cNvSpPr>
            <a:spLocks noGrp="1"/>
          </p:cNvSpPr>
          <p:nvPr/>
        </p:nvSpPr>
        <p:spPr>
          <a:xfrm>
            <a:off x="685800" y="609600"/>
            <a:ext cx="76200" cy="666750"/>
          </a:xfrm>
          <a:prstGeom prst="roundRect">
            <a:avLst>
              <a:gd name="adj" fmla="val 50000"/>
            </a:avLst>
          </a:prstGeom>
          <a:solidFill>
            <a:srgbClr val="EA580C"/>
          </a:solidFill>
          <a:ln w="0">
            <a:noFill/>
            <a:prstDash val="solid"/>
          </a:ln>
        </p:spPr>
      </p:sp>
      <p:sp>
        <p:nvSpPr>
          <p:cNvPr id="3" name="Rectangle 2">
            <a:extLst>
              <a:ext uri="{FF2B5EF4-FFF2-40B4-BE49-F238E27FC236}">
                <a16:creationId xmlns:a16="http://schemas.microsoft.com/office/drawing/2014/main" id="{D0BD9FE3-94C4-42E4-8567-2D6156F84170}"/>
              </a:ext>
            </a:extLst>
          </p:cNvPr>
          <p:cNvSpPr>
            <a:spLocks noGrp="1"/>
          </p:cNvSpPr>
          <p:nvPr/>
        </p:nvSpPr>
        <p:spPr>
          <a:xfrm>
            <a:off x="933450" y="590550"/>
            <a:ext cx="4953000" cy="209550"/>
          </a:xfrm>
          <a:prstGeom prst="rect">
            <a:avLst/>
          </a:prstGeom>
          <a:noFill/>
          <a:ln w="0">
            <a:noFill/>
            <a:prstDash val="solid"/>
          </a:ln>
        </p:spPr>
        <p:txBody>
          <a:bodyPr/>
          <a:lstStyle/>
          <a:p>
            <a:pPr algn="l">
              <a:defRPr sz="975" b="1" i="0">
                <a:solidFill>
                  <a:srgbClr val="0F766E"/>
                </a:solidFill>
              </a:defRPr>
            </a:pPr>
            <a:r>
              <a:rPr sz="975" b="1" i="0">
                <a:solidFill>
                  <a:srgbClr val="0F766E"/>
                </a:solidFill>
              </a:rPr>
              <a:t>SOFTWARE ENGINEERING PROJECT</a:t>
            </a:r>
          </a:p>
        </p:txBody>
      </p:sp>
      <p:sp>
        <p:nvSpPr>
          <p:cNvPr id="4" name="Rectangle 3">
            <a:extLst>
              <a:ext uri="{FF2B5EF4-FFF2-40B4-BE49-F238E27FC236}">
                <a16:creationId xmlns:a16="http://schemas.microsoft.com/office/drawing/2014/main" id="{E02451A0-D8E5-4576-97BE-BDF28871847E}"/>
              </a:ext>
            </a:extLst>
          </p:cNvPr>
          <p:cNvSpPr>
            <a:spLocks noGrp="1"/>
          </p:cNvSpPr>
          <p:nvPr/>
        </p:nvSpPr>
        <p:spPr>
          <a:xfrm>
            <a:off x="933450" y="990600"/>
            <a:ext cx="7334250" cy="1600200"/>
          </a:xfrm>
          <a:prstGeom prst="rect">
            <a:avLst/>
          </a:prstGeom>
          <a:noFill/>
          <a:ln w="0">
            <a:noFill/>
            <a:prstDash val="solid"/>
          </a:ln>
        </p:spPr>
        <p:txBody>
          <a:bodyPr/>
          <a:lstStyle/>
          <a:p>
            <a:pPr algn="l">
              <a:defRPr sz="3225" b="1" i="0">
                <a:solidFill>
                  <a:srgbClr val="172554"/>
                </a:solidFill>
              </a:defRPr>
            </a:pPr>
            <a:r>
              <a:rPr sz="3225" b="1" i="0">
                <a:solidFill>
                  <a:srgbClr val="172554"/>
                </a:solidFill>
              </a:rPr>
              <a:t>Smart Public Bus Management &amp;</a:t>
            </a:r>
          </a:p>
          <a:p>
            <a:pPr algn="l">
              <a:defRPr sz="3225" b="1" i="0">
                <a:solidFill>
                  <a:srgbClr val="172554"/>
                </a:solidFill>
              </a:defRPr>
            </a:pPr>
            <a:r>
              <a:rPr sz="3225" b="1" i="0">
                <a:solidFill>
                  <a:srgbClr val="172554"/>
                </a:solidFill>
              </a:rPr>
              <a:t>Real-Time Passenger</a:t>
            </a:r>
          </a:p>
          <a:p>
            <a:pPr algn="l">
              <a:defRPr sz="3225" b="1" i="0">
                <a:solidFill>
                  <a:srgbClr val="172554"/>
                </a:solidFill>
              </a:defRPr>
            </a:pPr>
            <a:r>
              <a:rPr sz="3225" b="1" i="0">
                <a:solidFill>
                  <a:srgbClr val="172554"/>
                </a:solidFill>
              </a:rPr>
              <a:t>Information System</a:t>
            </a:r>
          </a:p>
        </p:txBody>
      </p:sp>
      <p:sp>
        <p:nvSpPr>
          <p:cNvPr id="5" name="Rectangle 4">
            <a:extLst>
              <a:ext uri="{FF2B5EF4-FFF2-40B4-BE49-F238E27FC236}">
                <a16:creationId xmlns:a16="http://schemas.microsoft.com/office/drawing/2014/main" id="{16D6B2FB-7BDF-4EEB-A744-5015300D2B0B}"/>
              </a:ext>
            </a:extLst>
          </p:cNvPr>
          <p:cNvSpPr>
            <a:spLocks noGrp="1"/>
          </p:cNvSpPr>
          <p:nvPr/>
        </p:nvSpPr>
        <p:spPr>
          <a:xfrm>
            <a:off x="952500" y="2781300"/>
            <a:ext cx="7000875" cy="409575"/>
          </a:xfrm>
          <a:prstGeom prst="rect">
            <a:avLst/>
          </a:prstGeom>
          <a:noFill/>
          <a:ln w="0">
            <a:noFill/>
            <a:prstDash val="solid"/>
          </a:ln>
        </p:spPr>
        <p:txBody>
          <a:bodyPr/>
          <a:lstStyle/>
          <a:p>
            <a:pPr algn="l">
              <a:defRPr sz="1650" b="1" i="0">
                <a:solidFill>
                  <a:srgbClr val="0F766E"/>
                </a:solidFill>
              </a:defRPr>
            </a:pPr>
            <a:r>
              <a:rPr sz="1650" b="1" i="0">
                <a:solidFill>
                  <a:srgbClr val="0F766E"/>
                </a:solidFill>
              </a:rPr>
              <a:t>A Real-Time Bus Tracking and Passenger Information Platform</a:t>
            </a:r>
          </a:p>
        </p:txBody>
      </p:sp>
      <p:sp>
        <p:nvSpPr>
          <p:cNvPr id="6" name="Rectangle: Rounded Corners 5">
            <a:extLst>
              <a:ext uri="{FF2B5EF4-FFF2-40B4-BE49-F238E27FC236}">
                <a16:creationId xmlns:a16="http://schemas.microsoft.com/office/drawing/2014/main" id="{3C8B0ABF-711B-4513-A8B6-35A90844195C}"/>
              </a:ext>
            </a:extLst>
          </p:cNvPr>
          <p:cNvSpPr>
            <a:spLocks noGrp="1"/>
          </p:cNvSpPr>
          <p:nvPr/>
        </p:nvSpPr>
        <p:spPr>
          <a:xfrm>
            <a:off x="952500" y="3324225"/>
            <a:ext cx="3571875" cy="361950"/>
          </a:xfrm>
          <a:prstGeom prst="roundRect">
            <a:avLst>
              <a:gd name="adj" fmla="val 31579"/>
            </a:avLst>
          </a:prstGeom>
          <a:solidFill>
            <a:srgbClr val="FFF7ED"/>
          </a:solidFill>
          <a:ln w="0">
            <a:noFill/>
            <a:prstDash val="solid"/>
          </a:ln>
        </p:spPr>
      </p:sp>
      <p:sp>
        <p:nvSpPr>
          <p:cNvPr id="7" name="Rectangle 6">
            <a:extLst>
              <a:ext uri="{FF2B5EF4-FFF2-40B4-BE49-F238E27FC236}">
                <a16:creationId xmlns:a16="http://schemas.microsoft.com/office/drawing/2014/main" id="{77E1EA47-84CA-4206-8C7C-E77630779A2A}"/>
              </a:ext>
            </a:extLst>
          </p:cNvPr>
          <p:cNvSpPr>
            <a:spLocks noGrp="1"/>
          </p:cNvSpPr>
          <p:nvPr/>
        </p:nvSpPr>
        <p:spPr>
          <a:xfrm>
            <a:off x="1119187" y="3365925"/>
            <a:ext cx="3238500" cy="190500"/>
          </a:xfrm>
          <a:prstGeom prst="rect">
            <a:avLst/>
          </a:prstGeom>
          <a:noFill/>
          <a:ln w="0">
            <a:noFill/>
            <a:prstDash val="solid"/>
          </a:ln>
        </p:spPr>
        <p:txBody>
          <a:bodyPr/>
          <a:lstStyle/>
          <a:p>
            <a:pPr algn="ctr">
              <a:defRPr sz="1125" b="1" i="0">
                <a:solidFill>
                  <a:srgbClr val="EA580C"/>
                </a:solidFill>
              </a:defRPr>
            </a:pPr>
            <a:r>
              <a:rPr sz="1400" b="1" i="0" dirty="0">
                <a:solidFill>
                  <a:srgbClr val="EA580C"/>
                </a:solidFill>
              </a:rPr>
              <a:t>Transport Management System</a:t>
            </a:r>
          </a:p>
        </p:txBody>
      </p:sp>
      <p:sp>
        <p:nvSpPr>
          <p:cNvPr id="8" name="Oval 7">
            <a:extLst>
              <a:ext uri="{FF2B5EF4-FFF2-40B4-BE49-F238E27FC236}">
                <a16:creationId xmlns:a16="http://schemas.microsoft.com/office/drawing/2014/main" id="{7E289562-EC95-43A5-BACD-A5E5882E228E}"/>
              </a:ext>
            </a:extLst>
          </p:cNvPr>
          <p:cNvSpPr>
            <a:spLocks noGrp="1"/>
          </p:cNvSpPr>
          <p:nvPr/>
        </p:nvSpPr>
        <p:spPr>
          <a:xfrm>
            <a:off x="8686800" y="971550"/>
            <a:ext cx="2381250" cy="2381250"/>
          </a:xfrm>
          <a:prstGeom prst="ellipse">
            <a:avLst/>
          </a:prstGeom>
          <a:solidFill>
            <a:srgbClr val="ECFDF5"/>
          </a:solidFill>
          <a:ln w="0">
            <a:noFill/>
            <a:prstDash val="solid"/>
          </a:ln>
        </p:spPr>
      </p:sp>
      <p:sp>
        <p:nvSpPr>
          <p:cNvPr id="9" name="Oval 8">
            <a:extLst>
              <a:ext uri="{FF2B5EF4-FFF2-40B4-BE49-F238E27FC236}">
                <a16:creationId xmlns:a16="http://schemas.microsoft.com/office/drawing/2014/main" id="{EAF16170-28EB-41FF-A961-563098CD6DCF}"/>
              </a:ext>
            </a:extLst>
          </p:cNvPr>
          <p:cNvSpPr>
            <a:spLocks noGrp="1"/>
          </p:cNvSpPr>
          <p:nvPr/>
        </p:nvSpPr>
        <p:spPr>
          <a:xfrm>
            <a:off x="9010650" y="1295400"/>
            <a:ext cx="1733550" cy="1733550"/>
          </a:xfrm>
          <a:prstGeom prst="ellipse">
            <a:avLst/>
          </a:prstGeom>
          <a:solidFill>
            <a:srgbClr val="FFFFFF"/>
          </a:solidFill>
          <a:ln w="11430">
            <a:solidFill>
              <a:srgbClr val="D1D5DB"/>
            </a:solidFill>
            <a:prstDash val="solid"/>
          </a:ln>
        </p:spPr>
      </p:sp>
      <p:pic>
        <p:nvPicPr>
          <p:cNvPr id="33" name="Graphic 32"/>
          <p:cNvPicPr>
            <a:picLocks noChangeAspect="1"/>
          </p:cNvPicPr>
          <p:nvPr/>
        </p:nvPicPr>
        <p:blipFill>
          <a:blip>
            <a:extLst>
              <a:ext uri="{96DAC541-7B7A-43D3-8B79-37D633B846F1}">
                <asvg:svgBlip xmlns:asvg="http://schemas.microsoft.com/office/drawing/2016/SVG/main" r:embed="rId3"/>
              </a:ext>
            </a:extLst>
          </a:blip>
          <a:stretch/>
        </p:blipFill>
        <p:spPr>
          <a:xfrm>
            <a:off x="9401175" y="1695450"/>
            <a:ext cx="952500" cy="952500"/>
          </a:xfrm>
          <a:prstGeom prst="rect">
            <a:avLst/>
          </a:prstGeom>
        </p:spPr>
      </p:pic>
      <p:sp>
        <p:nvSpPr>
          <p:cNvPr id="11" name="Straight Connector 10">
            <a:extLst>
              <a:ext uri="{FF2B5EF4-FFF2-40B4-BE49-F238E27FC236}">
                <a16:creationId xmlns:a16="http://schemas.microsoft.com/office/drawing/2014/main" id="{0BCF9FD4-90E7-413C-80AC-0810FC83622D}"/>
              </a:ext>
            </a:extLst>
          </p:cNvPr>
          <p:cNvSpPr>
            <a:spLocks noGrp="1"/>
          </p:cNvSpPr>
          <p:nvPr/>
        </p:nvSpPr>
        <p:spPr>
          <a:xfrm>
            <a:off x="7848600" y="4010025"/>
            <a:ext cx="3333750" cy="0"/>
          </a:xfrm>
          <a:prstGeom prst="line">
            <a:avLst/>
          </a:prstGeom>
          <a:noFill/>
          <a:ln w="38100">
            <a:solidFill>
              <a:srgbClr val="1E3A8A"/>
            </a:solidFill>
            <a:prstDash val="solid"/>
          </a:ln>
        </p:spPr>
      </p:sp>
      <p:sp>
        <p:nvSpPr>
          <p:cNvPr id="12" name="Oval 11">
            <a:extLst>
              <a:ext uri="{FF2B5EF4-FFF2-40B4-BE49-F238E27FC236}">
                <a16:creationId xmlns:a16="http://schemas.microsoft.com/office/drawing/2014/main" id="{1B9DE5F7-95D8-4EC7-9032-E1E8268D2FBF}"/>
              </a:ext>
            </a:extLst>
          </p:cNvPr>
          <p:cNvSpPr>
            <a:spLocks noGrp="1"/>
          </p:cNvSpPr>
          <p:nvPr/>
        </p:nvSpPr>
        <p:spPr>
          <a:xfrm>
            <a:off x="7743825" y="3914775"/>
            <a:ext cx="209550" cy="209550"/>
          </a:xfrm>
          <a:prstGeom prst="ellipse">
            <a:avLst/>
          </a:prstGeom>
          <a:solidFill>
            <a:srgbClr val="EA580C"/>
          </a:solidFill>
          <a:ln w="0">
            <a:noFill/>
            <a:prstDash val="solid"/>
          </a:ln>
        </p:spPr>
      </p:sp>
      <p:sp>
        <p:nvSpPr>
          <p:cNvPr id="13" name="Oval 12">
            <a:extLst>
              <a:ext uri="{FF2B5EF4-FFF2-40B4-BE49-F238E27FC236}">
                <a16:creationId xmlns:a16="http://schemas.microsoft.com/office/drawing/2014/main" id="{61D0B3B4-2E63-41E1-8191-744DD7FE31AA}"/>
              </a:ext>
            </a:extLst>
          </p:cNvPr>
          <p:cNvSpPr>
            <a:spLocks noGrp="1"/>
          </p:cNvSpPr>
          <p:nvPr/>
        </p:nvSpPr>
        <p:spPr>
          <a:xfrm>
            <a:off x="9239250" y="3914775"/>
            <a:ext cx="209550" cy="209550"/>
          </a:xfrm>
          <a:prstGeom prst="ellipse">
            <a:avLst/>
          </a:prstGeom>
          <a:solidFill>
            <a:srgbClr val="FFFFFF"/>
          </a:solidFill>
          <a:ln w="28575">
            <a:solidFill>
              <a:srgbClr val="0F766E"/>
            </a:solidFill>
            <a:prstDash val="solid"/>
          </a:ln>
        </p:spPr>
      </p:sp>
      <p:pic>
        <p:nvPicPr>
          <p:cNvPr id="37" name="Graphic 36"/>
          <p:cNvPicPr>
            <a:picLocks noChangeAspect="1"/>
          </p:cNvPicPr>
          <p:nvPr/>
        </p:nvPicPr>
        <p:blipFill>
          <a:blip>
            <a:extLst>
              <a:ext uri="{96DAC541-7B7A-43D3-8B79-37D633B846F1}">
                <asvg:svgBlip xmlns:asvg="http://schemas.microsoft.com/office/drawing/2016/SVG/main" r:embed="rId4"/>
              </a:ext>
            </a:extLst>
          </a:blip>
          <a:stretch/>
        </p:blipFill>
        <p:spPr>
          <a:xfrm>
            <a:off x="10919320" y="3567855"/>
            <a:ext cx="457200" cy="457200"/>
          </a:xfrm>
          <a:prstGeom prst="rect">
            <a:avLst/>
          </a:prstGeom>
        </p:spPr>
      </p:pic>
      <p:sp>
        <p:nvSpPr>
          <p:cNvPr id="15" name="Rectangle 14">
            <a:extLst>
              <a:ext uri="{FF2B5EF4-FFF2-40B4-BE49-F238E27FC236}">
                <a16:creationId xmlns:a16="http://schemas.microsoft.com/office/drawing/2014/main" id="{64283B8D-89D2-4FFD-9B02-1BF6232770D8}"/>
              </a:ext>
            </a:extLst>
          </p:cNvPr>
          <p:cNvSpPr>
            <a:spLocks noGrp="1"/>
          </p:cNvSpPr>
          <p:nvPr/>
        </p:nvSpPr>
        <p:spPr>
          <a:xfrm>
            <a:off x="8896350" y="4248150"/>
            <a:ext cx="1238250" cy="171450"/>
          </a:xfrm>
          <a:prstGeom prst="rect">
            <a:avLst/>
          </a:prstGeom>
          <a:noFill/>
          <a:ln w="0">
            <a:noFill/>
            <a:prstDash val="solid"/>
          </a:ln>
        </p:spPr>
        <p:txBody>
          <a:bodyPr/>
          <a:lstStyle/>
          <a:p>
            <a:pPr algn="ctr">
              <a:defRPr sz="825" b="1" i="0">
                <a:solidFill>
                  <a:srgbClr val="4B5563"/>
                </a:solidFill>
              </a:defRPr>
            </a:pPr>
            <a:r>
              <a:rPr sz="825" b="1" i="0">
                <a:solidFill>
                  <a:srgbClr val="4B5563"/>
                </a:solidFill>
              </a:rPr>
              <a:t>LIVE ROUTE</a:t>
            </a:r>
          </a:p>
        </p:txBody>
      </p:sp>
      <p:sp>
        <p:nvSpPr>
          <p:cNvPr id="16" name="Straight Connector 15">
            <a:extLst>
              <a:ext uri="{FF2B5EF4-FFF2-40B4-BE49-F238E27FC236}">
                <a16:creationId xmlns:a16="http://schemas.microsoft.com/office/drawing/2014/main" id="{70EBC8B3-CB8C-49DA-A6B2-60B3CF7385ED}"/>
              </a:ext>
            </a:extLst>
          </p:cNvPr>
          <p:cNvSpPr>
            <a:spLocks noGrp="1"/>
          </p:cNvSpPr>
          <p:nvPr/>
        </p:nvSpPr>
        <p:spPr>
          <a:xfrm>
            <a:off x="933450" y="4467225"/>
            <a:ext cx="6572250" cy="0"/>
          </a:xfrm>
          <a:prstGeom prst="line">
            <a:avLst/>
          </a:prstGeom>
          <a:noFill/>
          <a:ln w="9525">
            <a:solidFill>
              <a:srgbClr val="D1D5DB"/>
            </a:solidFill>
            <a:prstDash val="solid"/>
          </a:ln>
        </p:spPr>
      </p:sp>
      <p:pic>
        <p:nvPicPr>
          <p:cNvPr id="40" name="Graphic 39"/>
          <p:cNvPicPr>
            <a:picLocks noChangeAspect="1"/>
          </p:cNvPicPr>
          <p:nvPr/>
        </p:nvPicPr>
        <p:blipFill>
          <a:blip>
            <a:extLst>
              <a:ext uri="{96DAC541-7B7A-43D3-8B79-37D633B846F1}">
                <asvg:svgBlip xmlns:asvg="http://schemas.microsoft.com/office/drawing/2016/SVG/main" r:embed="rId5"/>
              </a:ext>
            </a:extLst>
          </a:blip>
          <a:stretch/>
        </p:blipFill>
        <p:spPr>
          <a:xfrm>
            <a:off x="952500" y="4695825"/>
            <a:ext cx="247650" cy="247650"/>
          </a:xfrm>
          <a:prstGeom prst="rect">
            <a:avLst/>
          </a:prstGeom>
        </p:spPr>
      </p:pic>
      <p:sp>
        <p:nvSpPr>
          <p:cNvPr id="18" name="Rectangle 17">
            <a:extLst>
              <a:ext uri="{FF2B5EF4-FFF2-40B4-BE49-F238E27FC236}">
                <a16:creationId xmlns:a16="http://schemas.microsoft.com/office/drawing/2014/main" id="{05C1CAE0-49EF-4127-8218-D76AB3851502}"/>
              </a:ext>
            </a:extLst>
          </p:cNvPr>
          <p:cNvSpPr>
            <a:spLocks noGrp="1"/>
          </p:cNvSpPr>
          <p:nvPr/>
        </p:nvSpPr>
        <p:spPr>
          <a:xfrm>
            <a:off x="1352550" y="4667250"/>
            <a:ext cx="7905750" cy="266700"/>
          </a:xfrm>
          <a:prstGeom prst="rect">
            <a:avLst/>
          </a:prstGeom>
          <a:noFill/>
          <a:ln w="0">
            <a:noFill/>
            <a:prstDash val="solid"/>
          </a:ln>
        </p:spPr>
        <p:txBody>
          <a:bodyPr/>
          <a:lstStyle/>
          <a:p>
            <a:pPr algn="l">
              <a:defRPr sz="1275" b="1" i="0">
                <a:solidFill>
                  <a:srgbClr val="172554"/>
                </a:solidFill>
              </a:defRPr>
            </a:pPr>
            <a:r>
              <a:rPr sz="1275" b="1" i="0" dirty="0">
                <a:solidFill>
                  <a:srgbClr val="172554"/>
                </a:solidFill>
              </a:rPr>
              <a:t>Software Engineering</a:t>
            </a:r>
          </a:p>
        </p:txBody>
      </p:sp>
      <p:pic>
        <p:nvPicPr>
          <p:cNvPr id="42" name="Graphic 41"/>
          <p:cNvPicPr>
            <a:picLocks noChangeAspect="1"/>
          </p:cNvPicPr>
          <p:nvPr/>
        </p:nvPicPr>
        <p:blipFill>
          <a:blip>
            <a:extLst>
              <a:ext uri="{96DAC541-7B7A-43D3-8B79-37D633B846F1}">
                <asvg:svgBlip xmlns:asvg="http://schemas.microsoft.com/office/drawing/2016/SVG/main" r:embed="rId6"/>
              </a:ext>
            </a:extLst>
          </a:blip>
          <a:stretch/>
        </p:blipFill>
        <p:spPr>
          <a:xfrm>
            <a:off x="952500" y="5162550"/>
            <a:ext cx="247650" cy="247650"/>
          </a:xfrm>
          <a:prstGeom prst="rect">
            <a:avLst/>
          </a:prstGeom>
        </p:spPr>
      </p:pic>
      <p:sp>
        <p:nvSpPr>
          <p:cNvPr id="20" name="Rectangle 19">
            <a:extLst>
              <a:ext uri="{FF2B5EF4-FFF2-40B4-BE49-F238E27FC236}">
                <a16:creationId xmlns:a16="http://schemas.microsoft.com/office/drawing/2014/main" id="{2DE7515D-697F-42FC-811C-6911DC7E3EB8}"/>
              </a:ext>
            </a:extLst>
          </p:cNvPr>
          <p:cNvSpPr>
            <a:spLocks noGrp="1"/>
          </p:cNvSpPr>
          <p:nvPr/>
        </p:nvSpPr>
        <p:spPr>
          <a:xfrm>
            <a:off x="1352550" y="5133975"/>
            <a:ext cx="7905750" cy="266700"/>
          </a:xfrm>
          <a:prstGeom prst="rect">
            <a:avLst/>
          </a:prstGeom>
          <a:noFill/>
          <a:ln w="0">
            <a:noFill/>
            <a:prstDash val="solid"/>
          </a:ln>
        </p:spPr>
        <p:txBody>
          <a:bodyPr/>
          <a:lstStyle/>
          <a:p>
            <a:pPr algn="l">
              <a:defRPr sz="1275" b="0" i="0">
                <a:solidFill>
                  <a:srgbClr val="4B5563"/>
                </a:solidFill>
              </a:defRPr>
            </a:pPr>
            <a:r>
              <a:rPr sz="1275" b="0" i="0">
                <a:solidFill>
                  <a:srgbClr val="4B5563"/>
                </a:solidFill>
              </a:rPr>
              <a:t>Amity University Kolkata, B.Tech Computer Science &amp; Engineering</a:t>
            </a:r>
          </a:p>
        </p:txBody>
      </p:sp>
      <p:sp>
        <p:nvSpPr>
          <p:cNvPr id="21" name="Straight Connector 20">
            <a:extLst>
              <a:ext uri="{FF2B5EF4-FFF2-40B4-BE49-F238E27FC236}">
                <a16:creationId xmlns:a16="http://schemas.microsoft.com/office/drawing/2014/main" id="{CCD5F0BE-2B3D-472C-BAB3-01B4B08724B5}"/>
              </a:ext>
            </a:extLst>
          </p:cNvPr>
          <p:cNvSpPr>
            <a:spLocks noGrp="1"/>
          </p:cNvSpPr>
          <p:nvPr/>
        </p:nvSpPr>
        <p:spPr>
          <a:xfrm>
            <a:off x="514350" y="6419850"/>
            <a:ext cx="11163300" cy="0"/>
          </a:xfrm>
          <a:prstGeom prst="line">
            <a:avLst/>
          </a:prstGeom>
          <a:noFill/>
          <a:ln w="9525">
            <a:solidFill>
              <a:srgbClr val="D1D5DB"/>
            </a:solidFill>
            <a:prstDash val="solid"/>
          </a:ln>
        </p:spPr>
      </p:sp>
      <p:sp>
        <p:nvSpPr>
          <p:cNvPr id="22" name="Rectangle 21">
            <a:extLst>
              <a:ext uri="{FF2B5EF4-FFF2-40B4-BE49-F238E27FC236}">
                <a16:creationId xmlns:a16="http://schemas.microsoft.com/office/drawing/2014/main" id="{44F458EE-F431-4EC1-8A21-AB8E91579F6B}"/>
              </a:ext>
            </a:extLst>
          </p:cNvPr>
          <p:cNvSpPr>
            <a:spLocks noGrp="1"/>
          </p:cNvSpPr>
          <p:nvPr/>
        </p:nvSpPr>
        <p:spPr>
          <a:xfrm>
            <a:off x="571500" y="6515100"/>
            <a:ext cx="6858000" cy="171450"/>
          </a:xfrm>
          <a:prstGeom prst="rect">
            <a:avLst/>
          </a:prstGeom>
          <a:noFill/>
          <a:ln w="0">
            <a:noFill/>
            <a:prstDash val="solid"/>
          </a:ln>
        </p:spPr>
        <p:txBody>
          <a:bodyPr/>
          <a:lstStyle/>
          <a:p>
            <a:pPr algn="l">
              <a:defRPr sz="825" b="1" i="0">
                <a:solidFill>
                  <a:srgbClr val="4B5563"/>
                </a:solidFill>
              </a:defRPr>
            </a:pPr>
            <a:r>
              <a:rPr sz="825" b="1" i="0" dirty="0">
                <a:solidFill>
                  <a:srgbClr val="4B5563"/>
                </a:solidFill>
              </a:rPr>
              <a:t>Smart Public Bus Management System </a:t>
            </a:r>
          </a:p>
        </p:txBody>
      </p:sp>
      <p:sp>
        <p:nvSpPr>
          <p:cNvPr id="23" name="Rectangle 22">
            <a:extLst>
              <a:ext uri="{FF2B5EF4-FFF2-40B4-BE49-F238E27FC236}">
                <a16:creationId xmlns:a16="http://schemas.microsoft.com/office/drawing/2014/main" id="{3DE8A81D-B068-4140-8A5B-8C0D358140AB}"/>
              </a:ext>
            </a:extLst>
          </p:cNvPr>
          <p:cNvSpPr>
            <a:spLocks noGrp="1"/>
          </p:cNvSpPr>
          <p:nvPr/>
        </p:nvSpPr>
        <p:spPr>
          <a:xfrm>
            <a:off x="11049000" y="6505575"/>
            <a:ext cx="571500" cy="171450"/>
          </a:xfrm>
          <a:prstGeom prst="rect">
            <a:avLst/>
          </a:prstGeom>
          <a:noFill/>
          <a:ln w="0">
            <a:noFill/>
            <a:prstDash val="solid"/>
          </a:ln>
        </p:spPr>
        <p:txBody>
          <a:bodyPr/>
          <a:lstStyle/>
          <a:p>
            <a:pPr algn="r">
              <a:defRPr sz="825" b="1" i="0">
                <a:solidFill>
                  <a:srgbClr val="1E3A8A"/>
                </a:solidFill>
              </a:defRPr>
            </a:pPr>
            <a:r>
              <a:rPr sz="825" b="1" i="0">
                <a:solidFill>
                  <a:srgbClr val="1E3A8A"/>
                </a:solidFill>
              </a:rPr>
              <a:t>01</a:t>
            </a:r>
          </a:p>
        </p:txBody>
      </p:sp>
    </p:spTree>
    <p:extLst>
      <p:ext uri="{BB962C8B-B14F-4D97-AF65-F5344CB8AC3E}">
        <p14:creationId xmlns:p14="http://schemas.microsoft.com/office/powerpoint/2010/main" val="788186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Rectangle: Rounded Corners 48">
            <a:extLst>
              <a:ext uri="{FF2B5EF4-FFF2-40B4-BE49-F238E27FC236}">
                <a16:creationId xmlns:a16="http://schemas.microsoft.com/office/drawing/2014/main" id="{675FCEB7-9553-4F48-9CA6-34ECCA764E17}"/>
              </a:ext>
            </a:extLst>
          </p:cNvPr>
          <p:cNvSpPr>
            <a:spLocks noGrp="1"/>
          </p:cNvSpPr>
          <p:nvPr/>
        </p:nvSpPr>
        <p:spPr>
          <a:xfrm>
            <a:off x="514350" y="323850"/>
            <a:ext cx="76200" cy="552450"/>
          </a:xfrm>
          <a:prstGeom prst="roundRect">
            <a:avLst>
              <a:gd name="adj" fmla="val 50000"/>
            </a:avLst>
          </a:prstGeom>
          <a:solidFill>
            <a:srgbClr val="EA580C"/>
          </a:solidFill>
          <a:ln w="0">
            <a:noFill/>
            <a:prstDash val="solid"/>
          </a:ln>
        </p:spPr>
      </p:sp>
      <p:sp>
        <p:nvSpPr>
          <p:cNvPr id="2" name="Oval 1">
            <a:extLst>
              <a:ext uri="{FF2B5EF4-FFF2-40B4-BE49-F238E27FC236}">
                <a16:creationId xmlns:a16="http://schemas.microsoft.com/office/drawing/2014/main" id="{935DB804-DD27-49B1-BC4C-F0F7C1349045}"/>
              </a:ext>
            </a:extLst>
          </p:cNvPr>
          <p:cNvSpPr>
            <a:spLocks noGrp="1"/>
          </p:cNvSpPr>
          <p:nvPr/>
        </p:nvSpPr>
        <p:spPr>
          <a:xfrm>
            <a:off x="742950" y="361950"/>
            <a:ext cx="457200" cy="457200"/>
          </a:xfrm>
          <a:prstGeom prst="ellipse">
            <a:avLst/>
          </a:prstGeom>
          <a:solidFill>
            <a:srgbClr val="EEF2FF"/>
          </a:solidFill>
          <a:ln w="0">
            <a:noFill/>
            <a:prstDash val="solid"/>
          </a:ln>
        </p:spPr>
      </p:sp>
      <p:pic>
        <p:nvPicPr>
          <p:cNvPr id="51" name="Graphic 50"/>
          <p:cNvPicPr>
            <a:picLocks noChangeAspect="1"/>
          </p:cNvPicPr>
          <p:nvPr/>
        </p:nvPicPr>
        <p:blipFill>
          <a:blip>
            <a:extLst>
              <a:ext uri="{96DAC541-7B7A-43D3-8B79-37D633B846F1}">
                <asvg:svgBlip xmlns:asvg="http://schemas.microsoft.com/office/drawing/2016/SVG/main" r:embed="rId3"/>
              </a:ext>
            </a:extLst>
          </a:blip>
          <a:stretch/>
        </p:blipFill>
        <p:spPr>
          <a:xfrm>
            <a:off x="848106" y="467106"/>
            <a:ext cx="246888" cy="246888"/>
          </a:xfrm>
          <a:prstGeom prst="rect">
            <a:avLst/>
          </a:prstGeom>
        </p:spPr>
      </p:pic>
      <p:sp>
        <p:nvSpPr>
          <p:cNvPr id="4" name="Rectangle 3">
            <a:extLst>
              <a:ext uri="{FF2B5EF4-FFF2-40B4-BE49-F238E27FC236}">
                <a16:creationId xmlns:a16="http://schemas.microsoft.com/office/drawing/2014/main" id="{737529C3-F393-4B55-8FCF-8836F3375080}"/>
              </a:ext>
            </a:extLst>
          </p:cNvPr>
          <p:cNvSpPr>
            <a:spLocks noGrp="1"/>
          </p:cNvSpPr>
          <p:nvPr/>
        </p:nvSpPr>
        <p:spPr>
          <a:xfrm>
            <a:off x="1352550" y="361950"/>
            <a:ext cx="4762500" cy="171450"/>
          </a:xfrm>
          <a:prstGeom prst="rect">
            <a:avLst/>
          </a:prstGeom>
          <a:noFill/>
          <a:ln w="0">
            <a:noFill/>
            <a:prstDash val="solid"/>
          </a:ln>
        </p:spPr>
        <p:txBody>
          <a:bodyPr/>
          <a:lstStyle/>
          <a:p>
            <a:pPr algn="l">
              <a:defRPr sz="825" b="1" i="0">
                <a:solidFill>
                  <a:srgbClr val="0F766E"/>
                </a:solidFill>
              </a:defRPr>
            </a:pPr>
            <a:r>
              <a:rPr sz="825" b="1" i="0">
                <a:solidFill>
                  <a:srgbClr val="0F766E"/>
                </a:solidFill>
              </a:rPr>
              <a:t>PROJECT TEAM</a:t>
            </a:r>
          </a:p>
        </p:txBody>
      </p:sp>
      <p:sp>
        <p:nvSpPr>
          <p:cNvPr id="5" name="Rectangle 4">
            <a:extLst>
              <a:ext uri="{FF2B5EF4-FFF2-40B4-BE49-F238E27FC236}">
                <a16:creationId xmlns:a16="http://schemas.microsoft.com/office/drawing/2014/main" id="{34E7D22F-5547-48FC-B3D0-E2DCCDC857FD}"/>
              </a:ext>
            </a:extLst>
          </p:cNvPr>
          <p:cNvSpPr>
            <a:spLocks noGrp="1"/>
          </p:cNvSpPr>
          <p:nvPr/>
        </p:nvSpPr>
        <p:spPr>
          <a:xfrm>
            <a:off x="1352550" y="552450"/>
            <a:ext cx="9906000" cy="409575"/>
          </a:xfrm>
          <a:prstGeom prst="rect">
            <a:avLst/>
          </a:prstGeom>
          <a:noFill/>
          <a:ln w="0">
            <a:noFill/>
            <a:prstDash val="solid"/>
          </a:ln>
        </p:spPr>
        <p:txBody>
          <a:bodyPr/>
          <a:lstStyle/>
          <a:p>
            <a:pPr algn="l">
              <a:defRPr sz="2700" b="1" i="0">
                <a:solidFill>
                  <a:srgbClr val="172554"/>
                </a:solidFill>
              </a:defRPr>
            </a:pPr>
            <a:r>
              <a:rPr sz="2700" b="1" i="0" dirty="0">
                <a:solidFill>
                  <a:srgbClr val="172554"/>
                </a:solidFill>
              </a:rPr>
              <a:t>Team Members</a:t>
            </a:r>
          </a:p>
        </p:txBody>
      </p:sp>
      <p:sp>
        <p:nvSpPr>
          <p:cNvPr id="6" name="Straight Connector 5">
            <a:extLst>
              <a:ext uri="{FF2B5EF4-FFF2-40B4-BE49-F238E27FC236}">
                <a16:creationId xmlns:a16="http://schemas.microsoft.com/office/drawing/2014/main" id="{626824B5-D3B4-497C-B237-94604643DC4D}"/>
              </a:ext>
            </a:extLst>
          </p:cNvPr>
          <p:cNvSpPr>
            <a:spLocks noGrp="1"/>
          </p:cNvSpPr>
          <p:nvPr/>
        </p:nvSpPr>
        <p:spPr>
          <a:xfrm>
            <a:off x="514350" y="6419850"/>
            <a:ext cx="11163300" cy="0"/>
          </a:xfrm>
          <a:prstGeom prst="line">
            <a:avLst/>
          </a:prstGeom>
          <a:noFill/>
          <a:ln w="9525">
            <a:solidFill>
              <a:srgbClr val="D1D5DB"/>
            </a:solidFill>
            <a:prstDash val="solid"/>
          </a:ln>
        </p:spPr>
      </p:sp>
      <p:sp>
        <p:nvSpPr>
          <p:cNvPr id="7" name="Rectangle 6">
            <a:extLst>
              <a:ext uri="{FF2B5EF4-FFF2-40B4-BE49-F238E27FC236}">
                <a16:creationId xmlns:a16="http://schemas.microsoft.com/office/drawing/2014/main" id="{D9EDC3C8-E3E7-4498-8317-118ED55C837F}"/>
              </a:ext>
            </a:extLst>
          </p:cNvPr>
          <p:cNvSpPr>
            <a:spLocks noGrp="1"/>
          </p:cNvSpPr>
          <p:nvPr/>
        </p:nvSpPr>
        <p:spPr>
          <a:xfrm>
            <a:off x="571500" y="6515100"/>
            <a:ext cx="6858000" cy="171450"/>
          </a:xfrm>
          <a:prstGeom prst="rect">
            <a:avLst/>
          </a:prstGeom>
          <a:noFill/>
          <a:ln w="0">
            <a:noFill/>
            <a:prstDash val="solid"/>
          </a:ln>
        </p:spPr>
        <p:txBody>
          <a:bodyPr/>
          <a:lstStyle/>
          <a:p>
            <a:pPr algn="l">
              <a:defRPr sz="825" b="1" i="0">
                <a:solidFill>
                  <a:srgbClr val="4B5563"/>
                </a:solidFill>
              </a:defRPr>
            </a:pPr>
            <a:r>
              <a:rPr sz="825" b="1" i="0" dirty="0">
                <a:solidFill>
                  <a:srgbClr val="4B5563"/>
                </a:solidFill>
              </a:rPr>
              <a:t>Smart Public Bus Management System </a:t>
            </a:r>
          </a:p>
        </p:txBody>
      </p:sp>
      <p:sp>
        <p:nvSpPr>
          <p:cNvPr id="8" name="Rectangle 7">
            <a:extLst>
              <a:ext uri="{FF2B5EF4-FFF2-40B4-BE49-F238E27FC236}">
                <a16:creationId xmlns:a16="http://schemas.microsoft.com/office/drawing/2014/main" id="{EBCB74D5-270A-414B-AADD-051E58890F78}"/>
              </a:ext>
            </a:extLst>
          </p:cNvPr>
          <p:cNvSpPr>
            <a:spLocks noGrp="1"/>
          </p:cNvSpPr>
          <p:nvPr/>
        </p:nvSpPr>
        <p:spPr>
          <a:xfrm>
            <a:off x="11049000" y="6505575"/>
            <a:ext cx="571500" cy="171450"/>
          </a:xfrm>
          <a:prstGeom prst="rect">
            <a:avLst/>
          </a:prstGeom>
          <a:noFill/>
          <a:ln w="0">
            <a:noFill/>
            <a:prstDash val="solid"/>
          </a:ln>
        </p:spPr>
        <p:txBody>
          <a:bodyPr/>
          <a:lstStyle/>
          <a:p>
            <a:pPr algn="r">
              <a:defRPr sz="825" b="1" i="0">
                <a:solidFill>
                  <a:srgbClr val="1E3A8A"/>
                </a:solidFill>
              </a:defRPr>
            </a:pPr>
            <a:r>
              <a:rPr sz="825" b="1" i="0">
                <a:solidFill>
                  <a:srgbClr val="1E3A8A"/>
                </a:solidFill>
              </a:rPr>
              <a:t>02</a:t>
            </a:r>
          </a:p>
        </p:txBody>
      </p:sp>
      <p:sp>
        <p:nvSpPr>
          <p:cNvPr id="9" name="Rectangle: Rounded Corners 8">
            <a:extLst>
              <a:ext uri="{FF2B5EF4-FFF2-40B4-BE49-F238E27FC236}">
                <a16:creationId xmlns:a16="http://schemas.microsoft.com/office/drawing/2014/main" id="{2CDF5768-55E1-4EF9-94B4-225083CBC8D9}"/>
              </a:ext>
            </a:extLst>
          </p:cNvPr>
          <p:cNvSpPr>
            <a:spLocks noGrp="1"/>
          </p:cNvSpPr>
          <p:nvPr/>
        </p:nvSpPr>
        <p:spPr>
          <a:xfrm>
            <a:off x="1123950" y="1257300"/>
            <a:ext cx="9944100" cy="762000"/>
          </a:xfrm>
          <a:prstGeom prst="roundRect">
            <a:avLst>
              <a:gd name="adj" fmla="val 17500"/>
            </a:avLst>
          </a:prstGeom>
          <a:solidFill>
            <a:srgbClr val="F3F4F6"/>
          </a:solidFill>
          <a:ln w="9525">
            <a:solidFill>
              <a:srgbClr val="D1D5DB"/>
            </a:solidFill>
            <a:prstDash val="solid"/>
          </a:ln>
        </p:spPr>
      </p:sp>
      <p:sp>
        <p:nvSpPr>
          <p:cNvPr id="10" name="Oval 9">
            <a:extLst>
              <a:ext uri="{FF2B5EF4-FFF2-40B4-BE49-F238E27FC236}">
                <a16:creationId xmlns:a16="http://schemas.microsoft.com/office/drawing/2014/main" id="{CF933A1C-4BB6-4E11-A690-9CE82D2FFEF7}"/>
              </a:ext>
            </a:extLst>
          </p:cNvPr>
          <p:cNvSpPr>
            <a:spLocks noGrp="1"/>
          </p:cNvSpPr>
          <p:nvPr/>
        </p:nvSpPr>
        <p:spPr>
          <a:xfrm>
            <a:off x="1352550" y="1390650"/>
            <a:ext cx="495300" cy="495300"/>
          </a:xfrm>
          <a:prstGeom prst="ellipse">
            <a:avLst/>
          </a:prstGeom>
          <a:solidFill>
            <a:srgbClr val="ECFDF5"/>
          </a:solidFill>
          <a:ln w="0">
            <a:noFill/>
            <a:prstDash val="solid"/>
          </a:ln>
        </p:spPr>
      </p:sp>
      <p:pic>
        <p:nvPicPr>
          <p:cNvPr id="59" name="Graphic 58"/>
          <p:cNvPicPr>
            <a:picLocks noChangeAspect="1"/>
          </p:cNvPicPr>
          <p:nvPr/>
        </p:nvPicPr>
        <p:blipFill>
          <a:blip>
            <a:extLst>
              <a:ext uri="{96DAC541-7B7A-43D3-8B79-37D633B846F1}">
                <asvg:svgBlip xmlns:asvg="http://schemas.microsoft.com/office/drawing/2016/SVG/main" r:embed="rId4"/>
              </a:ext>
            </a:extLst>
          </a:blip>
          <a:stretch/>
        </p:blipFill>
        <p:spPr>
          <a:xfrm>
            <a:off x="1476375" y="1514475"/>
            <a:ext cx="247650" cy="247650"/>
          </a:xfrm>
          <a:prstGeom prst="rect">
            <a:avLst/>
          </a:prstGeom>
        </p:spPr>
      </p:pic>
      <p:sp>
        <p:nvSpPr>
          <p:cNvPr id="12" name="Rectangle 11">
            <a:extLst>
              <a:ext uri="{FF2B5EF4-FFF2-40B4-BE49-F238E27FC236}">
                <a16:creationId xmlns:a16="http://schemas.microsoft.com/office/drawing/2014/main" id="{ACD78984-4E40-4857-AE3A-59509308E8F3}"/>
              </a:ext>
            </a:extLst>
          </p:cNvPr>
          <p:cNvSpPr>
            <a:spLocks noGrp="1"/>
          </p:cNvSpPr>
          <p:nvPr/>
        </p:nvSpPr>
        <p:spPr>
          <a:xfrm>
            <a:off x="2076450" y="1381125"/>
            <a:ext cx="419100" cy="171450"/>
          </a:xfrm>
          <a:prstGeom prst="rect">
            <a:avLst/>
          </a:prstGeom>
          <a:noFill/>
          <a:ln w="0">
            <a:noFill/>
            <a:prstDash val="solid"/>
          </a:ln>
        </p:spPr>
        <p:txBody>
          <a:bodyPr/>
          <a:lstStyle/>
          <a:p>
            <a:pPr algn="l">
              <a:defRPr sz="825" b="1" i="0">
                <a:solidFill>
                  <a:srgbClr val="EA580C"/>
                </a:solidFill>
              </a:defRPr>
            </a:pPr>
            <a:r>
              <a:rPr sz="825" b="1" i="0">
                <a:solidFill>
                  <a:srgbClr val="EA580C"/>
                </a:solidFill>
              </a:rPr>
              <a:t>01</a:t>
            </a:r>
          </a:p>
        </p:txBody>
      </p:sp>
      <p:sp>
        <p:nvSpPr>
          <p:cNvPr id="13" name="Rectangle 12">
            <a:extLst>
              <a:ext uri="{FF2B5EF4-FFF2-40B4-BE49-F238E27FC236}">
                <a16:creationId xmlns:a16="http://schemas.microsoft.com/office/drawing/2014/main" id="{1C505023-5F63-4DF5-976F-CB3B897F4C70}"/>
              </a:ext>
            </a:extLst>
          </p:cNvPr>
          <p:cNvSpPr>
            <a:spLocks noGrp="1"/>
          </p:cNvSpPr>
          <p:nvPr/>
        </p:nvSpPr>
        <p:spPr>
          <a:xfrm>
            <a:off x="2076450" y="1552575"/>
            <a:ext cx="4762500" cy="285750"/>
          </a:xfrm>
          <a:prstGeom prst="rect">
            <a:avLst/>
          </a:prstGeom>
          <a:noFill/>
          <a:ln w="0">
            <a:noFill/>
            <a:prstDash val="solid"/>
          </a:ln>
        </p:spPr>
        <p:txBody>
          <a:bodyPr/>
          <a:lstStyle/>
          <a:p>
            <a:pPr algn="l">
              <a:defRPr sz="1650" b="1" i="0">
                <a:solidFill>
                  <a:srgbClr val="172554"/>
                </a:solidFill>
              </a:defRPr>
            </a:pPr>
            <a:r>
              <a:rPr sz="1650" b="1" i="0">
                <a:solidFill>
                  <a:srgbClr val="172554"/>
                </a:solidFill>
              </a:rPr>
              <a:t>Mir Sahin Ali</a:t>
            </a:r>
          </a:p>
        </p:txBody>
      </p:sp>
      <p:sp>
        <p:nvSpPr>
          <p:cNvPr id="14" name="Rectangle 13">
            <a:extLst>
              <a:ext uri="{FF2B5EF4-FFF2-40B4-BE49-F238E27FC236}">
                <a16:creationId xmlns:a16="http://schemas.microsoft.com/office/drawing/2014/main" id="{41C7DF91-8220-46D0-B290-3D50C5519031}"/>
              </a:ext>
            </a:extLst>
          </p:cNvPr>
          <p:cNvSpPr>
            <a:spLocks noGrp="1"/>
          </p:cNvSpPr>
          <p:nvPr/>
        </p:nvSpPr>
        <p:spPr>
          <a:xfrm>
            <a:off x="7677150" y="1400175"/>
            <a:ext cx="2286000" cy="161925"/>
          </a:xfrm>
          <a:prstGeom prst="rect">
            <a:avLst/>
          </a:prstGeom>
          <a:noFill/>
          <a:ln w="0">
            <a:noFill/>
            <a:prstDash val="solid"/>
          </a:ln>
        </p:spPr>
        <p:txBody>
          <a:bodyPr/>
          <a:lstStyle/>
          <a:p>
            <a:pPr algn="r">
              <a:defRPr sz="788" b="1" i="0">
                <a:solidFill>
                  <a:srgbClr val="0F766E"/>
                </a:solidFill>
              </a:defRPr>
            </a:pPr>
            <a:r>
              <a:rPr sz="788" b="1" i="0">
                <a:solidFill>
                  <a:srgbClr val="0F766E"/>
                </a:solidFill>
              </a:rPr>
              <a:t>ENROLLMENT NUMBER</a:t>
            </a:r>
          </a:p>
        </p:txBody>
      </p:sp>
      <p:sp>
        <p:nvSpPr>
          <p:cNvPr id="15" name="Rectangle 14">
            <a:extLst>
              <a:ext uri="{FF2B5EF4-FFF2-40B4-BE49-F238E27FC236}">
                <a16:creationId xmlns:a16="http://schemas.microsoft.com/office/drawing/2014/main" id="{CB288303-7AD4-4DBE-B7AD-A6BDC9CD029B}"/>
              </a:ext>
            </a:extLst>
          </p:cNvPr>
          <p:cNvSpPr>
            <a:spLocks noGrp="1"/>
          </p:cNvSpPr>
          <p:nvPr/>
        </p:nvSpPr>
        <p:spPr>
          <a:xfrm>
            <a:off x="7334250" y="1600200"/>
            <a:ext cx="2628900" cy="247650"/>
          </a:xfrm>
          <a:prstGeom prst="rect">
            <a:avLst/>
          </a:prstGeom>
          <a:noFill/>
          <a:ln w="0">
            <a:noFill/>
            <a:prstDash val="solid"/>
          </a:ln>
        </p:spPr>
        <p:txBody>
          <a:bodyPr/>
          <a:lstStyle/>
          <a:p>
            <a:pPr algn="r">
              <a:defRPr sz="1425" b="1" i="0">
                <a:solidFill>
                  <a:srgbClr val="4B5563"/>
                </a:solidFill>
              </a:defRPr>
            </a:pPr>
            <a:r>
              <a:rPr sz="1425" b="1" i="0">
                <a:solidFill>
                  <a:srgbClr val="4B5563"/>
                </a:solidFill>
              </a:rPr>
              <a:t>A91005223011</a:t>
            </a:r>
          </a:p>
        </p:txBody>
      </p:sp>
      <p:sp>
        <p:nvSpPr>
          <p:cNvPr id="16" name="Rectangle: Rounded Corners 15">
            <a:extLst>
              <a:ext uri="{FF2B5EF4-FFF2-40B4-BE49-F238E27FC236}">
                <a16:creationId xmlns:a16="http://schemas.microsoft.com/office/drawing/2014/main" id="{FB7CB22A-218C-4FE6-A33D-5339101859CF}"/>
              </a:ext>
            </a:extLst>
          </p:cNvPr>
          <p:cNvSpPr>
            <a:spLocks noGrp="1"/>
          </p:cNvSpPr>
          <p:nvPr/>
        </p:nvSpPr>
        <p:spPr>
          <a:xfrm>
            <a:off x="10287000" y="1438275"/>
            <a:ext cx="76200" cy="400050"/>
          </a:xfrm>
          <a:prstGeom prst="roundRect">
            <a:avLst>
              <a:gd name="adj" fmla="val 50000"/>
            </a:avLst>
          </a:prstGeom>
          <a:solidFill>
            <a:srgbClr val="1E3A8A"/>
          </a:solidFill>
          <a:ln w="0">
            <a:noFill/>
            <a:prstDash val="solid"/>
          </a:ln>
        </p:spPr>
      </p:sp>
      <p:sp>
        <p:nvSpPr>
          <p:cNvPr id="17" name="Rectangle: Rounded Corners 16">
            <a:extLst>
              <a:ext uri="{FF2B5EF4-FFF2-40B4-BE49-F238E27FC236}">
                <a16:creationId xmlns:a16="http://schemas.microsoft.com/office/drawing/2014/main" id="{D50ED311-B253-4E1B-8FC1-157F089B4EA6}"/>
              </a:ext>
            </a:extLst>
          </p:cNvPr>
          <p:cNvSpPr>
            <a:spLocks noGrp="1"/>
          </p:cNvSpPr>
          <p:nvPr/>
        </p:nvSpPr>
        <p:spPr>
          <a:xfrm>
            <a:off x="1123950" y="2219325"/>
            <a:ext cx="9944100" cy="762000"/>
          </a:xfrm>
          <a:prstGeom prst="roundRect">
            <a:avLst>
              <a:gd name="adj" fmla="val 17500"/>
            </a:avLst>
          </a:prstGeom>
          <a:solidFill>
            <a:srgbClr val="FFFFFF"/>
          </a:solidFill>
          <a:ln w="9525">
            <a:solidFill>
              <a:srgbClr val="D1D5DB"/>
            </a:solidFill>
            <a:prstDash val="solid"/>
          </a:ln>
        </p:spPr>
      </p:sp>
      <p:sp>
        <p:nvSpPr>
          <p:cNvPr id="18" name="Oval 17">
            <a:extLst>
              <a:ext uri="{FF2B5EF4-FFF2-40B4-BE49-F238E27FC236}">
                <a16:creationId xmlns:a16="http://schemas.microsoft.com/office/drawing/2014/main" id="{B6A69488-8DEB-4A33-95B1-9A645625A512}"/>
              </a:ext>
            </a:extLst>
          </p:cNvPr>
          <p:cNvSpPr>
            <a:spLocks noGrp="1"/>
          </p:cNvSpPr>
          <p:nvPr/>
        </p:nvSpPr>
        <p:spPr>
          <a:xfrm>
            <a:off x="1352550" y="2352675"/>
            <a:ext cx="495300" cy="495300"/>
          </a:xfrm>
          <a:prstGeom prst="ellipse">
            <a:avLst/>
          </a:prstGeom>
          <a:solidFill>
            <a:srgbClr val="ECFDF5"/>
          </a:solidFill>
          <a:ln w="0">
            <a:noFill/>
            <a:prstDash val="solid"/>
          </a:ln>
        </p:spPr>
      </p:sp>
      <p:pic>
        <p:nvPicPr>
          <p:cNvPr id="67" name="Graphic 66"/>
          <p:cNvPicPr>
            <a:picLocks noChangeAspect="1"/>
          </p:cNvPicPr>
          <p:nvPr/>
        </p:nvPicPr>
        <p:blipFill>
          <a:blip>
            <a:extLst>
              <a:ext uri="{96DAC541-7B7A-43D3-8B79-37D633B846F1}">
                <asvg:svgBlip xmlns:asvg="http://schemas.microsoft.com/office/drawing/2016/SVG/main" r:embed="rId4"/>
              </a:ext>
            </a:extLst>
          </a:blip>
          <a:stretch/>
        </p:blipFill>
        <p:spPr>
          <a:xfrm>
            <a:off x="1476375" y="2476500"/>
            <a:ext cx="247650" cy="247650"/>
          </a:xfrm>
          <a:prstGeom prst="rect">
            <a:avLst/>
          </a:prstGeom>
        </p:spPr>
      </p:pic>
      <p:sp>
        <p:nvSpPr>
          <p:cNvPr id="20" name="Rectangle 19">
            <a:extLst>
              <a:ext uri="{FF2B5EF4-FFF2-40B4-BE49-F238E27FC236}">
                <a16:creationId xmlns:a16="http://schemas.microsoft.com/office/drawing/2014/main" id="{BF85954C-B6CC-4678-9250-2BD57ECCD019}"/>
              </a:ext>
            </a:extLst>
          </p:cNvPr>
          <p:cNvSpPr>
            <a:spLocks noGrp="1"/>
          </p:cNvSpPr>
          <p:nvPr/>
        </p:nvSpPr>
        <p:spPr>
          <a:xfrm>
            <a:off x="2076450" y="2343150"/>
            <a:ext cx="419100" cy="171450"/>
          </a:xfrm>
          <a:prstGeom prst="rect">
            <a:avLst/>
          </a:prstGeom>
          <a:noFill/>
          <a:ln w="0">
            <a:noFill/>
            <a:prstDash val="solid"/>
          </a:ln>
        </p:spPr>
        <p:txBody>
          <a:bodyPr/>
          <a:lstStyle/>
          <a:p>
            <a:pPr algn="l">
              <a:defRPr sz="825" b="1" i="0">
                <a:solidFill>
                  <a:srgbClr val="EA580C"/>
                </a:solidFill>
              </a:defRPr>
            </a:pPr>
            <a:r>
              <a:rPr sz="825" b="1" i="0">
                <a:solidFill>
                  <a:srgbClr val="EA580C"/>
                </a:solidFill>
              </a:rPr>
              <a:t>02</a:t>
            </a:r>
          </a:p>
        </p:txBody>
      </p:sp>
      <p:sp>
        <p:nvSpPr>
          <p:cNvPr id="21" name="Rectangle 20">
            <a:extLst>
              <a:ext uri="{FF2B5EF4-FFF2-40B4-BE49-F238E27FC236}">
                <a16:creationId xmlns:a16="http://schemas.microsoft.com/office/drawing/2014/main" id="{042C5384-D324-4528-9E96-17D6F68D0092}"/>
              </a:ext>
            </a:extLst>
          </p:cNvPr>
          <p:cNvSpPr>
            <a:spLocks noGrp="1"/>
          </p:cNvSpPr>
          <p:nvPr/>
        </p:nvSpPr>
        <p:spPr>
          <a:xfrm>
            <a:off x="2076450" y="2514600"/>
            <a:ext cx="4762500" cy="285750"/>
          </a:xfrm>
          <a:prstGeom prst="rect">
            <a:avLst/>
          </a:prstGeom>
          <a:noFill/>
          <a:ln w="0">
            <a:noFill/>
            <a:prstDash val="solid"/>
          </a:ln>
        </p:spPr>
        <p:txBody>
          <a:bodyPr/>
          <a:lstStyle/>
          <a:p>
            <a:pPr algn="l">
              <a:defRPr sz="1650" b="1" i="0">
                <a:solidFill>
                  <a:srgbClr val="172554"/>
                </a:solidFill>
              </a:defRPr>
            </a:pPr>
            <a:r>
              <a:rPr sz="1650" b="1" i="0" dirty="0">
                <a:solidFill>
                  <a:srgbClr val="172554"/>
                </a:solidFill>
              </a:rPr>
              <a:t>Nirmalya M</a:t>
            </a:r>
            <a:r>
              <a:rPr lang="en-IN" sz="1650" b="1" i="0" dirty="0">
                <a:solidFill>
                  <a:srgbClr val="172554"/>
                </a:solidFill>
              </a:rPr>
              <a:t>a</a:t>
            </a:r>
            <a:r>
              <a:rPr sz="1650" b="1" i="0" dirty="0" err="1">
                <a:solidFill>
                  <a:srgbClr val="172554"/>
                </a:solidFill>
              </a:rPr>
              <a:t>ndal</a:t>
            </a:r>
            <a:endParaRPr sz="1650" b="1" i="0" dirty="0">
              <a:solidFill>
                <a:srgbClr val="172554"/>
              </a:solidFill>
            </a:endParaRPr>
          </a:p>
        </p:txBody>
      </p:sp>
      <p:sp>
        <p:nvSpPr>
          <p:cNvPr id="22" name="Rectangle 21">
            <a:extLst>
              <a:ext uri="{FF2B5EF4-FFF2-40B4-BE49-F238E27FC236}">
                <a16:creationId xmlns:a16="http://schemas.microsoft.com/office/drawing/2014/main" id="{9CEBCBA9-0991-4EBA-BCB1-341DF034BDFC}"/>
              </a:ext>
            </a:extLst>
          </p:cNvPr>
          <p:cNvSpPr>
            <a:spLocks noGrp="1"/>
          </p:cNvSpPr>
          <p:nvPr/>
        </p:nvSpPr>
        <p:spPr>
          <a:xfrm>
            <a:off x="7677150" y="2362200"/>
            <a:ext cx="2286000" cy="161925"/>
          </a:xfrm>
          <a:prstGeom prst="rect">
            <a:avLst/>
          </a:prstGeom>
          <a:noFill/>
          <a:ln w="0">
            <a:noFill/>
            <a:prstDash val="solid"/>
          </a:ln>
        </p:spPr>
        <p:txBody>
          <a:bodyPr/>
          <a:lstStyle/>
          <a:p>
            <a:pPr algn="r">
              <a:defRPr sz="788" b="1" i="0">
                <a:solidFill>
                  <a:srgbClr val="0F766E"/>
                </a:solidFill>
              </a:defRPr>
            </a:pPr>
            <a:r>
              <a:rPr sz="788" b="1" i="0">
                <a:solidFill>
                  <a:srgbClr val="0F766E"/>
                </a:solidFill>
              </a:rPr>
              <a:t>ENROLLMENT NUMBER</a:t>
            </a:r>
          </a:p>
        </p:txBody>
      </p:sp>
      <p:sp>
        <p:nvSpPr>
          <p:cNvPr id="23" name="Rectangle 22">
            <a:extLst>
              <a:ext uri="{FF2B5EF4-FFF2-40B4-BE49-F238E27FC236}">
                <a16:creationId xmlns:a16="http://schemas.microsoft.com/office/drawing/2014/main" id="{FD32CFA2-2769-46E2-89FD-C13B6D1935AD}"/>
              </a:ext>
            </a:extLst>
          </p:cNvPr>
          <p:cNvSpPr>
            <a:spLocks noGrp="1"/>
          </p:cNvSpPr>
          <p:nvPr/>
        </p:nvSpPr>
        <p:spPr>
          <a:xfrm>
            <a:off x="7334250" y="2562225"/>
            <a:ext cx="2628900" cy="247650"/>
          </a:xfrm>
          <a:prstGeom prst="rect">
            <a:avLst/>
          </a:prstGeom>
          <a:noFill/>
          <a:ln w="0">
            <a:noFill/>
            <a:prstDash val="solid"/>
          </a:ln>
        </p:spPr>
        <p:txBody>
          <a:bodyPr/>
          <a:lstStyle/>
          <a:p>
            <a:pPr algn="r">
              <a:defRPr sz="1425" b="1" i="0">
                <a:solidFill>
                  <a:srgbClr val="4B5563"/>
                </a:solidFill>
              </a:defRPr>
            </a:pPr>
            <a:r>
              <a:rPr sz="1425" b="1" i="0">
                <a:solidFill>
                  <a:srgbClr val="4B5563"/>
                </a:solidFill>
              </a:rPr>
              <a:t>A91005223001</a:t>
            </a:r>
          </a:p>
        </p:txBody>
      </p:sp>
      <p:sp>
        <p:nvSpPr>
          <p:cNvPr id="24" name="Rectangle: Rounded Corners 23">
            <a:extLst>
              <a:ext uri="{FF2B5EF4-FFF2-40B4-BE49-F238E27FC236}">
                <a16:creationId xmlns:a16="http://schemas.microsoft.com/office/drawing/2014/main" id="{23AFB013-3F73-4048-8554-ED234512E394}"/>
              </a:ext>
            </a:extLst>
          </p:cNvPr>
          <p:cNvSpPr>
            <a:spLocks noGrp="1"/>
          </p:cNvSpPr>
          <p:nvPr/>
        </p:nvSpPr>
        <p:spPr>
          <a:xfrm>
            <a:off x="10287000" y="2400300"/>
            <a:ext cx="76200" cy="400050"/>
          </a:xfrm>
          <a:prstGeom prst="roundRect">
            <a:avLst>
              <a:gd name="adj" fmla="val 50000"/>
            </a:avLst>
          </a:prstGeom>
          <a:solidFill>
            <a:srgbClr val="1E3A8A"/>
          </a:solidFill>
          <a:ln w="0">
            <a:noFill/>
            <a:prstDash val="solid"/>
          </a:ln>
        </p:spPr>
      </p:sp>
      <p:sp>
        <p:nvSpPr>
          <p:cNvPr id="25" name="Rectangle: Rounded Corners 24">
            <a:extLst>
              <a:ext uri="{FF2B5EF4-FFF2-40B4-BE49-F238E27FC236}">
                <a16:creationId xmlns:a16="http://schemas.microsoft.com/office/drawing/2014/main" id="{504D978A-BF90-4319-8250-A748251957C4}"/>
              </a:ext>
            </a:extLst>
          </p:cNvPr>
          <p:cNvSpPr>
            <a:spLocks noGrp="1"/>
          </p:cNvSpPr>
          <p:nvPr/>
        </p:nvSpPr>
        <p:spPr>
          <a:xfrm>
            <a:off x="1123950" y="3181350"/>
            <a:ext cx="9944100" cy="762000"/>
          </a:xfrm>
          <a:prstGeom prst="roundRect">
            <a:avLst>
              <a:gd name="adj" fmla="val 17500"/>
            </a:avLst>
          </a:prstGeom>
          <a:solidFill>
            <a:srgbClr val="F3F4F6"/>
          </a:solidFill>
          <a:ln w="9525">
            <a:solidFill>
              <a:srgbClr val="D1D5DB"/>
            </a:solidFill>
            <a:prstDash val="solid"/>
          </a:ln>
        </p:spPr>
      </p:sp>
      <p:sp>
        <p:nvSpPr>
          <p:cNvPr id="26" name="Oval 25">
            <a:extLst>
              <a:ext uri="{FF2B5EF4-FFF2-40B4-BE49-F238E27FC236}">
                <a16:creationId xmlns:a16="http://schemas.microsoft.com/office/drawing/2014/main" id="{F30B8765-069D-48F2-B545-CBB89395EC26}"/>
              </a:ext>
            </a:extLst>
          </p:cNvPr>
          <p:cNvSpPr>
            <a:spLocks noGrp="1"/>
          </p:cNvSpPr>
          <p:nvPr/>
        </p:nvSpPr>
        <p:spPr>
          <a:xfrm>
            <a:off x="1352550" y="3314700"/>
            <a:ext cx="495300" cy="495300"/>
          </a:xfrm>
          <a:prstGeom prst="ellipse">
            <a:avLst/>
          </a:prstGeom>
          <a:solidFill>
            <a:srgbClr val="ECFDF5"/>
          </a:solidFill>
          <a:ln w="0">
            <a:noFill/>
            <a:prstDash val="solid"/>
          </a:ln>
        </p:spPr>
      </p:sp>
      <p:pic>
        <p:nvPicPr>
          <p:cNvPr id="75" name="Graphic 74"/>
          <p:cNvPicPr>
            <a:picLocks noChangeAspect="1"/>
          </p:cNvPicPr>
          <p:nvPr/>
        </p:nvPicPr>
        <p:blipFill>
          <a:blip>
            <a:extLst>
              <a:ext uri="{96DAC541-7B7A-43D3-8B79-37D633B846F1}">
                <asvg:svgBlip xmlns:asvg="http://schemas.microsoft.com/office/drawing/2016/SVG/main" r:embed="rId4"/>
              </a:ext>
            </a:extLst>
          </a:blip>
          <a:stretch/>
        </p:blipFill>
        <p:spPr>
          <a:xfrm>
            <a:off x="1476375" y="3438525"/>
            <a:ext cx="247650" cy="247650"/>
          </a:xfrm>
          <a:prstGeom prst="rect">
            <a:avLst/>
          </a:prstGeom>
        </p:spPr>
      </p:pic>
      <p:sp>
        <p:nvSpPr>
          <p:cNvPr id="28" name="Rectangle 27">
            <a:extLst>
              <a:ext uri="{FF2B5EF4-FFF2-40B4-BE49-F238E27FC236}">
                <a16:creationId xmlns:a16="http://schemas.microsoft.com/office/drawing/2014/main" id="{AC4E1EB5-2745-4DC2-A6F0-CEC66812D3BF}"/>
              </a:ext>
            </a:extLst>
          </p:cNvPr>
          <p:cNvSpPr>
            <a:spLocks noGrp="1"/>
          </p:cNvSpPr>
          <p:nvPr/>
        </p:nvSpPr>
        <p:spPr>
          <a:xfrm>
            <a:off x="2076450" y="3305175"/>
            <a:ext cx="419100" cy="171450"/>
          </a:xfrm>
          <a:prstGeom prst="rect">
            <a:avLst/>
          </a:prstGeom>
          <a:noFill/>
          <a:ln w="0">
            <a:noFill/>
            <a:prstDash val="solid"/>
          </a:ln>
        </p:spPr>
        <p:txBody>
          <a:bodyPr/>
          <a:lstStyle/>
          <a:p>
            <a:pPr algn="l">
              <a:defRPr sz="825" b="1" i="0">
                <a:solidFill>
                  <a:srgbClr val="EA580C"/>
                </a:solidFill>
              </a:defRPr>
            </a:pPr>
            <a:r>
              <a:rPr sz="825" b="1" i="0">
                <a:solidFill>
                  <a:srgbClr val="EA580C"/>
                </a:solidFill>
              </a:rPr>
              <a:t>03</a:t>
            </a:r>
          </a:p>
        </p:txBody>
      </p:sp>
      <p:sp>
        <p:nvSpPr>
          <p:cNvPr id="29" name="Rectangle 28">
            <a:extLst>
              <a:ext uri="{FF2B5EF4-FFF2-40B4-BE49-F238E27FC236}">
                <a16:creationId xmlns:a16="http://schemas.microsoft.com/office/drawing/2014/main" id="{9F5BF22A-FAEE-4EB1-A4F4-F6FE3D2054DE}"/>
              </a:ext>
            </a:extLst>
          </p:cNvPr>
          <p:cNvSpPr>
            <a:spLocks noGrp="1"/>
          </p:cNvSpPr>
          <p:nvPr/>
        </p:nvSpPr>
        <p:spPr>
          <a:xfrm>
            <a:off x="2076450" y="3476625"/>
            <a:ext cx="4762500" cy="285750"/>
          </a:xfrm>
          <a:prstGeom prst="rect">
            <a:avLst/>
          </a:prstGeom>
          <a:noFill/>
          <a:ln w="0">
            <a:noFill/>
            <a:prstDash val="solid"/>
          </a:ln>
        </p:spPr>
        <p:txBody>
          <a:bodyPr/>
          <a:lstStyle/>
          <a:p>
            <a:pPr algn="l">
              <a:defRPr sz="1650" b="1" i="0">
                <a:solidFill>
                  <a:srgbClr val="172554"/>
                </a:solidFill>
              </a:defRPr>
            </a:pPr>
            <a:r>
              <a:rPr sz="1650" b="1" i="0">
                <a:solidFill>
                  <a:srgbClr val="172554"/>
                </a:solidFill>
              </a:rPr>
              <a:t>Partha Pratim Bera</a:t>
            </a:r>
          </a:p>
        </p:txBody>
      </p:sp>
      <p:sp>
        <p:nvSpPr>
          <p:cNvPr id="30" name="Rectangle 29">
            <a:extLst>
              <a:ext uri="{FF2B5EF4-FFF2-40B4-BE49-F238E27FC236}">
                <a16:creationId xmlns:a16="http://schemas.microsoft.com/office/drawing/2014/main" id="{A7F0B927-81EA-4814-97C3-CDF3DC32F5AA}"/>
              </a:ext>
            </a:extLst>
          </p:cNvPr>
          <p:cNvSpPr>
            <a:spLocks noGrp="1"/>
          </p:cNvSpPr>
          <p:nvPr/>
        </p:nvSpPr>
        <p:spPr>
          <a:xfrm>
            <a:off x="7677150" y="3324225"/>
            <a:ext cx="2286000" cy="161925"/>
          </a:xfrm>
          <a:prstGeom prst="rect">
            <a:avLst/>
          </a:prstGeom>
          <a:noFill/>
          <a:ln w="0">
            <a:noFill/>
            <a:prstDash val="solid"/>
          </a:ln>
        </p:spPr>
        <p:txBody>
          <a:bodyPr/>
          <a:lstStyle/>
          <a:p>
            <a:pPr algn="r">
              <a:defRPr sz="788" b="1" i="0">
                <a:solidFill>
                  <a:srgbClr val="0F766E"/>
                </a:solidFill>
              </a:defRPr>
            </a:pPr>
            <a:r>
              <a:rPr sz="788" b="1" i="0">
                <a:solidFill>
                  <a:srgbClr val="0F766E"/>
                </a:solidFill>
              </a:rPr>
              <a:t>ENROLLMENT NUMBER</a:t>
            </a:r>
          </a:p>
        </p:txBody>
      </p:sp>
      <p:sp>
        <p:nvSpPr>
          <p:cNvPr id="31" name="Rectangle 30">
            <a:extLst>
              <a:ext uri="{FF2B5EF4-FFF2-40B4-BE49-F238E27FC236}">
                <a16:creationId xmlns:a16="http://schemas.microsoft.com/office/drawing/2014/main" id="{0203D507-AF11-45C3-B074-BA7D58ADDEA6}"/>
              </a:ext>
            </a:extLst>
          </p:cNvPr>
          <p:cNvSpPr>
            <a:spLocks noGrp="1"/>
          </p:cNvSpPr>
          <p:nvPr/>
        </p:nvSpPr>
        <p:spPr>
          <a:xfrm>
            <a:off x="7334250" y="3524250"/>
            <a:ext cx="2628900" cy="247650"/>
          </a:xfrm>
          <a:prstGeom prst="rect">
            <a:avLst/>
          </a:prstGeom>
          <a:noFill/>
          <a:ln w="0">
            <a:noFill/>
            <a:prstDash val="solid"/>
          </a:ln>
        </p:spPr>
        <p:txBody>
          <a:bodyPr/>
          <a:lstStyle/>
          <a:p>
            <a:pPr algn="r">
              <a:defRPr sz="1425" b="1" i="0">
                <a:solidFill>
                  <a:srgbClr val="4B5563"/>
                </a:solidFill>
              </a:defRPr>
            </a:pPr>
            <a:r>
              <a:rPr sz="1425" b="1" i="0">
                <a:solidFill>
                  <a:srgbClr val="4B5563"/>
                </a:solidFill>
              </a:rPr>
              <a:t>A91005223091</a:t>
            </a:r>
          </a:p>
        </p:txBody>
      </p:sp>
      <p:sp>
        <p:nvSpPr>
          <p:cNvPr id="32" name="Rectangle: Rounded Corners 31">
            <a:extLst>
              <a:ext uri="{FF2B5EF4-FFF2-40B4-BE49-F238E27FC236}">
                <a16:creationId xmlns:a16="http://schemas.microsoft.com/office/drawing/2014/main" id="{52FB4C11-9C33-47F3-A4C2-D7F3853F030B}"/>
              </a:ext>
            </a:extLst>
          </p:cNvPr>
          <p:cNvSpPr>
            <a:spLocks noGrp="1"/>
          </p:cNvSpPr>
          <p:nvPr/>
        </p:nvSpPr>
        <p:spPr>
          <a:xfrm>
            <a:off x="10287000" y="3362325"/>
            <a:ext cx="76200" cy="400050"/>
          </a:xfrm>
          <a:prstGeom prst="roundRect">
            <a:avLst>
              <a:gd name="adj" fmla="val 50000"/>
            </a:avLst>
          </a:prstGeom>
          <a:solidFill>
            <a:srgbClr val="1E3A8A"/>
          </a:solidFill>
          <a:ln w="0">
            <a:noFill/>
            <a:prstDash val="solid"/>
          </a:ln>
        </p:spPr>
      </p:sp>
      <p:sp>
        <p:nvSpPr>
          <p:cNvPr id="33" name="Rectangle: Rounded Corners 32">
            <a:extLst>
              <a:ext uri="{FF2B5EF4-FFF2-40B4-BE49-F238E27FC236}">
                <a16:creationId xmlns:a16="http://schemas.microsoft.com/office/drawing/2014/main" id="{B74FAFA1-8EB4-4955-B731-5848E109652C}"/>
              </a:ext>
            </a:extLst>
          </p:cNvPr>
          <p:cNvSpPr>
            <a:spLocks noGrp="1"/>
          </p:cNvSpPr>
          <p:nvPr/>
        </p:nvSpPr>
        <p:spPr>
          <a:xfrm>
            <a:off x="1123950" y="4143375"/>
            <a:ext cx="9944100" cy="762000"/>
          </a:xfrm>
          <a:prstGeom prst="roundRect">
            <a:avLst>
              <a:gd name="adj" fmla="val 17500"/>
            </a:avLst>
          </a:prstGeom>
          <a:solidFill>
            <a:srgbClr val="FFFFFF"/>
          </a:solidFill>
          <a:ln w="9525">
            <a:solidFill>
              <a:srgbClr val="D1D5DB"/>
            </a:solidFill>
            <a:prstDash val="solid"/>
          </a:ln>
        </p:spPr>
      </p:sp>
      <p:sp>
        <p:nvSpPr>
          <p:cNvPr id="34" name="Oval 33">
            <a:extLst>
              <a:ext uri="{FF2B5EF4-FFF2-40B4-BE49-F238E27FC236}">
                <a16:creationId xmlns:a16="http://schemas.microsoft.com/office/drawing/2014/main" id="{E8D141CE-3FEF-45A6-972D-91E1EB5E5440}"/>
              </a:ext>
            </a:extLst>
          </p:cNvPr>
          <p:cNvSpPr>
            <a:spLocks noGrp="1"/>
          </p:cNvSpPr>
          <p:nvPr/>
        </p:nvSpPr>
        <p:spPr>
          <a:xfrm>
            <a:off x="1352550" y="4276725"/>
            <a:ext cx="495300" cy="495300"/>
          </a:xfrm>
          <a:prstGeom prst="ellipse">
            <a:avLst/>
          </a:prstGeom>
          <a:solidFill>
            <a:srgbClr val="ECFDF5"/>
          </a:solidFill>
          <a:ln w="0">
            <a:noFill/>
            <a:prstDash val="solid"/>
          </a:ln>
        </p:spPr>
      </p:sp>
      <p:pic>
        <p:nvPicPr>
          <p:cNvPr id="83" name="Graphic 82"/>
          <p:cNvPicPr>
            <a:picLocks noChangeAspect="1"/>
          </p:cNvPicPr>
          <p:nvPr/>
        </p:nvPicPr>
        <p:blipFill>
          <a:blip>
            <a:extLst>
              <a:ext uri="{96DAC541-7B7A-43D3-8B79-37D633B846F1}">
                <asvg:svgBlip xmlns:asvg="http://schemas.microsoft.com/office/drawing/2016/SVG/main" r:embed="rId4"/>
              </a:ext>
            </a:extLst>
          </a:blip>
          <a:stretch/>
        </p:blipFill>
        <p:spPr>
          <a:xfrm>
            <a:off x="1476375" y="4400550"/>
            <a:ext cx="247650" cy="247650"/>
          </a:xfrm>
          <a:prstGeom prst="rect">
            <a:avLst/>
          </a:prstGeom>
        </p:spPr>
      </p:pic>
      <p:sp>
        <p:nvSpPr>
          <p:cNvPr id="36" name="Rectangle 35">
            <a:extLst>
              <a:ext uri="{FF2B5EF4-FFF2-40B4-BE49-F238E27FC236}">
                <a16:creationId xmlns:a16="http://schemas.microsoft.com/office/drawing/2014/main" id="{FA59488B-5AA5-42DF-BFEB-AA4D40FEFFD6}"/>
              </a:ext>
            </a:extLst>
          </p:cNvPr>
          <p:cNvSpPr>
            <a:spLocks noGrp="1"/>
          </p:cNvSpPr>
          <p:nvPr/>
        </p:nvSpPr>
        <p:spPr>
          <a:xfrm>
            <a:off x="2076450" y="4267200"/>
            <a:ext cx="419100" cy="171450"/>
          </a:xfrm>
          <a:prstGeom prst="rect">
            <a:avLst/>
          </a:prstGeom>
          <a:noFill/>
          <a:ln w="0">
            <a:noFill/>
            <a:prstDash val="solid"/>
          </a:ln>
        </p:spPr>
        <p:txBody>
          <a:bodyPr/>
          <a:lstStyle/>
          <a:p>
            <a:pPr algn="l">
              <a:defRPr sz="825" b="1" i="0">
                <a:solidFill>
                  <a:srgbClr val="EA580C"/>
                </a:solidFill>
              </a:defRPr>
            </a:pPr>
            <a:r>
              <a:rPr sz="825" b="1" i="0">
                <a:solidFill>
                  <a:srgbClr val="EA580C"/>
                </a:solidFill>
              </a:rPr>
              <a:t>04</a:t>
            </a:r>
          </a:p>
        </p:txBody>
      </p:sp>
      <p:sp>
        <p:nvSpPr>
          <p:cNvPr id="37" name="Rectangle 36">
            <a:extLst>
              <a:ext uri="{FF2B5EF4-FFF2-40B4-BE49-F238E27FC236}">
                <a16:creationId xmlns:a16="http://schemas.microsoft.com/office/drawing/2014/main" id="{7151843B-7413-4CCD-9647-79F51D4E3FA8}"/>
              </a:ext>
            </a:extLst>
          </p:cNvPr>
          <p:cNvSpPr>
            <a:spLocks noGrp="1"/>
          </p:cNvSpPr>
          <p:nvPr/>
        </p:nvSpPr>
        <p:spPr>
          <a:xfrm>
            <a:off x="2076450" y="4438650"/>
            <a:ext cx="4762500" cy="285750"/>
          </a:xfrm>
          <a:prstGeom prst="rect">
            <a:avLst/>
          </a:prstGeom>
          <a:noFill/>
          <a:ln w="0">
            <a:noFill/>
            <a:prstDash val="solid"/>
          </a:ln>
        </p:spPr>
        <p:txBody>
          <a:bodyPr/>
          <a:lstStyle/>
          <a:p>
            <a:pPr algn="l">
              <a:defRPr sz="1650" b="1" i="0">
                <a:solidFill>
                  <a:srgbClr val="172554"/>
                </a:solidFill>
              </a:defRPr>
            </a:pPr>
            <a:r>
              <a:rPr sz="1650" b="1" i="0">
                <a:solidFill>
                  <a:srgbClr val="172554"/>
                </a:solidFill>
              </a:rPr>
              <a:t>Parth Nagar</a:t>
            </a:r>
          </a:p>
        </p:txBody>
      </p:sp>
      <p:sp>
        <p:nvSpPr>
          <p:cNvPr id="38" name="Rectangle 37">
            <a:extLst>
              <a:ext uri="{FF2B5EF4-FFF2-40B4-BE49-F238E27FC236}">
                <a16:creationId xmlns:a16="http://schemas.microsoft.com/office/drawing/2014/main" id="{18689A7B-86A9-4B7B-AAFD-A23659789D1D}"/>
              </a:ext>
            </a:extLst>
          </p:cNvPr>
          <p:cNvSpPr>
            <a:spLocks noGrp="1"/>
          </p:cNvSpPr>
          <p:nvPr/>
        </p:nvSpPr>
        <p:spPr>
          <a:xfrm>
            <a:off x="7677150" y="4286250"/>
            <a:ext cx="2286000" cy="161925"/>
          </a:xfrm>
          <a:prstGeom prst="rect">
            <a:avLst/>
          </a:prstGeom>
          <a:noFill/>
          <a:ln w="0">
            <a:noFill/>
            <a:prstDash val="solid"/>
          </a:ln>
        </p:spPr>
        <p:txBody>
          <a:bodyPr/>
          <a:lstStyle/>
          <a:p>
            <a:pPr algn="r">
              <a:defRPr sz="788" b="1" i="0">
                <a:solidFill>
                  <a:srgbClr val="0F766E"/>
                </a:solidFill>
              </a:defRPr>
            </a:pPr>
            <a:r>
              <a:rPr sz="788" b="1" i="0">
                <a:solidFill>
                  <a:srgbClr val="0F766E"/>
                </a:solidFill>
              </a:rPr>
              <a:t>ENROLLMENT NUMBER</a:t>
            </a:r>
          </a:p>
        </p:txBody>
      </p:sp>
      <p:sp>
        <p:nvSpPr>
          <p:cNvPr id="39" name="Rectangle 38">
            <a:extLst>
              <a:ext uri="{FF2B5EF4-FFF2-40B4-BE49-F238E27FC236}">
                <a16:creationId xmlns:a16="http://schemas.microsoft.com/office/drawing/2014/main" id="{C3C3D111-9AF2-48A1-977A-5EFCFD3BEC81}"/>
              </a:ext>
            </a:extLst>
          </p:cNvPr>
          <p:cNvSpPr>
            <a:spLocks noGrp="1"/>
          </p:cNvSpPr>
          <p:nvPr/>
        </p:nvSpPr>
        <p:spPr>
          <a:xfrm>
            <a:off x="7334250" y="4486275"/>
            <a:ext cx="2628900" cy="247650"/>
          </a:xfrm>
          <a:prstGeom prst="rect">
            <a:avLst/>
          </a:prstGeom>
          <a:noFill/>
          <a:ln w="0">
            <a:noFill/>
            <a:prstDash val="solid"/>
          </a:ln>
        </p:spPr>
        <p:txBody>
          <a:bodyPr/>
          <a:lstStyle/>
          <a:p>
            <a:pPr algn="r">
              <a:defRPr sz="1425" b="1" i="0">
                <a:solidFill>
                  <a:srgbClr val="4B5563"/>
                </a:solidFill>
              </a:defRPr>
            </a:pPr>
            <a:r>
              <a:rPr sz="1425" b="1" i="0">
                <a:solidFill>
                  <a:srgbClr val="4B5563"/>
                </a:solidFill>
              </a:rPr>
              <a:t>A91005223179</a:t>
            </a:r>
          </a:p>
        </p:txBody>
      </p:sp>
      <p:sp>
        <p:nvSpPr>
          <p:cNvPr id="40" name="Rectangle: Rounded Corners 39">
            <a:extLst>
              <a:ext uri="{FF2B5EF4-FFF2-40B4-BE49-F238E27FC236}">
                <a16:creationId xmlns:a16="http://schemas.microsoft.com/office/drawing/2014/main" id="{A4DF4B3E-3135-47E1-87EC-58B5EEA38F10}"/>
              </a:ext>
            </a:extLst>
          </p:cNvPr>
          <p:cNvSpPr>
            <a:spLocks noGrp="1"/>
          </p:cNvSpPr>
          <p:nvPr/>
        </p:nvSpPr>
        <p:spPr>
          <a:xfrm>
            <a:off x="10287000" y="4324350"/>
            <a:ext cx="76200" cy="400050"/>
          </a:xfrm>
          <a:prstGeom prst="roundRect">
            <a:avLst>
              <a:gd name="adj" fmla="val 50000"/>
            </a:avLst>
          </a:prstGeom>
          <a:solidFill>
            <a:srgbClr val="1E3A8A"/>
          </a:solidFill>
          <a:ln w="0">
            <a:noFill/>
            <a:prstDash val="solid"/>
          </a:ln>
        </p:spPr>
      </p:sp>
      <p:sp>
        <p:nvSpPr>
          <p:cNvPr id="41" name="Rectangle: Rounded Corners 40">
            <a:extLst>
              <a:ext uri="{FF2B5EF4-FFF2-40B4-BE49-F238E27FC236}">
                <a16:creationId xmlns:a16="http://schemas.microsoft.com/office/drawing/2014/main" id="{958C37D1-04E8-4ED6-B655-3C0E45C58A15}"/>
              </a:ext>
            </a:extLst>
          </p:cNvPr>
          <p:cNvSpPr>
            <a:spLocks noGrp="1"/>
          </p:cNvSpPr>
          <p:nvPr/>
        </p:nvSpPr>
        <p:spPr>
          <a:xfrm>
            <a:off x="1123950" y="5067300"/>
            <a:ext cx="9944100" cy="762000"/>
          </a:xfrm>
          <a:prstGeom prst="roundRect">
            <a:avLst>
              <a:gd name="adj" fmla="val 17500"/>
            </a:avLst>
          </a:prstGeom>
          <a:solidFill>
            <a:srgbClr val="F3F4F6"/>
          </a:solidFill>
          <a:ln w="9525">
            <a:solidFill>
              <a:srgbClr val="D1D5DB"/>
            </a:solidFill>
            <a:prstDash val="solid"/>
          </a:ln>
        </p:spPr>
        <p:txBody>
          <a:bodyPr/>
          <a:lstStyle/>
          <a:p>
            <a:endParaRPr lang="en-IN" dirty="0"/>
          </a:p>
        </p:txBody>
      </p:sp>
      <p:sp>
        <p:nvSpPr>
          <p:cNvPr id="42" name="Oval 41">
            <a:extLst>
              <a:ext uri="{FF2B5EF4-FFF2-40B4-BE49-F238E27FC236}">
                <a16:creationId xmlns:a16="http://schemas.microsoft.com/office/drawing/2014/main" id="{8C72D3E7-2085-4878-8FB2-8F08DDFE4A16}"/>
              </a:ext>
            </a:extLst>
          </p:cNvPr>
          <p:cNvSpPr>
            <a:spLocks noGrp="1"/>
          </p:cNvSpPr>
          <p:nvPr/>
        </p:nvSpPr>
        <p:spPr>
          <a:xfrm>
            <a:off x="1352550" y="5238750"/>
            <a:ext cx="495300" cy="495300"/>
          </a:xfrm>
          <a:prstGeom prst="ellipse">
            <a:avLst/>
          </a:prstGeom>
          <a:solidFill>
            <a:srgbClr val="ECFDF5"/>
          </a:solidFill>
          <a:ln w="0">
            <a:noFill/>
            <a:prstDash val="solid"/>
          </a:ln>
        </p:spPr>
      </p:sp>
      <p:pic>
        <p:nvPicPr>
          <p:cNvPr id="91" name="Graphic 90"/>
          <p:cNvPicPr>
            <a:picLocks noChangeAspect="1"/>
          </p:cNvPicPr>
          <p:nvPr/>
        </p:nvPicPr>
        <p:blipFill>
          <a:blip>
            <a:extLst>
              <a:ext uri="{96DAC541-7B7A-43D3-8B79-37D633B846F1}">
                <asvg:svgBlip xmlns:asvg="http://schemas.microsoft.com/office/drawing/2016/SVG/main" r:embed="rId5"/>
              </a:ext>
            </a:extLst>
          </a:blip>
          <a:stretch/>
        </p:blipFill>
        <p:spPr>
          <a:xfrm>
            <a:off x="1476375" y="5362575"/>
            <a:ext cx="247650" cy="247650"/>
          </a:xfrm>
          <a:prstGeom prst="rect">
            <a:avLst/>
          </a:prstGeom>
        </p:spPr>
      </p:pic>
      <p:sp>
        <p:nvSpPr>
          <p:cNvPr id="44" name="Rectangle 43">
            <a:extLst>
              <a:ext uri="{FF2B5EF4-FFF2-40B4-BE49-F238E27FC236}">
                <a16:creationId xmlns:a16="http://schemas.microsoft.com/office/drawing/2014/main" id="{4376CA1F-F0D9-469A-8DC1-DE150A1E654A}"/>
              </a:ext>
            </a:extLst>
          </p:cNvPr>
          <p:cNvSpPr>
            <a:spLocks noGrp="1"/>
          </p:cNvSpPr>
          <p:nvPr/>
        </p:nvSpPr>
        <p:spPr>
          <a:xfrm>
            <a:off x="2076450" y="5229225"/>
            <a:ext cx="419100" cy="171450"/>
          </a:xfrm>
          <a:prstGeom prst="rect">
            <a:avLst/>
          </a:prstGeom>
          <a:noFill/>
          <a:ln w="0">
            <a:noFill/>
            <a:prstDash val="solid"/>
          </a:ln>
        </p:spPr>
        <p:txBody>
          <a:bodyPr/>
          <a:lstStyle/>
          <a:p>
            <a:pPr algn="l">
              <a:defRPr sz="825" b="1" i="0">
                <a:solidFill>
                  <a:srgbClr val="EA580C"/>
                </a:solidFill>
              </a:defRPr>
            </a:pPr>
            <a:r>
              <a:rPr sz="825" b="1" i="0">
                <a:solidFill>
                  <a:srgbClr val="EA580C"/>
                </a:solidFill>
              </a:rPr>
              <a:t>05</a:t>
            </a:r>
          </a:p>
        </p:txBody>
      </p:sp>
      <p:sp>
        <p:nvSpPr>
          <p:cNvPr id="45" name="Rectangle 44">
            <a:extLst>
              <a:ext uri="{FF2B5EF4-FFF2-40B4-BE49-F238E27FC236}">
                <a16:creationId xmlns:a16="http://schemas.microsoft.com/office/drawing/2014/main" id="{9C7FA81A-4242-48F2-8B4B-7D4CBCF0CC99}"/>
              </a:ext>
            </a:extLst>
          </p:cNvPr>
          <p:cNvSpPr>
            <a:spLocks noGrp="1"/>
          </p:cNvSpPr>
          <p:nvPr/>
        </p:nvSpPr>
        <p:spPr>
          <a:xfrm>
            <a:off x="2076450" y="5400675"/>
            <a:ext cx="4762500" cy="285750"/>
          </a:xfrm>
          <a:prstGeom prst="rect">
            <a:avLst/>
          </a:prstGeom>
          <a:noFill/>
          <a:ln w="0">
            <a:noFill/>
            <a:prstDash val="solid"/>
          </a:ln>
        </p:spPr>
        <p:txBody>
          <a:bodyPr/>
          <a:lstStyle/>
          <a:p>
            <a:pPr algn="l">
              <a:defRPr sz="1650" b="1" i="0">
                <a:solidFill>
                  <a:srgbClr val="172554"/>
                </a:solidFill>
              </a:defRPr>
            </a:pPr>
            <a:r>
              <a:rPr sz="1650" b="1" i="0">
                <a:solidFill>
                  <a:srgbClr val="172554"/>
                </a:solidFill>
              </a:rPr>
              <a:t>Jeya Maity</a:t>
            </a:r>
          </a:p>
        </p:txBody>
      </p:sp>
      <p:sp>
        <p:nvSpPr>
          <p:cNvPr id="46" name="Rectangle 45">
            <a:extLst>
              <a:ext uri="{FF2B5EF4-FFF2-40B4-BE49-F238E27FC236}">
                <a16:creationId xmlns:a16="http://schemas.microsoft.com/office/drawing/2014/main" id="{0817ECED-79B7-437E-8D8B-CF19ABBBF313}"/>
              </a:ext>
            </a:extLst>
          </p:cNvPr>
          <p:cNvSpPr>
            <a:spLocks noGrp="1"/>
          </p:cNvSpPr>
          <p:nvPr/>
        </p:nvSpPr>
        <p:spPr>
          <a:xfrm>
            <a:off x="7677150" y="5248275"/>
            <a:ext cx="2286000" cy="161925"/>
          </a:xfrm>
          <a:prstGeom prst="rect">
            <a:avLst/>
          </a:prstGeom>
          <a:noFill/>
          <a:ln w="0">
            <a:noFill/>
            <a:prstDash val="solid"/>
          </a:ln>
        </p:spPr>
        <p:txBody>
          <a:bodyPr/>
          <a:lstStyle/>
          <a:p>
            <a:pPr algn="r">
              <a:defRPr sz="788" b="1" i="0">
                <a:solidFill>
                  <a:srgbClr val="0F766E"/>
                </a:solidFill>
              </a:defRPr>
            </a:pPr>
            <a:r>
              <a:rPr sz="788" b="1" i="0">
                <a:solidFill>
                  <a:srgbClr val="0F766E"/>
                </a:solidFill>
              </a:rPr>
              <a:t>ENROLLMENT NUMBER</a:t>
            </a:r>
          </a:p>
        </p:txBody>
      </p:sp>
      <p:sp>
        <p:nvSpPr>
          <p:cNvPr id="47" name="Rectangle 46">
            <a:extLst>
              <a:ext uri="{FF2B5EF4-FFF2-40B4-BE49-F238E27FC236}">
                <a16:creationId xmlns:a16="http://schemas.microsoft.com/office/drawing/2014/main" id="{A2549429-BDB4-4831-8438-D33EFE937D22}"/>
              </a:ext>
            </a:extLst>
          </p:cNvPr>
          <p:cNvSpPr>
            <a:spLocks noGrp="1"/>
          </p:cNvSpPr>
          <p:nvPr/>
        </p:nvSpPr>
        <p:spPr>
          <a:xfrm>
            <a:off x="7334250" y="5448300"/>
            <a:ext cx="2628900" cy="247650"/>
          </a:xfrm>
          <a:prstGeom prst="rect">
            <a:avLst/>
          </a:prstGeom>
          <a:noFill/>
          <a:ln w="0">
            <a:noFill/>
            <a:prstDash val="solid"/>
          </a:ln>
        </p:spPr>
        <p:txBody>
          <a:bodyPr/>
          <a:lstStyle/>
          <a:p>
            <a:pPr algn="r">
              <a:defRPr sz="1425" b="1" i="0">
                <a:solidFill>
                  <a:srgbClr val="4B5563"/>
                </a:solidFill>
              </a:defRPr>
            </a:pPr>
            <a:r>
              <a:rPr sz="1425" b="1" i="0">
                <a:solidFill>
                  <a:srgbClr val="4B5563"/>
                </a:solidFill>
              </a:rPr>
              <a:t>A91005223079</a:t>
            </a:r>
          </a:p>
        </p:txBody>
      </p:sp>
      <p:sp>
        <p:nvSpPr>
          <p:cNvPr id="48" name="Rectangle: Rounded Corners 47">
            <a:extLst>
              <a:ext uri="{FF2B5EF4-FFF2-40B4-BE49-F238E27FC236}">
                <a16:creationId xmlns:a16="http://schemas.microsoft.com/office/drawing/2014/main" id="{1E229818-4F33-4A60-8DB2-340E8A44281C}"/>
              </a:ext>
            </a:extLst>
          </p:cNvPr>
          <p:cNvSpPr>
            <a:spLocks noGrp="1"/>
          </p:cNvSpPr>
          <p:nvPr/>
        </p:nvSpPr>
        <p:spPr>
          <a:xfrm>
            <a:off x="10287000" y="5286375"/>
            <a:ext cx="76200" cy="400050"/>
          </a:xfrm>
          <a:prstGeom prst="roundRect">
            <a:avLst>
              <a:gd name="adj" fmla="val 50000"/>
            </a:avLst>
          </a:prstGeom>
          <a:solidFill>
            <a:srgbClr val="1E3A8A"/>
          </a:solidFill>
          <a:ln w="0">
            <a:noFill/>
            <a:prstDash val="solid"/>
          </a:ln>
        </p:spPr>
      </p:sp>
    </p:spTree>
    <p:extLst>
      <p:ext uri="{BB962C8B-B14F-4D97-AF65-F5344CB8AC3E}">
        <p14:creationId xmlns:p14="http://schemas.microsoft.com/office/powerpoint/2010/main" val="776659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Rectangle: Rounded Corners 50">
            <a:extLst>
              <a:ext uri="{FF2B5EF4-FFF2-40B4-BE49-F238E27FC236}">
                <a16:creationId xmlns:a16="http://schemas.microsoft.com/office/drawing/2014/main" id="{FE3DBC3E-A95C-4B5A-A683-194AADCEDFB5}"/>
              </a:ext>
            </a:extLst>
          </p:cNvPr>
          <p:cNvSpPr>
            <a:spLocks noGrp="1"/>
          </p:cNvSpPr>
          <p:nvPr/>
        </p:nvSpPr>
        <p:spPr>
          <a:xfrm>
            <a:off x="514350" y="323850"/>
            <a:ext cx="76200" cy="552450"/>
          </a:xfrm>
          <a:prstGeom prst="roundRect">
            <a:avLst>
              <a:gd name="adj" fmla="val 50000"/>
            </a:avLst>
          </a:prstGeom>
          <a:solidFill>
            <a:srgbClr val="EA580C"/>
          </a:solidFill>
          <a:ln w="0">
            <a:noFill/>
            <a:prstDash val="solid"/>
          </a:ln>
        </p:spPr>
      </p:sp>
      <p:sp>
        <p:nvSpPr>
          <p:cNvPr id="2" name="Oval 1">
            <a:extLst>
              <a:ext uri="{FF2B5EF4-FFF2-40B4-BE49-F238E27FC236}">
                <a16:creationId xmlns:a16="http://schemas.microsoft.com/office/drawing/2014/main" id="{84BBC324-96DF-44EE-8021-F8D99403354C}"/>
              </a:ext>
            </a:extLst>
          </p:cNvPr>
          <p:cNvSpPr>
            <a:spLocks noGrp="1"/>
          </p:cNvSpPr>
          <p:nvPr/>
        </p:nvSpPr>
        <p:spPr>
          <a:xfrm>
            <a:off x="742950" y="361950"/>
            <a:ext cx="457200" cy="457200"/>
          </a:xfrm>
          <a:prstGeom prst="ellipse">
            <a:avLst/>
          </a:prstGeom>
          <a:solidFill>
            <a:srgbClr val="EEF2FF"/>
          </a:solidFill>
          <a:ln w="0">
            <a:noFill/>
            <a:prstDash val="solid"/>
          </a:ln>
        </p:spPr>
      </p:sp>
      <p:pic>
        <p:nvPicPr>
          <p:cNvPr id="53" name="Graphic 52"/>
          <p:cNvPicPr>
            <a:picLocks noChangeAspect="1"/>
          </p:cNvPicPr>
          <p:nvPr/>
        </p:nvPicPr>
        <p:blipFill>
          <a:blip>
            <a:extLst>
              <a:ext uri="{96DAC541-7B7A-43D3-8B79-37D633B846F1}">
                <asvg:svgBlip xmlns:asvg="http://schemas.microsoft.com/office/drawing/2016/SVG/main" r:embed="rId3"/>
              </a:ext>
            </a:extLst>
          </a:blip>
          <a:stretch/>
        </p:blipFill>
        <p:spPr>
          <a:xfrm>
            <a:off x="848106" y="467106"/>
            <a:ext cx="246888" cy="246888"/>
          </a:xfrm>
          <a:prstGeom prst="rect">
            <a:avLst/>
          </a:prstGeom>
        </p:spPr>
      </p:pic>
      <p:sp>
        <p:nvSpPr>
          <p:cNvPr id="4" name="Rectangle 3">
            <a:extLst>
              <a:ext uri="{FF2B5EF4-FFF2-40B4-BE49-F238E27FC236}">
                <a16:creationId xmlns:a16="http://schemas.microsoft.com/office/drawing/2014/main" id="{C5F61BFD-A43A-40BD-BEA1-ECC6B26DC4B6}"/>
              </a:ext>
            </a:extLst>
          </p:cNvPr>
          <p:cNvSpPr>
            <a:spLocks noGrp="1"/>
          </p:cNvSpPr>
          <p:nvPr/>
        </p:nvSpPr>
        <p:spPr>
          <a:xfrm>
            <a:off x="1352550" y="361950"/>
            <a:ext cx="4762500" cy="171450"/>
          </a:xfrm>
          <a:prstGeom prst="rect">
            <a:avLst/>
          </a:prstGeom>
          <a:noFill/>
          <a:ln w="0">
            <a:noFill/>
            <a:prstDash val="solid"/>
          </a:ln>
        </p:spPr>
        <p:txBody>
          <a:bodyPr/>
          <a:lstStyle/>
          <a:p>
            <a:pPr algn="l">
              <a:defRPr sz="825" b="1" i="0">
                <a:solidFill>
                  <a:srgbClr val="0F766E"/>
                </a:solidFill>
              </a:defRPr>
            </a:pPr>
            <a:r>
              <a:rPr sz="825" b="1" i="0">
                <a:solidFill>
                  <a:srgbClr val="0F766E"/>
                </a:solidFill>
              </a:rPr>
              <a:t>PASSENGER REALITY</a:t>
            </a:r>
          </a:p>
        </p:txBody>
      </p:sp>
      <p:sp>
        <p:nvSpPr>
          <p:cNvPr id="5" name="Rectangle 4">
            <a:extLst>
              <a:ext uri="{FF2B5EF4-FFF2-40B4-BE49-F238E27FC236}">
                <a16:creationId xmlns:a16="http://schemas.microsoft.com/office/drawing/2014/main" id="{9BE89C4D-CB33-430A-96EA-827740B8B41A}"/>
              </a:ext>
            </a:extLst>
          </p:cNvPr>
          <p:cNvSpPr>
            <a:spLocks noGrp="1"/>
          </p:cNvSpPr>
          <p:nvPr/>
        </p:nvSpPr>
        <p:spPr>
          <a:xfrm>
            <a:off x="1352550" y="552450"/>
            <a:ext cx="9906000" cy="409575"/>
          </a:xfrm>
          <a:prstGeom prst="rect">
            <a:avLst/>
          </a:prstGeom>
          <a:noFill/>
          <a:ln w="0">
            <a:noFill/>
            <a:prstDash val="solid"/>
          </a:ln>
        </p:spPr>
        <p:txBody>
          <a:bodyPr/>
          <a:lstStyle/>
          <a:p>
            <a:pPr algn="l">
              <a:defRPr sz="2700" b="1" i="0">
                <a:solidFill>
                  <a:srgbClr val="172554"/>
                </a:solidFill>
              </a:defRPr>
            </a:pPr>
            <a:r>
              <a:rPr sz="2700" b="1" i="0">
                <a:solidFill>
                  <a:srgbClr val="172554"/>
                </a:solidFill>
              </a:rPr>
              <a:t>Problem Statement</a:t>
            </a:r>
          </a:p>
        </p:txBody>
      </p:sp>
      <p:sp>
        <p:nvSpPr>
          <p:cNvPr id="6" name="Straight Connector 5">
            <a:extLst>
              <a:ext uri="{FF2B5EF4-FFF2-40B4-BE49-F238E27FC236}">
                <a16:creationId xmlns:a16="http://schemas.microsoft.com/office/drawing/2014/main" id="{6B61CB04-87F1-4D58-A89A-51FD1DE94542}"/>
              </a:ext>
            </a:extLst>
          </p:cNvPr>
          <p:cNvSpPr>
            <a:spLocks noGrp="1"/>
          </p:cNvSpPr>
          <p:nvPr/>
        </p:nvSpPr>
        <p:spPr>
          <a:xfrm>
            <a:off x="514350" y="6419850"/>
            <a:ext cx="11163300" cy="0"/>
          </a:xfrm>
          <a:prstGeom prst="line">
            <a:avLst/>
          </a:prstGeom>
          <a:noFill/>
          <a:ln w="9525">
            <a:solidFill>
              <a:srgbClr val="D1D5DB"/>
            </a:solidFill>
            <a:prstDash val="solid"/>
          </a:ln>
        </p:spPr>
      </p:sp>
      <p:sp>
        <p:nvSpPr>
          <p:cNvPr id="7" name="Rectangle 6">
            <a:extLst>
              <a:ext uri="{FF2B5EF4-FFF2-40B4-BE49-F238E27FC236}">
                <a16:creationId xmlns:a16="http://schemas.microsoft.com/office/drawing/2014/main" id="{827B4F6F-6D7B-415D-98B0-0CBBA7E3534B}"/>
              </a:ext>
            </a:extLst>
          </p:cNvPr>
          <p:cNvSpPr>
            <a:spLocks noGrp="1"/>
          </p:cNvSpPr>
          <p:nvPr/>
        </p:nvSpPr>
        <p:spPr>
          <a:xfrm>
            <a:off x="571500" y="6515100"/>
            <a:ext cx="6858000" cy="171450"/>
          </a:xfrm>
          <a:prstGeom prst="rect">
            <a:avLst/>
          </a:prstGeom>
          <a:noFill/>
          <a:ln w="0">
            <a:noFill/>
            <a:prstDash val="solid"/>
          </a:ln>
        </p:spPr>
        <p:txBody>
          <a:bodyPr/>
          <a:lstStyle/>
          <a:p>
            <a:pPr algn="l">
              <a:defRPr sz="825" b="1" i="0">
                <a:solidFill>
                  <a:srgbClr val="4B5563"/>
                </a:solidFill>
              </a:defRPr>
            </a:pPr>
            <a:r>
              <a:rPr sz="825" b="1" i="0" dirty="0">
                <a:solidFill>
                  <a:srgbClr val="4B5563"/>
                </a:solidFill>
              </a:rPr>
              <a:t>Smart Public Bus Management System </a:t>
            </a:r>
          </a:p>
        </p:txBody>
      </p:sp>
      <p:sp>
        <p:nvSpPr>
          <p:cNvPr id="8" name="Rectangle 7">
            <a:extLst>
              <a:ext uri="{FF2B5EF4-FFF2-40B4-BE49-F238E27FC236}">
                <a16:creationId xmlns:a16="http://schemas.microsoft.com/office/drawing/2014/main" id="{5C503C71-05DD-493C-BF61-58B625604B9B}"/>
              </a:ext>
            </a:extLst>
          </p:cNvPr>
          <p:cNvSpPr>
            <a:spLocks noGrp="1"/>
          </p:cNvSpPr>
          <p:nvPr/>
        </p:nvSpPr>
        <p:spPr>
          <a:xfrm>
            <a:off x="11049000" y="6505575"/>
            <a:ext cx="571500" cy="171450"/>
          </a:xfrm>
          <a:prstGeom prst="rect">
            <a:avLst/>
          </a:prstGeom>
          <a:noFill/>
          <a:ln w="0">
            <a:noFill/>
            <a:prstDash val="solid"/>
          </a:ln>
        </p:spPr>
        <p:txBody>
          <a:bodyPr/>
          <a:lstStyle/>
          <a:p>
            <a:pPr algn="r">
              <a:defRPr sz="825" b="1" i="0">
                <a:solidFill>
                  <a:srgbClr val="1E3A8A"/>
                </a:solidFill>
              </a:defRPr>
            </a:pPr>
            <a:r>
              <a:rPr sz="825" b="1" i="0">
                <a:solidFill>
                  <a:srgbClr val="1E3A8A"/>
                </a:solidFill>
              </a:rPr>
              <a:t>04</a:t>
            </a:r>
          </a:p>
        </p:txBody>
      </p:sp>
      <p:sp>
        <p:nvSpPr>
          <p:cNvPr id="9" name="Rectangle: Rounded Corners 8">
            <a:extLst>
              <a:ext uri="{FF2B5EF4-FFF2-40B4-BE49-F238E27FC236}">
                <a16:creationId xmlns:a16="http://schemas.microsoft.com/office/drawing/2014/main" id="{FCB78980-21B8-41E1-9717-CEB2F5EB9DD9}"/>
              </a:ext>
            </a:extLst>
          </p:cNvPr>
          <p:cNvSpPr>
            <a:spLocks noGrp="1"/>
          </p:cNvSpPr>
          <p:nvPr/>
        </p:nvSpPr>
        <p:spPr>
          <a:xfrm>
            <a:off x="590550" y="1066800"/>
            <a:ext cx="11010900" cy="495300"/>
          </a:xfrm>
          <a:prstGeom prst="roundRect">
            <a:avLst>
              <a:gd name="adj" fmla="val 23077"/>
            </a:avLst>
          </a:prstGeom>
          <a:solidFill>
            <a:srgbClr val="FFF7ED"/>
          </a:solidFill>
          <a:ln w="0">
            <a:noFill/>
            <a:prstDash val="solid"/>
          </a:ln>
        </p:spPr>
      </p:sp>
      <p:pic>
        <p:nvPicPr>
          <p:cNvPr id="60" name="Graphic 59"/>
          <p:cNvPicPr>
            <a:picLocks noChangeAspect="1"/>
          </p:cNvPicPr>
          <p:nvPr/>
        </p:nvPicPr>
        <p:blipFill>
          <a:blip>
            <a:extLst>
              <a:ext uri="{96DAC541-7B7A-43D3-8B79-37D633B846F1}">
                <asvg:svgBlip xmlns:asvg="http://schemas.microsoft.com/office/drawing/2016/SVG/main" r:embed="rId4"/>
              </a:ext>
            </a:extLst>
          </a:blip>
          <a:stretch/>
        </p:blipFill>
        <p:spPr>
          <a:xfrm>
            <a:off x="781050" y="1190625"/>
            <a:ext cx="247650" cy="247650"/>
          </a:xfrm>
          <a:prstGeom prst="rect">
            <a:avLst/>
          </a:prstGeom>
        </p:spPr>
      </p:pic>
      <p:sp>
        <p:nvSpPr>
          <p:cNvPr id="11" name="Rectangle 10">
            <a:extLst>
              <a:ext uri="{FF2B5EF4-FFF2-40B4-BE49-F238E27FC236}">
                <a16:creationId xmlns:a16="http://schemas.microsoft.com/office/drawing/2014/main" id="{C9FF32B0-F503-4ECA-AB85-4B2811DC3FAB}"/>
              </a:ext>
            </a:extLst>
          </p:cNvPr>
          <p:cNvSpPr>
            <a:spLocks noGrp="1"/>
          </p:cNvSpPr>
          <p:nvPr/>
        </p:nvSpPr>
        <p:spPr>
          <a:xfrm>
            <a:off x="1181100" y="1162050"/>
            <a:ext cx="10134600" cy="285750"/>
          </a:xfrm>
          <a:prstGeom prst="rect">
            <a:avLst/>
          </a:prstGeom>
          <a:noFill/>
          <a:ln w="0">
            <a:noFill/>
            <a:prstDash val="solid"/>
          </a:ln>
        </p:spPr>
        <p:txBody>
          <a:bodyPr/>
          <a:lstStyle/>
          <a:p>
            <a:pPr algn="l">
              <a:defRPr sz="1275" b="1" i="0">
                <a:solidFill>
                  <a:srgbClr val="172554"/>
                </a:solidFill>
              </a:defRPr>
            </a:pPr>
            <a:r>
              <a:rPr sz="1275" b="1" i="0">
                <a:solidFill>
                  <a:srgbClr val="172554"/>
                </a:solidFill>
              </a:rPr>
              <a:t>Passengers rely on fixed timetables, but actual bus movement differs due to traffic, breakdowns, and delays.</a:t>
            </a:r>
          </a:p>
        </p:txBody>
      </p:sp>
      <p:sp>
        <p:nvSpPr>
          <p:cNvPr id="12" name="Rectangle: Rounded Corners 11">
            <a:extLst>
              <a:ext uri="{FF2B5EF4-FFF2-40B4-BE49-F238E27FC236}">
                <a16:creationId xmlns:a16="http://schemas.microsoft.com/office/drawing/2014/main" id="{018F718F-58FA-4D50-B269-56ED8F1D992C}"/>
              </a:ext>
            </a:extLst>
          </p:cNvPr>
          <p:cNvSpPr>
            <a:spLocks noGrp="1"/>
          </p:cNvSpPr>
          <p:nvPr/>
        </p:nvSpPr>
        <p:spPr>
          <a:xfrm>
            <a:off x="590550" y="1724025"/>
            <a:ext cx="5438775" cy="962025"/>
          </a:xfrm>
          <a:prstGeom prst="roundRect">
            <a:avLst>
              <a:gd name="adj" fmla="val 11881"/>
            </a:avLst>
          </a:prstGeom>
          <a:solidFill>
            <a:srgbClr val="FFFFFF"/>
          </a:solidFill>
          <a:ln w="9525">
            <a:solidFill>
              <a:srgbClr val="D1D5DB"/>
            </a:solidFill>
            <a:prstDash val="solid"/>
          </a:ln>
        </p:spPr>
      </p:sp>
      <p:sp>
        <p:nvSpPr>
          <p:cNvPr id="13" name="Rectangle: Rounded Corners 12">
            <a:extLst>
              <a:ext uri="{FF2B5EF4-FFF2-40B4-BE49-F238E27FC236}">
                <a16:creationId xmlns:a16="http://schemas.microsoft.com/office/drawing/2014/main" id="{4D56C23A-E1ED-43F3-BF0C-1A36B9992E5F}"/>
              </a:ext>
            </a:extLst>
          </p:cNvPr>
          <p:cNvSpPr>
            <a:spLocks noGrp="1"/>
          </p:cNvSpPr>
          <p:nvPr/>
        </p:nvSpPr>
        <p:spPr>
          <a:xfrm>
            <a:off x="590550" y="1724025"/>
            <a:ext cx="66675" cy="962025"/>
          </a:xfrm>
          <a:prstGeom prst="roundRect">
            <a:avLst>
              <a:gd name="adj" fmla="val 50000"/>
            </a:avLst>
          </a:prstGeom>
          <a:solidFill>
            <a:srgbClr val="0F766E"/>
          </a:solidFill>
          <a:ln w="0">
            <a:noFill/>
            <a:prstDash val="solid"/>
          </a:ln>
        </p:spPr>
      </p:sp>
      <p:sp>
        <p:nvSpPr>
          <p:cNvPr id="14" name="Oval 13">
            <a:extLst>
              <a:ext uri="{FF2B5EF4-FFF2-40B4-BE49-F238E27FC236}">
                <a16:creationId xmlns:a16="http://schemas.microsoft.com/office/drawing/2014/main" id="{758AC3C0-BFDC-4EC2-9159-911B8D8AF6E8}"/>
              </a:ext>
            </a:extLst>
          </p:cNvPr>
          <p:cNvSpPr>
            <a:spLocks noGrp="1"/>
          </p:cNvSpPr>
          <p:nvPr/>
        </p:nvSpPr>
        <p:spPr>
          <a:xfrm>
            <a:off x="781050" y="1943100"/>
            <a:ext cx="400050" cy="400050"/>
          </a:xfrm>
          <a:prstGeom prst="ellipse">
            <a:avLst/>
          </a:prstGeom>
          <a:solidFill>
            <a:srgbClr val="ECFDF5"/>
          </a:solidFill>
          <a:ln w="0">
            <a:noFill/>
            <a:prstDash val="solid"/>
          </a:ln>
        </p:spPr>
      </p:sp>
      <p:sp>
        <p:nvSpPr>
          <p:cNvPr id="15" name="Rectangle 14">
            <a:extLst>
              <a:ext uri="{FF2B5EF4-FFF2-40B4-BE49-F238E27FC236}">
                <a16:creationId xmlns:a16="http://schemas.microsoft.com/office/drawing/2014/main" id="{961F235F-2CA1-4ADD-90D2-BC4701C0D635}"/>
              </a:ext>
            </a:extLst>
          </p:cNvPr>
          <p:cNvSpPr>
            <a:spLocks noGrp="1"/>
          </p:cNvSpPr>
          <p:nvPr/>
        </p:nvSpPr>
        <p:spPr>
          <a:xfrm>
            <a:off x="781050" y="2000250"/>
            <a:ext cx="400050" cy="171450"/>
          </a:xfrm>
          <a:prstGeom prst="rect">
            <a:avLst/>
          </a:prstGeom>
          <a:noFill/>
          <a:ln w="0">
            <a:noFill/>
            <a:prstDash val="solid"/>
          </a:ln>
        </p:spPr>
        <p:txBody>
          <a:bodyPr/>
          <a:lstStyle/>
          <a:p>
            <a:pPr algn="ctr">
              <a:defRPr sz="1050" b="1" i="0">
                <a:solidFill>
                  <a:srgbClr val="0F766E"/>
                </a:solidFill>
              </a:defRPr>
            </a:pPr>
            <a:r>
              <a:rPr sz="1050" b="1" i="0" dirty="0">
                <a:solidFill>
                  <a:srgbClr val="0F766E"/>
                </a:solidFill>
              </a:rPr>
              <a:t>1</a:t>
            </a:r>
          </a:p>
        </p:txBody>
      </p:sp>
      <p:pic>
        <p:nvPicPr>
          <p:cNvPr id="66" name="Graphic 65"/>
          <p:cNvPicPr>
            <a:picLocks noChangeAspect="1"/>
          </p:cNvPicPr>
          <p:nvPr/>
        </p:nvPicPr>
        <p:blipFill>
          <a:blip>
            <a:extLst>
              <a:ext uri="{96DAC541-7B7A-43D3-8B79-37D633B846F1}">
                <asvg:svgBlip xmlns:asvg="http://schemas.microsoft.com/office/drawing/2016/SVG/main" r:embed="rId5"/>
              </a:ext>
            </a:extLst>
          </a:blip>
          <a:stretch/>
        </p:blipFill>
        <p:spPr>
          <a:xfrm>
            <a:off x="5353050" y="1895475"/>
            <a:ext cx="247650" cy="247650"/>
          </a:xfrm>
          <a:prstGeom prst="rect">
            <a:avLst/>
          </a:prstGeom>
        </p:spPr>
      </p:pic>
      <p:sp>
        <p:nvSpPr>
          <p:cNvPr id="17" name="Rectangle 16">
            <a:extLst>
              <a:ext uri="{FF2B5EF4-FFF2-40B4-BE49-F238E27FC236}">
                <a16:creationId xmlns:a16="http://schemas.microsoft.com/office/drawing/2014/main" id="{01951DDF-32F4-47A2-9447-4DFF08D8AF25}"/>
              </a:ext>
            </a:extLst>
          </p:cNvPr>
          <p:cNvSpPr>
            <a:spLocks noGrp="1"/>
          </p:cNvSpPr>
          <p:nvPr/>
        </p:nvSpPr>
        <p:spPr>
          <a:xfrm>
            <a:off x="1352550" y="1914525"/>
            <a:ext cx="3810000" cy="590550"/>
          </a:xfrm>
          <a:prstGeom prst="rect">
            <a:avLst/>
          </a:prstGeom>
          <a:noFill/>
          <a:ln w="0">
            <a:noFill/>
            <a:prstDash val="solid"/>
          </a:ln>
        </p:spPr>
        <p:txBody>
          <a:bodyPr/>
          <a:lstStyle/>
          <a:p>
            <a:pPr algn="l">
              <a:defRPr sz="1238" b="1" i="0">
                <a:solidFill>
                  <a:srgbClr val="172554"/>
                </a:solidFill>
              </a:defRPr>
            </a:pPr>
            <a:r>
              <a:rPr sz="1238" b="1" i="0">
                <a:solidFill>
                  <a:srgbClr val="172554"/>
                </a:solidFill>
              </a:rPr>
              <a:t>Cannot tell if a bus is running at all or simply running late.</a:t>
            </a:r>
          </a:p>
        </p:txBody>
      </p:sp>
      <p:sp>
        <p:nvSpPr>
          <p:cNvPr id="18" name="Rectangle: Rounded Corners 17">
            <a:extLst>
              <a:ext uri="{FF2B5EF4-FFF2-40B4-BE49-F238E27FC236}">
                <a16:creationId xmlns:a16="http://schemas.microsoft.com/office/drawing/2014/main" id="{50B5404B-AC00-4A44-A65C-DA0BD057D52C}"/>
              </a:ext>
            </a:extLst>
          </p:cNvPr>
          <p:cNvSpPr>
            <a:spLocks noGrp="1"/>
          </p:cNvSpPr>
          <p:nvPr/>
        </p:nvSpPr>
        <p:spPr>
          <a:xfrm>
            <a:off x="6162675" y="1724025"/>
            <a:ext cx="5438775" cy="962025"/>
          </a:xfrm>
          <a:prstGeom prst="roundRect">
            <a:avLst>
              <a:gd name="adj" fmla="val 11881"/>
            </a:avLst>
          </a:prstGeom>
          <a:solidFill>
            <a:srgbClr val="FFFFFF"/>
          </a:solidFill>
          <a:ln w="9525">
            <a:solidFill>
              <a:srgbClr val="D1D5DB"/>
            </a:solidFill>
            <a:prstDash val="solid"/>
          </a:ln>
        </p:spPr>
      </p:sp>
      <p:sp>
        <p:nvSpPr>
          <p:cNvPr id="19" name="Rectangle: Rounded Corners 18">
            <a:extLst>
              <a:ext uri="{FF2B5EF4-FFF2-40B4-BE49-F238E27FC236}">
                <a16:creationId xmlns:a16="http://schemas.microsoft.com/office/drawing/2014/main" id="{4271946F-2FEC-468A-8FDF-56AB399D7B50}"/>
              </a:ext>
            </a:extLst>
          </p:cNvPr>
          <p:cNvSpPr>
            <a:spLocks noGrp="1"/>
          </p:cNvSpPr>
          <p:nvPr/>
        </p:nvSpPr>
        <p:spPr>
          <a:xfrm>
            <a:off x="6162675" y="1724025"/>
            <a:ext cx="66675" cy="962025"/>
          </a:xfrm>
          <a:prstGeom prst="roundRect">
            <a:avLst>
              <a:gd name="adj" fmla="val 50000"/>
            </a:avLst>
          </a:prstGeom>
          <a:solidFill>
            <a:srgbClr val="0F766E"/>
          </a:solidFill>
          <a:ln w="0">
            <a:noFill/>
            <a:prstDash val="solid"/>
          </a:ln>
        </p:spPr>
      </p:sp>
      <p:sp>
        <p:nvSpPr>
          <p:cNvPr id="20" name="Oval 19">
            <a:extLst>
              <a:ext uri="{FF2B5EF4-FFF2-40B4-BE49-F238E27FC236}">
                <a16:creationId xmlns:a16="http://schemas.microsoft.com/office/drawing/2014/main" id="{AA986FB7-AF38-4AEF-83D7-DE1A03CD7E9E}"/>
              </a:ext>
            </a:extLst>
          </p:cNvPr>
          <p:cNvSpPr>
            <a:spLocks noGrp="1"/>
          </p:cNvSpPr>
          <p:nvPr/>
        </p:nvSpPr>
        <p:spPr>
          <a:xfrm>
            <a:off x="6353175" y="1971675"/>
            <a:ext cx="400050" cy="400050"/>
          </a:xfrm>
          <a:prstGeom prst="ellipse">
            <a:avLst/>
          </a:prstGeom>
          <a:solidFill>
            <a:srgbClr val="ECFDF5"/>
          </a:solidFill>
          <a:ln w="0">
            <a:noFill/>
            <a:prstDash val="solid"/>
          </a:ln>
        </p:spPr>
      </p:sp>
      <p:sp>
        <p:nvSpPr>
          <p:cNvPr id="21" name="Rectangle 20">
            <a:extLst>
              <a:ext uri="{FF2B5EF4-FFF2-40B4-BE49-F238E27FC236}">
                <a16:creationId xmlns:a16="http://schemas.microsoft.com/office/drawing/2014/main" id="{4DE3CBF0-65EE-483D-971A-7AB5C00A2390}"/>
              </a:ext>
            </a:extLst>
          </p:cNvPr>
          <p:cNvSpPr>
            <a:spLocks noGrp="1"/>
          </p:cNvSpPr>
          <p:nvPr/>
        </p:nvSpPr>
        <p:spPr>
          <a:xfrm>
            <a:off x="6353175" y="2000250"/>
            <a:ext cx="400050" cy="171450"/>
          </a:xfrm>
          <a:prstGeom prst="rect">
            <a:avLst/>
          </a:prstGeom>
          <a:noFill/>
          <a:ln w="0">
            <a:noFill/>
            <a:prstDash val="solid"/>
          </a:ln>
        </p:spPr>
        <p:txBody>
          <a:bodyPr/>
          <a:lstStyle/>
          <a:p>
            <a:pPr algn="ctr">
              <a:defRPr sz="1050" b="1" i="0">
                <a:solidFill>
                  <a:srgbClr val="0F766E"/>
                </a:solidFill>
              </a:defRPr>
            </a:pPr>
            <a:r>
              <a:rPr sz="1050" b="1" i="0">
                <a:solidFill>
                  <a:srgbClr val="0F766E"/>
                </a:solidFill>
              </a:rPr>
              <a:t>2</a:t>
            </a:r>
          </a:p>
        </p:txBody>
      </p:sp>
      <p:pic>
        <p:nvPicPr>
          <p:cNvPr id="72" name="Graphic 71"/>
          <p:cNvPicPr>
            <a:picLocks noChangeAspect="1"/>
          </p:cNvPicPr>
          <p:nvPr/>
        </p:nvPicPr>
        <p:blipFill>
          <a:blip>
            <a:extLst>
              <a:ext uri="{96DAC541-7B7A-43D3-8B79-37D633B846F1}">
                <asvg:svgBlip xmlns:asvg="http://schemas.microsoft.com/office/drawing/2016/SVG/main" r:embed="rId6"/>
              </a:ext>
            </a:extLst>
          </a:blip>
          <a:stretch/>
        </p:blipFill>
        <p:spPr>
          <a:xfrm>
            <a:off x="10925175" y="1895475"/>
            <a:ext cx="247650" cy="247650"/>
          </a:xfrm>
          <a:prstGeom prst="rect">
            <a:avLst/>
          </a:prstGeom>
        </p:spPr>
      </p:pic>
      <p:sp>
        <p:nvSpPr>
          <p:cNvPr id="23" name="Rectangle 22">
            <a:extLst>
              <a:ext uri="{FF2B5EF4-FFF2-40B4-BE49-F238E27FC236}">
                <a16:creationId xmlns:a16="http://schemas.microsoft.com/office/drawing/2014/main" id="{BEABCF45-3BE5-49CD-A08D-87A7EBD60460}"/>
              </a:ext>
            </a:extLst>
          </p:cNvPr>
          <p:cNvSpPr>
            <a:spLocks noGrp="1"/>
          </p:cNvSpPr>
          <p:nvPr/>
        </p:nvSpPr>
        <p:spPr>
          <a:xfrm>
            <a:off x="6924675" y="1914525"/>
            <a:ext cx="3810000" cy="590550"/>
          </a:xfrm>
          <a:prstGeom prst="rect">
            <a:avLst/>
          </a:prstGeom>
          <a:noFill/>
          <a:ln w="0">
            <a:noFill/>
            <a:prstDash val="solid"/>
          </a:ln>
        </p:spPr>
        <p:txBody>
          <a:bodyPr/>
          <a:lstStyle/>
          <a:p>
            <a:pPr algn="l">
              <a:defRPr sz="1238" b="1" i="0">
                <a:solidFill>
                  <a:srgbClr val="172554"/>
                </a:solidFill>
              </a:defRPr>
            </a:pPr>
            <a:r>
              <a:rPr sz="1238" b="1" i="0">
                <a:solidFill>
                  <a:srgbClr val="172554"/>
                </a:solidFill>
              </a:rPr>
              <a:t>No way to know the bus's current location while waiting at a stop.</a:t>
            </a:r>
          </a:p>
        </p:txBody>
      </p:sp>
      <p:sp>
        <p:nvSpPr>
          <p:cNvPr id="24" name="Rectangle: Rounded Corners 23">
            <a:extLst>
              <a:ext uri="{FF2B5EF4-FFF2-40B4-BE49-F238E27FC236}">
                <a16:creationId xmlns:a16="http://schemas.microsoft.com/office/drawing/2014/main" id="{D4249307-2A27-4EE1-A464-77FF2FB10078}"/>
              </a:ext>
            </a:extLst>
          </p:cNvPr>
          <p:cNvSpPr>
            <a:spLocks noGrp="1"/>
          </p:cNvSpPr>
          <p:nvPr/>
        </p:nvSpPr>
        <p:spPr>
          <a:xfrm>
            <a:off x="590550" y="2857500"/>
            <a:ext cx="5438775" cy="962025"/>
          </a:xfrm>
          <a:prstGeom prst="roundRect">
            <a:avLst>
              <a:gd name="adj" fmla="val 11881"/>
            </a:avLst>
          </a:prstGeom>
          <a:solidFill>
            <a:srgbClr val="FFFFFF"/>
          </a:solidFill>
          <a:ln w="9525">
            <a:solidFill>
              <a:srgbClr val="D1D5DB"/>
            </a:solidFill>
            <a:prstDash val="solid"/>
          </a:ln>
        </p:spPr>
      </p:sp>
      <p:sp>
        <p:nvSpPr>
          <p:cNvPr id="25" name="Rectangle: Rounded Corners 24">
            <a:extLst>
              <a:ext uri="{FF2B5EF4-FFF2-40B4-BE49-F238E27FC236}">
                <a16:creationId xmlns:a16="http://schemas.microsoft.com/office/drawing/2014/main" id="{4660C59F-3439-4613-8452-01F840131259}"/>
              </a:ext>
            </a:extLst>
          </p:cNvPr>
          <p:cNvSpPr>
            <a:spLocks noGrp="1"/>
          </p:cNvSpPr>
          <p:nvPr/>
        </p:nvSpPr>
        <p:spPr>
          <a:xfrm>
            <a:off x="590550" y="2857500"/>
            <a:ext cx="66675" cy="962025"/>
          </a:xfrm>
          <a:prstGeom prst="roundRect">
            <a:avLst>
              <a:gd name="adj" fmla="val 50000"/>
            </a:avLst>
          </a:prstGeom>
          <a:solidFill>
            <a:srgbClr val="0F766E"/>
          </a:solidFill>
          <a:ln w="0">
            <a:solidFill>
              <a:srgbClr val="0F766E"/>
            </a:solidFill>
            <a:prstDash val="solid"/>
          </a:ln>
        </p:spPr>
      </p:sp>
      <p:sp>
        <p:nvSpPr>
          <p:cNvPr id="26" name="Oval 25">
            <a:extLst>
              <a:ext uri="{FF2B5EF4-FFF2-40B4-BE49-F238E27FC236}">
                <a16:creationId xmlns:a16="http://schemas.microsoft.com/office/drawing/2014/main" id="{08184886-3A8F-459B-BF78-7D983448725E}"/>
              </a:ext>
            </a:extLst>
          </p:cNvPr>
          <p:cNvSpPr>
            <a:spLocks noGrp="1"/>
          </p:cNvSpPr>
          <p:nvPr/>
        </p:nvSpPr>
        <p:spPr>
          <a:xfrm>
            <a:off x="771525" y="3076575"/>
            <a:ext cx="400050" cy="400050"/>
          </a:xfrm>
          <a:prstGeom prst="ellipse">
            <a:avLst/>
          </a:prstGeom>
          <a:solidFill>
            <a:srgbClr val="ECFDF5"/>
          </a:solidFill>
          <a:ln w="0">
            <a:noFill/>
            <a:prstDash val="solid"/>
          </a:ln>
        </p:spPr>
      </p:sp>
      <p:sp>
        <p:nvSpPr>
          <p:cNvPr id="27" name="Rectangle 26">
            <a:extLst>
              <a:ext uri="{FF2B5EF4-FFF2-40B4-BE49-F238E27FC236}">
                <a16:creationId xmlns:a16="http://schemas.microsoft.com/office/drawing/2014/main" id="{0233703B-4727-4E37-B870-BFD5AD8529EB}"/>
              </a:ext>
            </a:extLst>
          </p:cNvPr>
          <p:cNvSpPr>
            <a:spLocks noGrp="1"/>
          </p:cNvSpPr>
          <p:nvPr/>
        </p:nvSpPr>
        <p:spPr>
          <a:xfrm>
            <a:off x="781050" y="3133725"/>
            <a:ext cx="400050" cy="171450"/>
          </a:xfrm>
          <a:prstGeom prst="rect">
            <a:avLst/>
          </a:prstGeom>
          <a:noFill/>
          <a:ln w="0">
            <a:noFill/>
            <a:prstDash val="solid"/>
          </a:ln>
        </p:spPr>
        <p:txBody>
          <a:bodyPr/>
          <a:lstStyle/>
          <a:p>
            <a:pPr algn="ctr">
              <a:defRPr sz="1050" b="1" i="0">
                <a:solidFill>
                  <a:srgbClr val="EA580C"/>
                </a:solidFill>
              </a:defRPr>
            </a:pPr>
            <a:r>
              <a:rPr sz="1050" b="1" i="0" dirty="0">
                <a:solidFill>
                  <a:srgbClr val="0F766E"/>
                </a:solidFill>
              </a:rPr>
              <a:t>3</a:t>
            </a:r>
          </a:p>
        </p:txBody>
      </p:sp>
      <p:pic>
        <p:nvPicPr>
          <p:cNvPr id="78" name="Graphic 77"/>
          <p:cNvPicPr>
            <a:picLocks noChangeAspect="1"/>
          </p:cNvPicPr>
          <p:nvPr/>
        </p:nvPicPr>
        <p:blipFill>
          <a:blip>
            <a:extLst>
              <a:ext uri="{96DAC541-7B7A-43D3-8B79-37D633B846F1}">
                <asvg:svgBlip xmlns:asvg="http://schemas.microsoft.com/office/drawing/2016/SVG/main" r:embed="rId7"/>
              </a:ext>
            </a:extLst>
          </a:blip>
          <a:stretch/>
        </p:blipFill>
        <p:spPr>
          <a:xfrm>
            <a:off x="5353050" y="3028950"/>
            <a:ext cx="247650" cy="247650"/>
          </a:xfrm>
          <a:prstGeom prst="rect">
            <a:avLst/>
          </a:prstGeom>
        </p:spPr>
      </p:pic>
      <p:sp>
        <p:nvSpPr>
          <p:cNvPr id="29" name="Rectangle 28">
            <a:extLst>
              <a:ext uri="{FF2B5EF4-FFF2-40B4-BE49-F238E27FC236}">
                <a16:creationId xmlns:a16="http://schemas.microsoft.com/office/drawing/2014/main" id="{FDC980CE-F734-4FD8-986B-D6F09EFF4C0B}"/>
              </a:ext>
            </a:extLst>
          </p:cNvPr>
          <p:cNvSpPr>
            <a:spLocks noGrp="1"/>
          </p:cNvSpPr>
          <p:nvPr/>
        </p:nvSpPr>
        <p:spPr>
          <a:xfrm>
            <a:off x="1352550" y="3048000"/>
            <a:ext cx="3810000" cy="590550"/>
          </a:xfrm>
          <a:prstGeom prst="rect">
            <a:avLst/>
          </a:prstGeom>
          <a:noFill/>
          <a:ln w="0">
            <a:noFill/>
            <a:prstDash val="solid"/>
          </a:ln>
        </p:spPr>
        <p:txBody>
          <a:bodyPr/>
          <a:lstStyle/>
          <a:p>
            <a:pPr algn="l">
              <a:defRPr sz="1238" b="1" i="0">
                <a:solidFill>
                  <a:srgbClr val="172554"/>
                </a:solidFill>
              </a:defRPr>
            </a:pPr>
            <a:r>
              <a:rPr sz="1238" b="1" i="0">
                <a:solidFill>
                  <a:srgbClr val="172554"/>
                </a:solidFill>
              </a:rPr>
              <a:t>Delay is discovered only by continuing to wait, with no advance warning.</a:t>
            </a:r>
          </a:p>
        </p:txBody>
      </p:sp>
      <p:sp>
        <p:nvSpPr>
          <p:cNvPr id="30" name="Rectangle: Rounded Corners 29">
            <a:extLst>
              <a:ext uri="{FF2B5EF4-FFF2-40B4-BE49-F238E27FC236}">
                <a16:creationId xmlns:a16="http://schemas.microsoft.com/office/drawing/2014/main" id="{638B8D0B-D42D-4B12-97AF-5B3DBD5A74B6}"/>
              </a:ext>
            </a:extLst>
          </p:cNvPr>
          <p:cNvSpPr>
            <a:spLocks noGrp="1"/>
          </p:cNvSpPr>
          <p:nvPr/>
        </p:nvSpPr>
        <p:spPr>
          <a:xfrm>
            <a:off x="6162675" y="2857500"/>
            <a:ext cx="5438775" cy="962025"/>
          </a:xfrm>
          <a:prstGeom prst="roundRect">
            <a:avLst>
              <a:gd name="adj" fmla="val 11881"/>
            </a:avLst>
          </a:prstGeom>
          <a:solidFill>
            <a:srgbClr val="FFFFFF"/>
          </a:solidFill>
          <a:ln w="9525">
            <a:solidFill>
              <a:srgbClr val="D1D5DB"/>
            </a:solidFill>
            <a:prstDash val="solid"/>
          </a:ln>
        </p:spPr>
      </p:sp>
      <p:sp>
        <p:nvSpPr>
          <p:cNvPr id="31" name="Rectangle: Rounded Corners 30">
            <a:extLst>
              <a:ext uri="{FF2B5EF4-FFF2-40B4-BE49-F238E27FC236}">
                <a16:creationId xmlns:a16="http://schemas.microsoft.com/office/drawing/2014/main" id="{7FD2D52B-FDA8-482C-B6F9-A7DDBE073E35}"/>
              </a:ext>
            </a:extLst>
          </p:cNvPr>
          <p:cNvSpPr>
            <a:spLocks noGrp="1"/>
          </p:cNvSpPr>
          <p:nvPr/>
        </p:nvSpPr>
        <p:spPr>
          <a:xfrm>
            <a:off x="6162675" y="2857500"/>
            <a:ext cx="66675" cy="962025"/>
          </a:xfrm>
          <a:prstGeom prst="roundRect">
            <a:avLst>
              <a:gd name="adj" fmla="val 50000"/>
            </a:avLst>
          </a:prstGeom>
          <a:solidFill>
            <a:srgbClr val="0F766E"/>
          </a:solidFill>
          <a:ln w="0">
            <a:noFill/>
            <a:prstDash val="solid"/>
          </a:ln>
        </p:spPr>
      </p:sp>
      <p:sp>
        <p:nvSpPr>
          <p:cNvPr id="32" name="Oval 31">
            <a:extLst>
              <a:ext uri="{FF2B5EF4-FFF2-40B4-BE49-F238E27FC236}">
                <a16:creationId xmlns:a16="http://schemas.microsoft.com/office/drawing/2014/main" id="{6A163661-9C8C-40AE-A35E-0CA8F9EEDF03}"/>
              </a:ext>
            </a:extLst>
          </p:cNvPr>
          <p:cNvSpPr>
            <a:spLocks noGrp="1"/>
          </p:cNvSpPr>
          <p:nvPr/>
        </p:nvSpPr>
        <p:spPr>
          <a:xfrm>
            <a:off x="6367462" y="3057525"/>
            <a:ext cx="371475" cy="400050"/>
          </a:xfrm>
          <a:prstGeom prst="ellipse">
            <a:avLst/>
          </a:prstGeom>
          <a:solidFill>
            <a:srgbClr val="ECFDF5"/>
          </a:solidFill>
          <a:ln w="0">
            <a:noFill/>
            <a:prstDash val="solid"/>
          </a:ln>
        </p:spPr>
      </p:sp>
      <p:sp>
        <p:nvSpPr>
          <p:cNvPr id="33" name="Rectangle 32">
            <a:extLst>
              <a:ext uri="{FF2B5EF4-FFF2-40B4-BE49-F238E27FC236}">
                <a16:creationId xmlns:a16="http://schemas.microsoft.com/office/drawing/2014/main" id="{E64B8003-6349-46AF-A51A-BDC27A53B3F0}"/>
              </a:ext>
            </a:extLst>
          </p:cNvPr>
          <p:cNvSpPr>
            <a:spLocks noGrp="1"/>
          </p:cNvSpPr>
          <p:nvPr/>
        </p:nvSpPr>
        <p:spPr>
          <a:xfrm>
            <a:off x="6353175" y="3133725"/>
            <a:ext cx="400050" cy="171450"/>
          </a:xfrm>
          <a:prstGeom prst="rect">
            <a:avLst/>
          </a:prstGeom>
          <a:noFill/>
          <a:ln w="0">
            <a:noFill/>
            <a:prstDash val="solid"/>
          </a:ln>
        </p:spPr>
        <p:txBody>
          <a:bodyPr/>
          <a:lstStyle/>
          <a:p>
            <a:pPr algn="ctr">
              <a:defRPr sz="1050" b="1" i="0">
                <a:solidFill>
                  <a:srgbClr val="EA580C"/>
                </a:solidFill>
              </a:defRPr>
            </a:pPr>
            <a:r>
              <a:rPr sz="1050" b="1" i="0" dirty="0">
                <a:solidFill>
                  <a:srgbClr val="0F766E"/>
                </a:solidFill>
              </a:rPr>
              <a:t>4</a:t>
            </a:r>
          </a:p>
        </p:txBody>
      </p:sp>
      <p:pic>
        <p:nvPicPr>
          <p:cNvPr id="84" name="Graphic 83"/>
          <p:cNvPicPr>
            <a:picLocks noChangeAspect="1"/>
          </p:cNvPicPr>
          <p:nvPr/>
        </p:nvPicPr>
        <p:blipFill>
          <a:blip>
            <a:extLst>
              <a:ext uri="{96DAC541-7B7A-43D3-8B79-37D633B846F1}">
                <asvg:svgBlip xmlns:asvg="http://schemas.microsoft.com/office/drawing/2016/SVG/main" r:embed="rId8"/>
              </a:ext>
            </a:extLst>
          </a:blip>
          <a:stretch/>
        </p:blipFill>
        <p:spPr>
          <a:xfrm>
            <a:off x="10925175" y="3028950"/>
            <a:ext cx="247650" cy="247650"/>
          </a:xfrm>
          <a:prstGeom prst="rect">
            <a:avLst/>
          </a:prstGeom>
        </p:spPr>
      </p:pic>
      <p:sp>
        <p:nvSpPr>
          <p:cNvPr id="35" name="Rectangle 34">
            <a:extLst>
              <a:ext uri="{FF2B5EF4-FFF2-40B4-BE49-F238E27FC236}">
                <a16:creationId xmlns:a16="http://schemas.microsoft.com/office/drawing/2014/main" id="{F790B48E-8F0B-4843-BB0C-1E79A12DA9F9}"/>
              </a:ext>
            </a:extLst>
          </p:cNvPr>
          <p:cNvSpPr>
            <a:spLocks noGrp="1"/>
          </p:cNvSpPr>
          <p:nvPr/>
        </p:nvSpPr>
        <p:spPr>
          <a:xfrm>
            <a:off x="6924675" y="3048000"/>
            <a:ext cx="3810000" cy="590550"/>
          </a:xfrm>
          <a:prstGeom prst="rect">
            <a:avLst/>
          </a:prstGeom>
          <a:noFill/>
          <a:ln w="0">
            <a:noFill/>
            <a:prstDash val="solid"/>
          </a:ln>
        </p:spPr>
        <p:txBody>
          <a:bodyPr/>
          <a:lstStyle/>
          <a:p>
            <a:pPr algn="l">
              <a:defRPr sz="1238" b="1" i="0">
                <a:solidFill>
                  <a:srgbClr val="172554"/>
                </a:solidFill>
              </a:defRPr>
            </a:pPr>
            <a:r>
              <a:rPr sz="1238" b="1" i="0">
                <a:solidFill>
                  <a:srgbClr val="172554"/>
                </a:solidFill>
              </a:rPr>
              <a:t>A breakdown is known only to the driver, so waiting passengers stay uninformed.</a:t>
            </a:r>
          </a:p>
        </p:txBody>
      </p:sp>
      <p:sp>
        <p:nvSpPr>
          <p:cNvPr id="36" name="Rectangle: Rounded Corners 35">
            <a:extLst>
              <a:ext uri="{FF2B5EF4-FFF2-40B4-BE49-F238E27FC236}">
                <a16:creationId xmlns:a16="http://schemas.microsoft.com/office/drawing/2014/main" id="{7A14A548-3237-40F1-983C-56C0D603B387}"/>
              </a:ext>
            </a:extLst>
          </p:cNvPr>
          <p:cNvSpPr>
            <a:spLocks noGrp="1"/>
          </p:cNvSpPr>
          <p:nvPr/>
        </p:nvSpPr>
        <p:spPr>
          <a:xfrm>
            <a:off x="590550" y="3990975"/>
            <a:ext cx="5438775" cy="962025"/>
          </a:xfrm>
          <a:prstGeom prst="roundRect">
            <a:avLst>
              <a:gd name="adj" fmla="val 11881"/>
            </a:avLst>
          </a:prstGeom>
          <a:solidFill>
            <a:srgbClr val="FFFFFF"/>
          </a:solidFill>
          <a:ln w="9525">
            <a:solidFill>
              <a:srgbClr val="D1D5DB"/>
            </a:solidFill>
            <a:prstDash val="solid"/>
          </a:ln>
        </p:spPr>
      </p:sp>
      <p:sp>
        <p:nvSpPr>
          <p:cNvPr id="37" name="Rectangle: Rounded Corners 36">
            <a:extLst>
              <a:ext uri="{FF2B5EF4-FFF2-40B4-BE49-F238E27FC236}">
                <a16:creationId xmlns:a16="http://schemas.microsoft.com/office/drawing/2014/main" id="{9635A9BF-7D26-41BA-B714-399F3AF79D65}"/>
              </a:ext>
            </a:extLst>
          </p:cNvPr>
          <p:cNvSpPr>
            <a:spLocks noGrp="1"/>
          </p:cNvSpPr>
          <p:nvPr/>
        </p:nvSpPr>
        <p:spPr>
          <a:xfrm>
            <a:off x="590550" y="3990975"/>
            <a:ext cx="66675" cy="962025"/>
          </a:xfrm>
          <a:prstGeom prst="roundRect">
            <a:avLst>
              <a:gd name="adj" fmla="val 50000"/>
            </a:avLst>
          </a:prstGeom>
          <a:solidFill>
            <a:srgbClr val="0F766E"/>
          </a:solidFill>
          <a:ln w="0">
            <a:noFill/>
            <a:prstDash val="solid"/>
          </a:ln>
        </p:spPr>
      </p:sp>
      <p:sp>
        <p:nvSpPr>
          <p:cNvPr id="38" name="Oval 37">
            <a:extLst>
              <a:ext uri="{FF2B5EF4-FFF2-40B4-BE49-F238E27FC236}">
                <a16:creationId xmlns:a16="http://schemas.microsoft.com/office/drawing/2014/main" id="{A1049E4A-5F76-4F2A-AC30-63B4714AF64F}"/>
              </a:ext>
            </a:extLst>
          </p:cNvPr>
          <p:cNvSpPr>
            <a:spLocks noGrp="1"/>
          </p:cNvSpPr>
          <p:nvPr/>
        </p:nvSpPr>
        <p:spPr>
          <a:xfrm>
            <a:off x="781050" y="4217733"/>
            <a:ext cx="400050" cy="400050"/>
          </a:xfrm>
          <a:prstGeom prst="ellipse">
            <a:avLst/>
          </a:prstGeom>
          <a:solidFill>
            <a:srgbClr val="ECFDF5"/>
          </a:solidFill>
          <a:ln w="0">
            <a:noFill/>
            <a:prstDash val="solid"/>
          </a:ln>
        </p:spPr>
        <p:txBody>
          <a:bodyPr/>
          <a:lstStyle/>
          <a:p>
            <a:endParaRPr lang="en-IN" dirty="0"/>
          </a:p>
        </p:txBody>
      </p:sp>
      <p:sp>
        <p:nvSpPr>
          <p:cNvPr id="39" name="Rectangle 38">
            <a:extLst>
              <a:ext uri="{FF2B5EF4-FFF2-40B4-BE49-F238E27FC236}">
                <a16:creationId xmlns:a16="http://schemas.microsoft.com/office/drawing/2014/main" id="{88587CD4-3102-409B-896D-D87ECD5B1F95}"/>
              </a:ext>
            </a:extLst>
          </p:cNvPr>
          <p:cNvSpPr>
            <a:spLocks noGrp="1"/>
          </p:cNvSpPr>
          <p:nvPr/>
        </p:nvSpPr>
        <p:spPr>
          <a:xfrm>
            <a:off x="781050" y="4267200"/>
            <a:ext cx="400050" cy="171450"/>
          </a:xfrm>
          <a:prstGeom prst="rect">
            <a:avLst/>
          </a:prstGeom>
          <a:noFill/>
          <a:ln w="0">
            <a:noFill/>
            <a:prstDash val="solid"/>
          </a:ln>
        </p:spPr>
        <p:txBody>
          <a:bodyPr/>
          <a:lstStyle/>
          <a:p>
            <a:pPr algn="ctr">
              <a:defRPr sz="1050" b="1" i="0">
                <a:solidFill>
                  <a:srgbClr val="0F766E"/>
                </a:solidFill>
              </a:defRPr>
            </a:pPr>
            <a:r>
              <a:rPr sz="1050" b="1" i="0">
                <a:solidFill>
                  <a:srgbClr val="0F766E"/>
                </a:solidFill>
              </a:rPr>
              <a:t>5</a:t>
            </a:r>
          </a:p>
        </p:txBody>
      </p:sp>
      <p:pic>
        <p:nvPicPr>
          <p:cNvPr id="90" name="Graphic 89"/>
          <p:cNvPicPr>
            <a:picLocks noChangeAspect="1"/>
          </p:cNvPicPr>
          <p:nvPr/>
        </p:nvPicPr>
        <p:blipFill>
          <a:blip>
            <a:extLst>
              <a:ext uri="{96DAC541-7B7A-43D3-8B79-37D633B846F1}">
                <asvg:svgBlip xmlns:asvg="http://schemas.microsoft.com/office/drawing/2016/SVG/main" r:embed="rId9"/>
              </a:ext>
            </a:extLst>
          </a:blip>
          <a:stretch/>
        </p:blipFill>
        <p:spPr>
          <a:xfrm>
            <a:off x="5353050" y="4162425"/>
            <a:ext cx="247650" cy="247650"/>
          </a:xfrm>
          <a:prstGeom prst="rect">
            <a:avLst/>
          </a:prstGeom>
        </p:spPr>
      </p:pic>
      <p:sp>
        <p:nvSpPr>
          <p:cNvPr id="41" name="Rectangle 40">
            <a:extLst>
              <a:ext uri="{FF2B5EF4-FFF2-40B4-BE49-F238E27FC236}">
                <a16:creationId xmlns:a16="http://schemas.microsoft.com/office/drawing/2014/main" id="{5B9FC9AA-0037-42AD-81C4-DF4E748CB52F}"/>
              </a:ext>
            </a:extLst>
          </p:cNvPr>
          <p:cNvSpPr>
            <a:spLocks noGrp="1"/>
          </p:cNvSpPr>
          <p:nvPr/>
        </p:nvSpPr>
        <p:spPr>
          <a:xfrm>
            <a:off x="1352550" y="4181475"/>
            <a:ext cx="3810000" cy="590550"/>
          </a:xfrm>
          <a:prstGeom prst="rect">
            <a:avLst/>
          </a:prstGeom>
          <a:noFill/>
          <a:ln w="0">
            <a:noFill/>
            <a:prstDash val="solid"/>
          </a:ln>
        </p:spPr>
        <p:txBody>
          <a:bodyPr/>
          <a:lstStyle/>
          <a:p>
            <a:pPr algn="l">
              <a:defRPr sz="1238" b="1" i="0">
                <a:solidFill>
                  <a:srgbClr val="172554"/>
                </a:solidFill>
              </a:defRPr>
            </a:pPr>
            <a:r>
              <a:rPr sz="1238" b="1" i="0">
                <a:solidFill>
                  <a:srgbClr val="172554"/>
                </a:solidFill>
              </a:rPr>
              <a:t>Diverted, terminated, or cancelled trips are not communicated.</a:t>
            </a:r>
          </a:p>
        </p:txBody>
      </p:sp>
      <p:sp>
        <p:nvSpPr>
          <p:cNvPr id="42" name="Rectangle: Rounded Corners 41">
            <a:extLst>
              <a:ext uri="{FF2B5EF4-FFF2-40B4-BE49-F238E27FC236}">
                <a16:creationId xmlns:a16="http://schemas.microsoft.com/office/drawing/2014/main" id="{3BDD5CAE-B0DB-4F55-801F-F52888CE57BF}"/>
              </a:ext>
            </a:extLst>
          </p:cNvPr>
          <p:cNvSpPr>
            <a:spLocks noGrp="1"/>
          </p:cNvSpPr>
          <p:nvPr/>
        </p:nvSpPr>
        <p:spPr>
          <a:xfrm>
            <a:off x="6162675" y="3990975"/>
            <a:ext cx="5438775" cy="962025"/>
          </a:xfrm>
          <a:prstGeom prst="roundRect">
            <a:avLst>
              <a:gd name="adj" fmla="val 11881"/>
            </a:avLst>
          </a:prstGeom>
          <a:solidFill>
            <a:srgbClr val="FFFFFF"/>
          </a:solidFill>
          <a:ln w="9525">
            <a:solidFill>
              <a:srgbClr val="D1D5DB"/>
            </a:solidFill>
            <a:prstDash val="solid"/>
          </a:ln>
        </p:spPr>
      </p:sp>
      <p:sp>
        <p:nvSpPr>
          <p:cNvPr id="43" name="Rectangle: Rounded Corners 42">
            <a:extLst>
              <a:ext uri="{FF2B5EF4-FFF2-40B4-BE49-F238E27FC236}">
                <a16:creationId xmlns:a16="http://schemas.microsoft.com/office/drawing/2014/main" id="{9E4D24B7-ED44-4586-90DD-BF72045C7E16}"/>
              </a:ext>
            </a:extLst>
          </p:cNvPr>
          <p:cNvSpPr>
            <a:spLocks noGrp="1"/>
          </p:cNvSpPr>
          <p:nvPr/>
        </p:nvSpPr>
        <p:spPr>
          <a:xfrm>
            <a:off x="6162675" y="3990975"/>
            <a:ext cx="66675" cy="962025"/>
          </a:xfrm>
          <a:prstGeom prst="roundRect">
            <a:avLst>
              <a:gd name="adj" fmla="val 50000"/>
            </a:avLst>
          </a:prstGeom>
          <a:solidFill>
            <a:srgbClr val="0F766E"/>
          </a:solidFill>
          <a:ln w="0">
            <a:noFill/>
            <a:prstDash val="solid"/>
          </a:ln>
        </p:spPr>
      </p:sp>
      <p:sp>
        <p:nvSpPr>
          <p:cNvPr id="44" name="Oval 43">
            <a:extLst>
              <a:ext uri="{FF2B5EF4-FFF2-40B4-BE49-F238E27FC236}">
                <a16:creationId xmlns:a16="http://schemas.microsoft.com/office/drawing/2014/main" id="{9B7ACDE7-FB47-4884-86EC-023AF3588B7B}"/>
              </a:ext>
            </a:extLst>
          </p:cNvPr>
          <p:cNvSpPr>
            <a:spLocks noGrp="1"/>
          </p:cNvSpPr>
          <p:nvPr/>
        </p:nvSpPr>
        <p:spPr>
          <a:xfrm>
            <a:off x="6340982" y="4238625"/>
            <a:ext cx="400050" cy="400050"/>
          </a:xfrm>
          <a:prstGeom prst="ellipse">
            <a:avLst/>
          </a:prstGeom>
          <a:solidFill>
            <a:srgbClr val="ECFDF5"/>
          </a:solidFill>
          <a:ln w="0">
            <a:noFill/>
            <a:prstDash val="solid"/>
          </a:ln>
        </p:spPr>
      </p:sp>
      <p:sp>
        <p:nvSpPr>
          <p:cNvPr id="45" name="Rectangle 44">
            <a:extLst>
              <a:ext uri="{FF2B5EF4-FFF2-40B4-BE49-F238E27FC236}">
                <a16:creationId xmlns:a16="http://schemas.microsoft.com/office/drawing/2014/main" id="{51CFC3CC-3B49-48AF-9CB3-DC9A74D44306}"/>
              </a:ext>
            </a:extLst>
          </p:cNvPr>
          <p:cNvSpPr>
            <a:spLocks noGrp="1"/>
          </p:cNvSpPr>
          <p:nvPr/>
        </p:nvSpPr>
        <p:spPr>
          <a:xfrm>
            <a:off x="6353175" y="4267200"/>
            <a:ext cx="400050" cy="171450"/>
          </a:xfrm>
          <a:prstGeom prst="rect">
            <a:avLst/>
          </a:prstGeom>
          <a:noFill/>
          <a:ln w="0">
            <a:noFill/>
            <a:prstDash val="solid"/>
          </a:ln>
        </p:spPr>
        <p:txBody>
          <a:bodyPr/>
          <a:lstStyle/>
          <a:p>
            <a:pPr algn="ctr">
              <a:defRPr sz="1050" b="1" i="0">
                <a:solidFill>
                  <a:srgbClr val="0F766E"/>
                </a:solidFill>
              </a:defRPr>
            </a:pPr>
            <a:r>
              <a:rPr sz="1050" b="1" i="0" dirty="0">
                <a:solidFill>
                  <a:srgbClr val="0F766E"/>
                </a:solidFill>
              </a:rPr>
              <a:t>6</a:t>
            </a:r>
          </a:p>
        </p:txBody>
      </p:sp>
      <p:pic>
        <p:nvPicPr>
          <p:cNvPr id="96" name="Graphic 95"/>
          <p:cNvPicPr>
            <a:picLocks noChangeAspect="1"/>
          </p:cNvPicPr>
          <p:nvPr/>
        </p:nvPicPr>
        <p:blipFill>
          <a:blip>
            <a:extLst>
              <a:ext uri="{96DAC541-7B7A-43D3-8B79-37D633B846F1}">
                <asvg:svgBlip xmlns:asvg="http://schemas.microsoft.com/office/drawing/2016/SVG/main" r:embed="rId10"/>
              </a:ext>
            </a:extLst>
          </a:blip>
          <a:stretch/>
        </p:blipFill>
        <p:spPr>
          <a:xfrm>
            <a:off x="10925175" y="4162425"/>
            <a:ext cx="247650" cy="247650"/>
          </a:xfrm>
          <a:prstGeom prst="rect">
            <a:avLst/>
          </a:prstGeom>
        </p:spPr>
      </p:pic>
      <p:sp>
        <p:nvSpPr>
          <p:cNvPr id="47" name="Rectangle 46">
            <a:extLst>
              <a:ext uri="{FF2B5EF4-FFF2-40B4-BE49-F238E27FC236}">
                <a16:creationId xmlns:a16="http://schemas.microsoft.com/office/drawing/2014/main" id="{2B8A86FB-633E-4E34-B899-467416838713}"/>
              </a:ext>
            </a:extLst>
          </p:cNvPr>
          <p:cNvSpPr>
            <a:spLocks noGrp="1"/>
          </p:cNvSpPr>
          <p:nvPr/>
        </p:nvSpPr>
        <p:spPr>
          <a:xfrm>
            <a:off x="6924675" y="4181475"/>
            <a:ext cx="3810000" cy="590550"/>
          </a:xfrm>
          <a:prstGeom prst="rect">
            <a:avLst/>
          </a:prstGeom>
          <a:noFill/>
          <a:ln w="0">
            <a:noFill/>
            <a:prstDash val="solid"/>
          </a:ln>
        </p:spPr>
        <p:txBody>
          <a:bodyPr/>
          <a:lstStyle/>
          <a:p>
            <a:pPr algn="l">
              <a:defRPr sz="1238" b="1" i="0">
                <a:solidFill>
                  <a:srgbClr val="172554"/>
                </a:solidFill>
              </a:defRPr>
            </a:pPr>
            <a:r>
              <a:rPr sz="1238" b="1" i="0">
                <a:solidFill>
                  <a:srgbClr val="172554"/>
                </a:solidFill>
              </a:rPr>
              <a:t>No combined view shows whether a second bus on the same route is closer.</a:t>
            </a:r>
          </a:p>
        </p:txBody>
      </p:sp>
      <p:sp>
        <p:nvSpPr>
          <p:cNvPr id="48" name="Rectangle: Rounded Corners 47">
            <a:extLst>
              <a:ext uri="{FF2B5EF4-FFF2-40B4-BE49-F238E27FC236}">
                <a16:creationId xmlns:a16="http://schemas.microsoft.com/office/drawing/2014/main" id="{0430A28D-61D9-4D9A-8E6E-38B4745BCC7D}"/>
              </a:ext>
            </a:extLst>
          </p:cNvPr>
          <p:cNvSpPr>
            <a:spLocks noGrp="1"/>
          </p:cNvSpPr>
          <p:nvPr/>
        </p:nvSpPr>
        <p:spPr>
          <a:xfrm>
            <a:off x="590550" y="5219700"/>
            <a:ext cx="11010900" cy="904875"/>
          </a:xfrm>
          <a:prstGeom prst="roundRect">
            <a:avLst>
              <a:gd name="adj" fmla="val 15789"/>
            </a:avLst>
          </a:prstGeom>
          <a:solidFill>
            <a:srgbClr val="1E3A8A"/>
          </a:solidFill>
          <a:ln w="0">
            <a:noFill/>
            <a:prstDash val="solid"/>
          </a:ln>
        </p:spPr>
      </p:sp>
      <p:pic>
        <p:nvPicPr>
          <p:cNvPr id="99" name="Graphic 98"/>
          <p:cNvPicPr>
            <a:picLocks noChangeAspect="1"/>
          </p:cNvPicPr>
          <p:nvPr/>
        </p:nvPicPr>
        <p:blipFill>
          <a:blip>
            <a:extLst>
              <a:ext uri="{96DAC541-7B7A-43D3-8B79-37D633B846F1}">
                <asvg:svgBlip xmlns:asvg="http://schemas.microsoft.com/office/drawing/2016/SVG/main" r:embed="rId11"/>
              </a:ext>
            </a:extLst>
          </a:blip>
          <a:stretch/>
        </p:blipFill>
        <p:spPr>
          <a:xfrm>
            <a:off x="838200" y="5514975"/>
            <a:ext cx="323850" cy="323850"/>
          </a:xfrm>
          <a:prstGeom prst="rect">
            <a:avLst/>
          </a:prstGeom>
        </p:spPr>
      </p:pic>
      <p:sp>
        <p:nvSpPr>
          <p:cNvPr id="50" name="Rectangle 49">
            <a:extLst>
              <a:ext uri="{FF2B5EF4-FFF2-40B4-BE49-F238E27FC236}">
                <a16:creationId xmlns:a16="http://schemas.microsoft.com/office/drawing/2014/main" id="{A6E767C4-9CA5-482F-BB6E-5E620F836CC7}"/>
              </a:ext>
            </a:extLst>
          </p:cNvPr>
          <p:cNvSpPr>
            <a:spLocks noGrp="1"/>
          </p:cNvSpPr>
          <p:nvPr/>
        </p:nvSpPr>
        <p:spPr>
          <a:xfrm>
            <a:off x="1390650" y="5410200"/>
            <a:ext cx="9886950" cy="542925"/>
          </a:xfrm>
          <a:prstGeom prst="rect">
            <a:avLst/>
          </a:prstGeom>
          <a:noFill/>
          <a:ln w="0">
            <a:noFill/>
            <a:prstDash val="solid"/>
          </a:ln>
        </p:spPr>
        <p:txBody>
          <a:bodyPr/>
          <a:lstStyle/>
          <a:p>
            <a:pPr algn="ctr">
              <a:defRPr sz="1575" b="1" i="0">
                <a:solidFill>
                  <a:srgbClr val="FFFFFF"/>
                </a:solidFill>
              </a:defRPr>
            </a:pPr>
            <a:r>
              <a:rPr sz="1575" b="1" i="0">
                <a:solidFill>
                  <a:srgbClr val="FFFFFF"/>
                </a:solidFill>
              </a:rPr>
              <a:t>The core issue is not that buses are late. It is that lateness stays invisible until it has already cost the passenger their time.</a:t>
            </a:r>
          </a:p>
        </p:txBody>
      </p:sp>
      <p:cxnSp>
        <p:nvCxnSpPr>
          <p:cNvPr id="10" name="Connector: Elbow 9">
            <a:extLst>
              <a:ext uri="{FF2B5EF4-FFF2-40B4-BE49-F238E27FC236}">
                <a16:creationId xmlns:a16="http://schemas.microsoft.com/office/drawing/2014/main" id="{E9ADCAA6-4A1A-D35A-1D6C-8B5E72BDDDA5}"/>
              </a:ext>
            </a:extLst>
          </p:cNvPr>
          <p:cNvCxnSpPr>
            <a:cxnSpLocks/>
            <a:stCxn id="12" idx="3"/>
            <a:endCxn id="18" idx="1"/>
          </p:cNvCxnSpPr>
          <p:nvPr/>
        </p:nvCxnSpPr>
        <p:spPr>
          <a:xfrm>
            <a:off x="6029325" y="2205038"/>
            <a:ext cx="133350" cy="127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or: Curved 48">
            <a:extLst>
              <a:ext uri="{FF2B5EF4-FFF2-40B4-BE49-F238E27FC236}">
                <a16:creationId xmlns:a16="http://schemas.microsoft.com/office/drawing/2014/main" id="{85A0F1D3-3A74-FAAA-5BE2-097B13A1DE4B}"/>
              </a:ext>
            </a:extLst>
          </p:cNvPr>
          <p:cNvCxnSpPr>
            <a:cxnSpLocks/>
            <a:stCxn id="24" idx="3"/>
            <a:endCxn id="31" idx="1"/>
          </p:cNvCxnSpPr>
          <p:nvPr/>
        </p:nvCxnSpPr>
        <p:spPr>
          <a:xfrm>
            <a:off x="6029325" y="3338513"/>
            <a:ext cx="133350"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857418F9-165F-DD4E-E7CC-9EC072C06D29}"/>
              </a:ext>
            </a:extLst>
          </p:cNvPr>
          <p:cNvCxnSpPr>
            <a:cxnSpLocks/>
            <a:stCxn id="36" idx="3"/>
            <a:endCxn id="43" idx="1"/>
          </p:cNvCxnSpPr>
          <p:nvPr/>
        </p:nvCxnSpPr>
        <p:spPr>
          <a:xfrm>
            <a:off x="6029325" y="4471988"/>
            <a:ext cx="133350" cy="127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4800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 name="Rectangle: Rounded Corners 62">
            <a:extLst>
              <a:ext uri="{FF2B5EF4-FFF2-40B4-BE49-F238E27FC236}">
                <a16:creationId xmlns:a16="http://schemas.microsoft.com/office/drawing/2014/main" id="{8204297E-8FD2-42F6-878A-4C90CCB55CF2}"/>
              </a:ext>
            </a:extLst>
          </p:cNvPr>
          <p:cNvSpPr>
            <a:spLocks noGrp="1"/>
          </p:cNvSpPr>
          <p:nvPr/>
        </p:nvSpPr>
        <p:spPr>
          <a:xfrm>
            <a:off x="7639050" y="3605212"/>
            <a:ext cx="3962400" cy="2414587"/>
          </a:xfrm>
          <a:prstGeom prst="roundRect">
            <a:avLst>
              <a:gd name="adj" fmla="val 5405"/>
            </a:avLst>
          </a:prstGeom>
          <a:solidFill>
            <a:srgbClr val="F3F4F6"/>
          </a:solidFill>
          <a:ln w="9525">
            <a:solidFill>
              <a:srgbClr val="D1D5DB"/>
            </a:solidFill>
            <a:prstDash val="solid"/>
          </a:ln>
        </p:spPr>
        <p:txBody>
          <a:bodyPr/>
          <a:lstStyle/>
          <a:p>
            <a:endParaRPr lang="en-IN" dirty="0"/>
          </a:p>
        </p:txBody>
      </p:sp>
      <p:sp>
        <p:nvSpPr>
          <p:cNvPr id="76" name="Rectangle: Rounded Corners 75">
            <a:extLst>
              <a:ext uri="{FF2B5EF4-FFF2-40B4-BE49-F238E27FC236}">
                <a16:creationId xmlns:a16="http://schemas.microsoft.com/office/drawing/2014/main" id="{276CFAB5-D6D7-4502-81A7-83E1329504F1}"/>
              </a:ext>
            </a:extLst>
          </p:cNvPr>
          <p:cNvSpPr>
            <a:spLocks noGrp="1"/>
          </p:cNvSpPr>
          <p:nvPr/>
        </p:nvSpPr>
        <p:spPr>
          <a:xfrm>
            <a:off x="514350" y="323850"/>
            <a:ext cx="76200" cy="552450"/>
          </a:xfrm>
          <a:prstGeom prst="roundRect">
            <a:avLst>
              <a:gd name="adj" fmla="val 50000"/>
            </a:avLst>
          </a:prstGeom>
          <a:solidFill>
            <a:srgbClr val="EA580C"/>
          </a:solidFill>
          <a:ln w="0">
            <a:noFill/>
            <a:prstDash val="solid"/>
          </a:ln>
        </p:spPr>
      </p:sp>
      <p:sp>
        <p:nvSpPr>
          <p:cNvPr id="2" name="Oval 1">
            <a:extLst>
              <a:ext uri="{FF2B5EF4-FFF2-40B4-BE49-F238E27FC236}">
                <a16:creationId xmlns:a16="http://schemas.microsoft.com/office/drawing/2014/main" id="{5569C802-5CB7-40F4-BF77-4F4A4EDA6A47}"/>
              </a:ext>
            </a:extLst>
          </p:cNvPr>
          <p:cNvSpPr>
            <a:spLocks noGrp="1"/>
          </p:cNvSpPr>
          <p:nvPr/>
        </p:nvSpPr>
        <p:spPr>
          <a:xfrm>
            <a:off x="742950" y="361950"/>
            <a:ext cx="457200" cy="457200"/>
          </a:xfrm>
          <a:prstGeom prst="ellipse">
            <a:avLst/>
          </a:prstGeom>
          <a:solidFill>
            <a:srgbClr val="EEF2FF"/>
          </a:solidFill>
          <a:ln w="0">
            <a:noFill/>
            <a:prstDash val="solid"/>
          </a:ln>
        </p:spPr>
      </p:sp>
      <p:pic>
        <p:nvPicPr>
          <p:cNvPr id="78" name="Graphic 77"/>
          <p:cNvPicPr>
            <a:picLocks noChangeAspect="1"/>
          </p:cNvPicPr>
          <p:nvPr/>
        </p:nvPicPr>
        <p:blipFill>
          <a:blip>
            <a:extLst>
              <a:ext uri="{96DAC541-7B7A-43D3-8B79-37D633B846F1}">
                <asvg:svgBlip xmlns:asvg="http://schemas.microsoft.com/office/drawing/2016/SVG/main" r:embed="rId3"/>
              </a:ext>
            </a:extLst>
          </a:blip>
          <a:stretch/>
        </p:blipFill>
        <p:spPr>
          <a:xfrm>
            <a:off x="848106" y="467106"/>
            <a:ext cx="246888" cy="246888"/>
          </a:xfrm>
          <a:prstGeom prst="rect">
            <a:avLst/>
          </a:prstGeom>
        </p:spPr>
      </p:pic>
      <p:sp>
        <p:nvSpPr>
          <p:cNvPr id="4" name="Rectangle 3">
            <a:extLst>
              <a:ext uri="{FF2B5EF4-FFF2-40B4-BE49-F238E27FC236}">
                <a16:creationId xmlns:a16="http://schemas.microsoft.com/office/drawing/2014/main" id="{7F8C6136-1C56-4D5A-B486-5EC52C22B704}"/>
              </a:ext>
            </a:extLst>
          </p:cNvPr>
          <p:cNvSpPr>
            <a:spLocks noGrp="1"/>
          </p:cNvSpPr>
          <p:nvPr/>
        </p:nvSpPr>
        <p:spPr>
          <a:xfrm>
            <a:off x="1352550" y="361950"/>
            <a:ext cx="4762500" cy="171450"/>
          </a:xfrm>
          <a:prstGeom prst="rect">
            <a:avLst/>
          </a:prstGeom>
          <a:noFill/>
          <a:ln w="0">
            <a:noFill/>
            <a:prstDash val="solid"/>
          </a:ln>
        </p:spPr>
        <p:txBody>
          <a:bodyPr/>
          <a:lstStyle/>
          <a:p>
            <a:pPr algn="l">
              <a:defRPr sz="825" b="1" i="0">
                <a:solidFill>
                  <a:srgbClr val="0F766E"/>
                </a:solidFill>
              </a:defRPr>
            </a:pPr>
            <a:r>
              <a:rPr sz="825" b="1" i="0">
                <a:solidFill>
                  <a:srgbClr val="0F766E"/>
                </a:solidFill>
              </a:rPr>
              <a:t>PLANNING</a:t>
            </a:r>
          </a:p>
        </p:txBody>
      </p:sp>
      <p:sp>
        <p:nvSpPr>
          <p:cNvPr id="5" name="Rectangle 4">
            <a:extLst>
              <a:ext uri="{FF2B5EF4-FFF2-40B4-BE49-F238E27FC236}">
                <a16:creationId xmlns:a16="http://schemas.microsoft.com/office/drawing/2014/main" id="{5BE2CC6C-ABC7-47D9-A156-669F038E4945}"/>
              </a:ext>
            </a:extLst>
          </p:cNvPr>
          <p:cNvSpPr>
            <a:spLocks noGrp="1"/>
          </p:cNvSpPr>
          <p:nvPr/>
        </p:nvSpPr>
        <p:spPr>
          <a:xfrm>
            <a:off x="1352550" y="552450"/>
            <a:ext cx="9906000" cy="409575"/>
          </a:xfrm>
          <a:prstGeom prst="rect">
            <a:avLst/>
          </a:prstGeom>
          <a:noFill/>
          <a:ln w="0">
            <a:noFill/>
            <a:prstDash val="solid"/>
          </a:ln>
        </p:spPr>
        <p:txBody>
          <a:bodyPr/>
          <a:lstStyle/>
          <a:p>
            <a:pPr algn="l">
              <a:defRPr sz="2700" b="1" i="0">
                <a:solidFill>
                  <a:srgbClr val="172554"/>
                </a:solidFill>
              </a:defRPr>
            </a:pPr>
            <a:r>
              <a:rPr sz="2700" b="1" i="0">
                <a:solidFill>
                  <a:srgbClr val="172554"/>
                </a:solidFill>
              </a:rPr>
              <a:t>Project Planning and Scope</a:t>
            </a:r>
          </a:p>
        </p:txBody>
      </p:sp>
      <p:sp>
        <p:nvSpPr>
          <p:cNvPr id="6" name="Straight Connector 5">
            <a:extLst>
              <a:ext uri="{FF2B5EF4-FFF2-40B4-BE49-F238E27FC236}">
                <a16:creationId xmlns:a16="http://schemas.microsoft.com/office/drawing/2014/main" id="{82177EBE-36EB-4ACD-9073-803AB1EDC520}"/>
              </a:ext>
            </a:extLst>
          </p:cNvPr>
          <p:cNvSpPr>
            <a:spLocks noGrp="1"/>
          </p:cNvSpPr>
          <p:nvPr/>
        </p:nvSpPr>
        <p:spPr>
          <a:xfrm>
            <a:off x="514350" y="6419850"/>
            <a:ext cx="11163300" cy="0"/>
          </a:xfrm>
          <a:prstGeom prst="line">
            <a:avLst/>
          </a:prstGeom>
          <a:noFill/>
          <a:ln w="9525">
            <a:solidFill>
              <a:srgbClr val="D1D5DB"/>
            </a:solidFill>
            <a:prstDash val="solid"/>
          </a:ln>
        </p:spPr>
      </p:sp>
      <p:sp>
        <p:nvSpPr>
          <p:cNvPr id="7" name="Rectangle 6">
            <a:extLst>
              <a:ext uri="{FF2B5EF4-FFF2-40B4-BE49-F238E27FC236}">
                <a16:creationId xmlns:a16="http://schemas.microsoft.com/office/drawing/2014/main" id="{01FA4438-AA89-4C2B-AE3B-DDA0FEFDDA60}"/>
              </a:ext>
            </a:extLst>
          </p:cNvPr>
          <p:cNvSpPr>
            <a:spLocks noGrp="1"/>
          </p:cNvSpPr>
          <p:nvPr/>
        </p:nvSpPr>
        <p:spPr>
          <a:xfrm>
            <a:off x="571500" y="6515100"/>
            <a:ext cx="6858000" cy="171450"/>
          </a:xfrm>
          <a:prstGeom prst="rect">
            <a:avLst/>
          </a:prstGeom>
          <a:noFill/>
          <a:ln w="0">
            <a:noFill/>
            <a:prstDash val="solid"/>
          </a:ln>
        </p:spPr>
        <p:txBody>
          <a:bodyPr/>
          <a:lstStyle/>
          <a:p>
            <a:pPr algn="l">
              <a:defRPr sz="825" b="1" i="0">
                <a:solidFill>
                  <a:srgbClr val="4B5563"/>
                </a:solidFill>
              </a:defRPr>
            </a:pPr>
            <a:r>
              <a:rPr sz="825" b="1" i="0" dirty="0">
                <a:solidFill>
                  <a:srgbClr val="4B5563"/>
                </a:solidFill>
              </a:rPr>
              <a:t>Smart Public Bus Management System </a:t>
            </a:r>
          </a:p>
        </p:txBody>
      </p:sp>
      <p:sp>
        <p:nvSpPr>
          <p:cNvPr id="8" name="Rectangle 7">
            <a:extLst>
              <a:ext uri="{FF2B5EF4-FFF2-40B4-BE49-F238E27FC236}">
                <a16:creationId xmlns:a16="http://schemas.microsoft.com/office/drawing/2014/main" id="{2ADDA578-2225-4F21-A541-704713795A6C}"/>
              </a:ext>
            </a:extLst>
          </p:cNvPr>
          <p:cNvSpPr>
            <a:spLocks noGrp="1"/>
          </p:cNvSpPr>
          <p:nvPr/>
        </p:nvSpPr>
        <p:spPr>
          <a:xfrm>
            <a:off x="11049000" y="6505575"/>
            <a:ext cx="571500" cy="171450"/>
          </a:xfrm>
          <a:prstGeom prst="rect">
            <a:avLst/>
          </a:prstGeom>
          <a:noFill/>
          <a:ln w="0">
            <a:noFill/>
            <a:prstDash val="solid"/>
          </a:ln>
        </p:spPr>
        <p:txBody>
          <a:bodyPr/>
          <a:lstStyle/>
          <a:p>
            <a:pPr algn="r">
              <a:defRPr sz="825" b="1" i="0">
                <a:solidFill>
                  <a:srgbClr val="1E3A8A"/>
                </a:solidFill>
              </a:defRPr>
            </a:pPr>
            <a:r>
              <a:rPr sz="825" b="1" i="0">
                <a:solidFill>
                  <a:srgbClr val="1E3A8A"/>
                </a:solidFill>
              </a:rPr>
              <a:t>03</a:t>
            </a:r>
          </a:p>
        </p:txBody>
      </p:sp>
      <p:sp>
        <p:nvSpPr>
          <p:cNvPr id="11" name="Rectangle 10">
            <a:extLst>
              <a:ext uri="{FF2B5EF4-FFF2-40B4-BE49-F238E27FC236}">
                <a16:creationId xmlns:a16="http://schemas.microsoft.com/office/drawing/2014/main" id="{FDD832A0-A915-4F86-B67C-70B4865609D4}"/>
              </a:ext>
            </a:extLst>
          </p:cNvPr>
          <p:cNvSpPr>
            <a:spLocks noGrp="1"/>
          </p:cNvSpPr>
          <p:nvPr/>
        </p:nvSpPr>
        <p:spPr>
          <a:xfrm>
            <a:off x="1181100" y="1152525"/>
            <a:ext cx="10172700" cy="352425"/>
          </a:xfrm>
          <a:prstGeom prst="rect">
            <a:avLst/>
          </a:prstGeom>
          <a:noFill/>
          <a:ln w="0">
            <a:noFill/>
            <a:prstDash val="solid"/>
          </a:ln>
        </p:spPr>
        <p:txBody>
          <a:bodyPr/>
          <a:lstStyle/>
          <a:p>
            <a:pPr algn="l">
              <a:defRPr sz="1163" b="1" i="0">
                <a:solidFill>
                  <a:srgbClr val="172554"/>
                </a:solidFill>
              </a:defRPr>
            </a:pPr>
            <a:endParaRPr sz="1163" b="1" i="0" dirty="0">
              <a:solidFill>
                <a:srgbClr val="172554"/>
              </a:solidFill>
            </a:endParaRPr>
          </a:p>
        </p:txBody>
      </p:sp>
      <p:sp>
        <p:nvSpPr>
          <p:cNvPr id="12" name="Rectangle: Rounded Corners 11">
            <a:extLst>
              <a:ext uri="{FF2B5EF4-FFF2-40B4-BE49-F238E27FC236}">
                <a16:creationId xmlns:a16="http://schemas.microsoft.com/office/drawing/2014/main" id="{35963DC9-5A6F-4F2A-8E78-DC7C70776E74}"/>
              </a:ext>
            </a:extLst>
          </p:cNvPr>
          <p:cNvSpPr>
            <a:spLocks noGrp="1"/>
          </p:cNvSpPr>
          <p:nvPr/>
        </p:nvSpPr>
        <p:spPr>
          <a:xfrm>
            <a:off x="571500" y="1685163"/>
            <a:ext cx="3409950" cy="1538109"/>
          </a:xfrm>
          <a:prstGeom prst="roundRect">
            <a:avLst>
              <a:gd name="adj" fmla="val 9589"/>
            </a:avLst>
          </a:prstGeom>
          <a:solidFill>
            <a:srgbClr val="EEF2FF"/>
          </a:solidFill>
          <a:ln w="9525">
            <a:solidFill>
              <a:srgbClr val="D1D5DB"/>
            </a:solidFill>
            <a:prstDash val="solid"/>
          </a:ln>
        </p:spPr>
      </p:sp>
      <p:sp>
        <p:nvSpPr>
          <p:cNvPr id="14" name="Oval 13">
            <a:extLst>
              <a:ext uri="{FF2B5EF4-FFF2-40B4-BE49-F238E27FC236}">
                <a16:creationId xmlns:a16="http://schemas.microsoft.com/office/drawing/2014/main" id="{FE2AD585-CB9D-4D5D-B6FE-4BEEABFE72C6}"/>
              </a:ext>
            </a:extLst>
          </p:cNvPr>
          <p:cNvSpPr>
            <a:spLocks noGrp="1"/>
          </p:cNvSpPr>
          <p:nvPr/>
        </p:nvSpPr>
        <p:spPr>
          <a:xfrm>
            <a:off x="781050" y="1924050"/>
            <a:ext cx="400050" cy="400050"/>
          </a:xfrm>
          <a:prstGeom prst="ellipse">
            <a:avLst/>
          </a:prstGeom>
          <a:solidFill>
            <a:srgbClr val="FFFFFF"/>
          </a:solidFill>
          <a:ln w="11430">
            <a:solidFill>
              <a:srgbClr val="D1D5DB"/>
            </a:solidFill>
            <a:prstDash val="solid"/>
          </a:ln>
        </p:spPr>
      </p:sp>
      <p:pic>
        <p:nvPicPr>
          <p:cNvPr id="90" name="Graphic 89"/>
          <p:cNvPicPr>
            <a:picLocks noChangeAspect="1"/>
          </p:cNvPicPr>
          <p:nvPr/>
        </p:nvPicPr>
        <p:blipFill>
          <a:blip>
            <a:extLst>
              <a:ext uri="{96DAC541-7B7A-43D3-8B79-37D633B846F1}">
                <asvg:svgBlip xmlns:asvg="http://schemas.microsoft.com/office/drawing/2016/SVG/main" r:embed="rId4"/>
              </a:ext>
            </a:extLst>
          </a:blip>
          <a:stretch/>
        </p:blipFill>
        <p:spPr>
          <a:xfrm>
            <a:off x="873062" y="2016062"/>
            <a:ext cx="216027" cy="216027"/>
          </a:xfrm>
          <a:prstGeom prst="rect">
            <a:avLst/>
          </a:prstGeom>
        </p:spPr>
      </p:pic>
      <p:sp>
        <p:nvSpPr>
          <p:cNvPr id="16" name="Rectangle 15">
            <a:extLst>
              <a:ext uri="{FF2B5EF4-FFF2-40B4-BE49-F238E27FC236}">
                <a16:creationId xmlns:a16="http://schemas.microsoft.com/office/drawing/2014/main" id="{5ED044DF-A651-404A-9A16-A083D47DB46E}"/>
              </a:ext>
            </a:extLst>
          </p:cNvPr>
          <p:cNvSpPr>
            <a:spLocks noGrp="1"/>
          </p:cNvSpPr>
          <p:nvPr/>
        </p:nvSpPr>
        <p:spPr>
          <a:xfrm>
            <a:off x="1304925" y="1933575"/>
            <a:ext cx="2505075" cy="266700"/>
          </a:xfrm>
          <a:prstGeom prst="rect">
            <a:avLst/>
          </a:prstGeom>
          <a:noFill/>
          <a:ln w="0">
            <a:noFill/>
            <a:prstDash val="solid"/>
          </a:ln>
        </p:spPr>
        <p:txBody>
          <a:bodyPr/>
          <a:lstStyle/>
          <a:p>
            <a:pPr algn="l">
              <a:defRPr sz="1425" b="1" i="0">
                <a:solidFill>
                  <a:srgbClr val="172554"/>
                </a:solidFill>
              </a:defRPr>
            </a:pPr>
            <a:r>
              <a:rPr sz="1425" b="1" i="0">
                <a:solidFill>
                  <a:srgbClr val="172554"/>
                </a:solidFill>
              </a:rPr>
              <a:t>Passenger</a:t>
            </a:r>
          </a:p>
        </p:txBody>
      </p:sp>
      <p:sp>
        <p:nvSpPr>
          <p:cNvPr id="17" name="Oval 16">
            <a:extLst>
              <a:ext uri="{FF2B5EF4-FFF2-40B4-BE49-F238E27FC236}">
                <a16:creationId xmlns:a16="http://schemas.microsoft.com/office/drawing/2014/main" id="{E83C4419-6547-4DD1-8A27-B86F843457AE}"/>
              </a:ext>
            </a:extLst>
          </p:cNvPr>
          <p:cNvSpPr>
            <a:spLocks noGrp="1"/>
          </p:cNvSpPr>
          <p:nvPr/>
        </p:nvSpPr>
        <p:spPr>
          <a:xfrm>
            <a:off x="828675" y="2505075"/>
            <a:ext cx="57150" cy="57150"/>
          </a:xfrm>
          <a:prstGeom prst="ellipse">
            <a:avLst/>
          </a:prstGeom>
          <a:solidFill>
            <a:srgbClr val="1E3A8A"/>
          </a:solidFill>
          <a:ln w="0">
            <a:noFill/>
            <a:prstDash val="solid"/>
          </a:ln>
        </p:spPr>
      </p:sp>
      <p:sp>
        <p:nvSpPr>
          <p:cNvPr id="18" name="Rectangle 17">
            <a:extLst>
              <a:ext uri="{FF2B5EF4-FFF2-40B4-BE49-F238E27FC236}">
                <a16:creationId xmlns:a16="http://schemas.microsoft.com/office/drawing/2014/main" id="{C0A9B1F5-FD4B-4AA8-9264-D0B0AE9FB6E4}"/>
              </a:ext>
            </a:extLst>
          </p:cNvPr>
          <p:cNvSpPr>
            <a:spLocks noGrp="1"/>
          </p:cNvSpPr>
          <p:nvPr/>
        </p:nvSpPr>
        <p:spPr>
          <a:xfrm>
            <a:off x="990600" y="2409825"/>
            <a:ext cx="2838450" cy="200025"/>
          </a:xfrm>
          <a:prstGeom prst="rect">
            <a:avLst/>
          </a:prstGeom>
          <a:noFill/>
          <a:ln w="0">
            <a:noFill/>
            <a:prstDash val="solid"/>
          </a:ln>
        </p:spPr>
        <p:txBody>
          <a:bodyPr/>
          <a:lstStyle/>
          <a:p>
            <a:pPr algn="l">
              <a:defRPr sz="1088" b="0" i="0">
                <a:solidFill>
                  <a:srgbClr val="4B5563"/>
                </a:solidFill>
              </a:defRPr>
            </a:pPr>
            <a:r>
              <a:rPr sz="1088" b="0" i="0">
                <a:solidFill>
                  <a:srgbClr val="4B5563"/>
                </a:solidFill>
              </a:rPr>
              <a:t>Search routes</a:t>
            </a:r>
          </a:p>
        </p:txBody>
      </p:sp>
      <p:sp>
        <p:nvSpPr>
          <p:cNvPr id="19" name="Oval 18">
            <a:extLst>
              <a:ext uri="{FF2B5EF4-FFF2-40B4-BE49-F238E27FC236}">
                <a16:creationId xmlns:a16="http://schemas.microsoft.com/office/drawing/2014/main" id="{78AA295B-03BC-418B-BCDE-001B95832EDC}"/>
              </a:ext>
            </a:extLst>
          </p:cNvPr>
          <p:cNvSpPr>
            <a:spLocks noGrp="1"/>
          </p:cNvSpPr>
          <p:nvPr/>
        </p:nvSpPr>
        <p:spPr>
          <a:xfrm>
            <a:off x="828675" y="2733675"/>
            <a:ext cx="57150" cy="57150"/>
          </a:xfrm>
          <a:prstGeom prst="ellipse">
            <a:avLst/>
          </a:prstGeom>
          <a:solidFill>
            <a:srgbClr val="1E3A8A"/>
          </a:solidFill>
          <a:ln w="0">
            <a:noFill/>
            <a:prstDash val="solid"/>
          </a:ln>
        </p:spPr>
      </p:sp>
      <p:sp>
        <p:nvSpPr>
          <p:cNvPr id="20" name="Rectangle 19">
            <a:extLst>
              <a:ext uri="{FF2B5EF4-FFF2-40B4-BE49-F238E27FC236}">
                <a16:creationId xmlns:a16="http://schemas.microsoft.com/office/drawing/2014/main" id="{287734B1-CB3E-4A99-B0F9-47A7D089DEE2}"/>
              </a:ext>
            </a:extLst>
          </p:cNvPr>
          <p:cNvSpPr>
            <a:spLocks noGrp="1"/>
          </p:cNvSpPr>
          <p:nvPr/>
        </p:nvSpPr>
        <p:spPr>
          <a:xfrm>
            <a:off x="990600" y="2638425"/>
            <a:ext cx="2838450" cy="200025"/>
          </a:xfrm>
          <a:prstGeom prst="rect">
            <a:avLst/>
          </a:prstGeom>
          <a:noFill/>
          <a:ln w="0">
            <a:noFill/>
            <a:prstDash val="solid"/>
          </a:ln>
        </p:spPr>
        <p:txBody>
          <a:bodyPr/>
          <a:lstStyle/>
          <a:p>
            <a:pPr algn="l">
              <a:defRPr sz="1088" b="0" i="0">
                <a:solidFill>
                  <a:srgbClr val="4B5563"/>
                </a:solidFill>
              </a:defRPr>
            </a:pPr>
            <a:r>
              <a:rPr sz="1088" b="0" i="0">
                <a:solidFill>
                  <a:srgbClr val="4B5563"/>
                </a:solidFill>
              </a:rPr>
              <a:t>View live location and ETA</a:t>
            </a:r>
          </a:p>
        </p:txBody>
      </p:sp>
      <p:sp>
        <p:nvSpPr>
          <p:cNvPr id="21" name="Oval 20">
            <a:extLst>
              <a:ext uri="{FF2B5EF4-FFF2-40B4-BE49-F238E27FC236}">
                <a16:creationId xmlns:a16="http://schemas.microsoft.com/office/drawing/2014/main" id="{DFBD3CD7-762F-4FDC-A2FB-4E0105A19473}"/>
              </a:ext>
            </a:extLst>
          </p:cNvPr>
          <p:cNvSpPr>
            <a:spLocks noGrp="1"/>
          </p:cNvSpPr>
          <p:nvPr/>
        </p:nvSpPr>
        <p:spPr>
          <a:xfrm>
            <a:off x="828675" y="2962275"/>
            <a:ext cx="57150" cy="57150"/>
          </a:xfrm>
          <a:prstGeom prst="ellipse">
            <a:avLst/>
          </a:prstGeom>
          <a:solidFill>
            <a:srgbClr val="1E3A8A"/>
          </a:solidFill>
          <a:ln w="0">
            <a:noFill/>
            <a:prstDash val="solid"/>
          </a:ln>
        </p:spPr>
      </p:sp>
      <p:sp>
        <p:nvSpPr>
          <p:cNvPr id="22" name="Rectangle 21">
            <a:extLst>
              <a:ext uri="{FF2B5EF4-FFF2-40B4-BE49-F238E27FC236}">
                <a16:creationId xmlns:a16="http://schemas.microsoft.com/office/drawing/2014/main" id="{C2C5783D-6BCD-4E36-B184-6500FF835594}"/>
              </a:ext>
            </a:extLst>
          </p:cNvPr>
          <p:cNvSpPr>
            <a:spLocks noGrp="1"/>
          </p:cNvSpPr>
          <p:nvPr/>
        </p:nvSpPr>
        <p:spPr>
          <a:xfrm>
            <a:off x="990600" y="2867025"/>
            <a:ext cx="2838450" cy="200025"/>
          </a:xfrm>
          <a:prstGeom prst="rect">
            <a:avLst/>
          </a:prstGeom>
          <a:noFill/>
          <a:ln w="0">
            <a:noFill/>
            <a:prstDash val="solid"/>
          </a:ln>
        </p:spPr>
        <p:txBody>
          <a:bodyPr/>
          <a:lstStyle/>
          <a:p>
            <a:pPr algn="l">
              <a:defRPr sz="1088" b="0" i="0">
                <a:solidFill>
                  <a:srgbClr val="4B5563"/>
                </a:solidFill>
              </a:defRPr>
            </a:pPr>
            <a:r>
              <a:rPr sz="1088" b="0" i="0">
                <a:solidFill>
                  <a:srgbClr val="4B5563"/>
                </a:solidFill>
              </a:rPr>
              <a:t>Get notifications and use SOS</a:t>
            </a:r>
          </a:p>
        </p:txBody>
      </p:sp>
      <p:sp>
        <p:nvSpPr>
          <p:cNvPr id="23" name="Rectangle: Rounded Corners 22">
            <a:extLst>
              <a:ext uri="{FF2B5EF4-FFF2-40B4-BE49-F238E27FC236}">
                <a16:creationId xmlns:a16="http://schemas.microsoft.com/office/drawing/2014/main" id="{83358063-D8E7-4AC4-9759-9AD96AB68F80}"/>
              </a:ext>
            </a:extLst>
          </p:cNvPr>
          <p:cNvSpPr>
            <a:spLocks noGrp="1"/>
          </p:cNvSpPr>
          <p:nvPr/>
        </p:nvSpPr>
        <p:spPr>
          <a:xfrm>
            <a:off x="4386262" y="1685157"/>
            <a:ext cx="3409950" cy="1538109"/>
          </a:xfrm>
          <a:prstGeom prst="roundRect">
            <a:avLst>
              <a:gd name="adj" fmla="val 9589"/>
            </a:avLst>
          </a:prstGeom>
          <a:solidFill>
            <a:srgbClr val="ECFDF5"/>
          </a:solidFill>
          <a:ln w="9525">
            <a:solidFill>
              <a:srgbClr val="D1D5DB"/>
            </a:solidFill>
            <a:prstDash val="solid"/>
          </a:ln>
        </p:spPr>
      </p:sp>
      <p:sp>
        <p:nvSpPr>
          <p:cNvPr id="25" name="Oval 24">
            <a:extLst>
              <a:ext uri="{FF2B5EF4-FFF2-40B4-BE49-F238E27FC236}">
                <a16:creationId xmlns:a16="http://schemas.microsoft.com/office/drawing/2014/main" id="{F28C4FA2-3667-40C4-AF4F-649891C8B151}"/>
              </a:ext>
            </a:extLst>
          </p:cNvPr>
          <p:cNvSpPr>
            <a:spLocks noGrp="1"/>
          </p:cNvSpPr>
          <p:nvPr/>
        </p:nvSpPr>
        <p:spPr>
          <a:xfrm>
            <a:off x="4581525" y="1924050"/>
            <a:ext cx="400050" cy="400050"/>
          </a:xfrm>
          <a:prstGeom prst="ellipse">
            <a:avLst/>
          </a:prstGeom>
          <a:solidFill>
            <a:srgbClr val="FFFFFF"/>
          </a:solidFill>
          <a:ln w="11430">
            <a:solidFill>
              <a:srgbClr val="D1D5DB"/>
            </a:solidFill>
            <a:prstDash val="solid"/>
          </a:ln>
        </p:spPr>
      </p:sp>
      <p:pic>
        <p:nvPicPr>
          <p:cNvPr id="101" name="Graphic 100"/>
          <p:cNvPicPr>
            <a:picLocks noChangeAspect="1"/>
          </p:cNvPicPr>
          <p:nvPr/>
        </p:nvPicPr>
        <p:blipFill>
          <a:blip>
            <a:extLst>
              <a:ext uri="{96DAC541-7B7A-43D3-8B79-37D633B846F1}">
                <asvg:svgBlip xmlns:asvg="http://schemas.microsoft.com/office/drawing/2016/SVG/main" r:embed="rId5"/>
              </a:ext>
            </a:extLst>
          </a:blip>
          <a:stretch/>
        </p:blipFill>
        <p:spPr>
          <a:xfrm>
            <a:off x="4673537" y="2016062"/>
            <a:ext cx="216027" cy="216027"/>
          </a:xfrm>
          <a:prstGeom prst="rect">
            <a:avLst/>
          </a:prstGeom>
        </p:spPr>
      </p:pic>
      <p:sp>
        <p:nvSpPr>
          <p:cNvPr id="27" name="Rectangle 26">
            <a:extLst>
              <a:ext uri="{FF2B5EF4-FFF2-40B4-BE49-F238E27FC236}">
                <a16:creationId xmlns:a16="http://schemas.microsoft.com/office/drawing/2014/main" id="{B17868CA-C3D8-4497-B134-24F5B3EF48F1}"/>
              </a:ext>
            </a:extLst>
          </p:cNvPr>
          <p:cNvSpPr>
            <a:spLocks noGrp="1"/>
          </p:cNvSpPr>
          <p:nvPr/>
        </p:nvSpPr>
        <p:spPr>
          <a:xfrm>
            <a:off x="5105400" y="1933575"/>
            <a:ext cx="2505075" cy="266700"/>
          </a:xfrm>
          <a:prstGeom prst="rect">
            <a:avLst/>
          </a:prstGeom>
          <a:noFill/>
          <a:ln w="0">
            <a:noFill/>
            <a:prstDash val="solid"/>
          </a:ln>
        </p:spPr>
        <p:txBody>
          <a:bodyPr/>
          <a:lstStyle/>
          <a:p>
            <a:pPr algn="l">
              <a:defRPr sz="1425" b="1" i="0">
                <a:solidFill>
                  <a:srgbClr val="172554"/>
                </a:solidFill>
              </a:defRPr>
            </a:pPr>
            <a:r>
              <a:rPr sz="1425" b="1" i="0">
                <a:solidFill>
                  <a:srgbClr val="172554"/>
                </a:solidFill>
              </a:rPr>
              <a:t>Driver</a:t>
            </a:r>
          </a:p>
        </p:txBody>
      </p:sp>
      <p:sp>
        <p:nvSpPr>
          <p:cNvPr id="28" name="Oval 27">
            <a:extLst>
              <a:ext uri="{FF2B5EF4-FFF2-40B4-BE49-F238E27FC236}">
                <a16:creationId xmlns:a16="http://schemas.microsoft.com/office/drawing/2014/main" id="{45225E2D-BEB6-48E4-8A48-30D6066CCE41}"/>
              </a:ext>
            </a:extLst>
          </p:cNvPr>
          <p:cNvSpPr>
            <a:spLocks noGrp="1"/>
          </p:cNvSpPr>
          <p:nvPr/>
        </p:nvSpPr>
        <p:spPr>
          <a:xfrm>
            <a:off x="4629150" y="2505075"/>
            <a:ext cx="57150" cy="57150"/>
          </a:xfrm>
          <a:prstGeom prst="ellipse">
            <a:avLst/>
          </a:prstGeom>
          <a:solidFill>
            <a:srgbClr val="0F766E"/>
          </a:solidFill>
          <a:ln w="0">
            <a:noFill/>
            <a:prstDash val="solid"/>
          </a:ln>
        </p:spPr>
      </p:sp>
      <p:sp>
        <p:nvSpPr>
          <p:cNvPr id="29" name="Rectangle 28">
            <a:extLst>
              <a:ext uri="{FF2B5EF4-FFF2-40B4-BE49-F238E27FC236}">
                <a16:creationId xmlns:a16="http://schemas.microsoft.com/office/drawing/2014/main" id="{269C086B-441C-4CBE-8CDC-3EC7C2B5B878}"/>
              </a:ext>
            </a:extLst>
          </p:cNvPr>
          <p:cNvSpPr>
            <a:spLocks noGrp="1"/>
          </p:cNvSpPr>
          <p:nvPr/>
        </p:nvSpPr>
        <p:spPr>
          <a:xfrm>
            <a:off x="4791075" y="2409825"/>
            <a:ext cx="2838450" cy="200025"/>
          </a:xfrm>
          <a:prstGeom prst="rect">
            <a:avLst/>
          </a:prstGeom>
          <a:noFill/>
          <a:ln w="0">
            <a:noFill/>
            <a:prstDash val="solid"/>
          </a:ln>
        </p:spPr>
        <p:txBody>
          <a:bodyPr/>
          <a:lstStyle/>
          <a:p>
            <a:pPr algn="l">
              <a:defRPr sz="1088" b="0" i="0">
                <a:solidFill>
                  <a:srgbClr val="4B5563"/>
                </a:solidFill>
              </a:defRPr>
            </a:pPr>
            <a:r>
              <a:rPr sz="1088" b="0" i="0" dirty="0">
                <a:solidFill>
                  <a:srgbClr val="4B5563"/>
                </a:solidFill>
              </a:rPr>
              <a:t>Start trip and share location</a:t>
            </a:r>
          </a:p>
        </p:txBody>
      </p:sp>
      <p:sp>
        <p:nvSpPr>
          <p:cNvPr id="30" name="Oval 29">
            <a:extLst>
              <a:ext uri="{FF2B5EF4-FFF2-40B4-BE49-F238E27FC236}">
                <a16:creationId xmlns:a16="http://schemas.microsoft.com/office/drawing/2014/main" id="{A2710764-9EF9-4FD5-BC18-051CA76FEA27}"/>
              </a:ext>
            </a:extLst>
          </p:cNvPr>
          <p:cNvSpPr>
            <a:spLocks noGrp="1"/>
          </p:cNvSpPr>
          <p:nvPr/>
        </p:nvSpPr>
        <p:spPr>
          <a:xfrm>
            <a:off x="4629150" y="2733675"/>
            <a:ext cx="57150" cy="57150"/>
          </a:xfrm>
          <a:prstGeom prst="ellipse">
            <a:avLst/>
          </a:prstGeom>
          <a:solidFill>
            <a:srgbClr val="0F766E"/>
          </a:solidFill>
          <a:ln w="0">
            <a:noFill/>
            <a:prstDash val="solid"/>
          </a:ln>
        </p:spPr>
      </p:sp>
      <p:sp>
        <p:nvSpPr>
          <p:cNvPr id="31" name="Rectangle 30">
            <a:extLst>
              <a:ext uri="{FF2B5EF4-FFF2-40B4-BE49-F238E27FC236}">
                <a16:creationId xmlns:a16="http://schemas.microsoft.com/office/drawing/2014/main" id="{D1EF58E4-DC8D-497D-AA1D-A96B553029C4}"/>
              </a:ext>
            </a:extLst>
          </p:cNvPr>
          <p:cNvSpPr>
            <a:spLocks noGrp="1"/>
          </p:cNvSpPr>
          <p:nvPr/>
        </p:nvSpPr>
        <p:spPr>
          <a:xfrm>
            <a:off x="4791075" y="2638425"/>
            <a:ext cx="2838450" cy="200025"/>
          </a:xfrm>
          <a:prstGeom prst="rect">
            <a:avLst/>
          </a:prstGeom>
          <a:noFill/>
          <a:ln w="0">
            <a:noFill/>
            <a:prstDash val="solid"/>
          </a:ln>
        </p:spPr>
        <p:txBody>
          <a:bodyPr/>
          <a:lstStyle/>
          <a:p>
            <a:pPr algn="l">
              <a:defRPr sz="1088" b="0" i="0">
                <a:solidFill>
                  <a:srgbClr val="4B5563"/>
                </a:solidFill>
              </a:defRPr>
            </a:pPr>
            <a:r>
              <a:rPr sz="1088" b="0" i="0">
                <a:solidFill>
                  <a:srgbClr val="4B5563"/>
                </a:solidFill>
              </a:rPr>
              <a:t>Report issues and resume service</a:t>
            </a:r>
          </a:p>
        </p:txBody>
      </p:sp>
      <p:sp>
        <p:nvSpPr>
          <p:cNvPr id="32" name="Oval 31">
            <a:extLst>
              <a:ext uri="{FF2B5EF4-FFF2-40B4-BE49-F238E27FC236}">
                <a16:creationId xmlns:a16="http://schemas.microsoft.com/office/drawing/2014/main" id="{CC387724-5775-4E71-82B5-F25AF2260E5B}"/>
              </a:ext>
            </a:extLst>
          </p:cNvPr>
          <p:cNvSpPr>
            <a:spLocks noGrp="1"/>
          </p:cNvSpPr>
          <p:nvPr/>
        </p:nvSpPr>
        <p:spPr>
          <a:xfrm>
            <a:off x="4629150" y="2962275"/>
            <a:ext cx="57150" cy="57150"/>
          </a:xfrm>
          <a:prstGeom prst="ellipse">
            <a:avLst/>
          </a:prstGeom>
          <a:solidFill>
            <a:srgbClr val="0F766E"/>
          </a:solidFill>
          <a:ln w="0">
            <a:noFill/>
            <a:prstDash val="solid"/>
          </a:ln>
        </p:spPr>
      </p:sp>
      <p:sp>
        <p:nvSpPr>
          <p:cNvPr id="33" name="Rectangle 32">
            <a:extLst>
              <a:ext uri="{FF2B5EF4-FFF2-40B4-BE49-F238E27FC236}">
                <a16:creationId xmlns:a16="http://schemas.microsoft.com/office/drawing/2014/main" id="{E535610B-662E-4A70-A0F5-26D600FF56C5}"/>
              </a:ext>
            </a:extLst>
          </p:cNvPr>
          <p:cNvSpPr>
            <a:spLocks noGrp="1"/>
          </p:cNvSpPr>
          <p:nvPr/>
        </p:nvSpPr>
        <p:spPr>
          <a:xfrm>
            <a:off x="4791075" y="2867025"/>
            <a:ext cx="2838450" cy="200025"/>
          </a:xfrm>
          <a:prstGeom prst="rect">
            <a:avLst/>
          </a:prstGeom>
          <a:noFill/>
          <a:ln w="0">
            <a:noFill/>
            <a:prstDash val="solid"/>
          </a:ln>
        </p:spPr>
        <p:txBody>
          <a:bodyPr/>
          <a:lstStyle/>
          <a:p>
            <a:pPr algn="l">
              <a:defRPr sz="1088" b="0" i="0">
                <a:solidFill>
                  <a:srgbClr val="4B5563"/>
                </a:solidFill>
              </a:defRPr>
            </a:pPr>
            <a:r>
              <a:rPr sz="1088" b="0" i="0">
                <a:solidFill>
                  <a:srgbClr val="4B5563"/>
                </a:solidFill>
              </a:rPr>
              <a:t>Use SOS</a:t>
            </a:r>
          </a:p>
        </p:txBody>
      </p:sp>
      <p:sp>
        <p:nvSpPr>
          <p:cNvPr id="34" name="Rectangle: Rounded Corners 33">
            <a:extLst>
              <a:ext uri="{FF2B5EF4-FFF2-40B4-BE49-F238E27FC236}">
                <a16:creationId xmlns:a16="http://schemas.microsoft.com/office/drawing/2014/main" id="{F240DBC4-9A03-4029-809B-230F5F2B6FC5}"/>
              </a:ext>
            </a:extLst>
          </p:cNvPr>
          <p:cNvSpPr>
            <a:spLocks noGrp="1"/>
          </p:cNvSpPr>
          <p:nvPr/>
        </p:nvSpPr>
        <p:spPr>
          <a:xfrm>
            <a:off x="8172450" y="1685157"/>
            <a:ext cx="3409950" cy="1538109"/>
          </a:xfrm>
          <a:prstGeom prst="roundRect">
            <a:avLst>
              <a:gd name="adj" fmla="val 9589"/>
            </a:avLst>
          </a:prstGeom>
          <a:solidFill>
            <a:srgbClr val="FFF7ED"/>
          </a:solidFill>
          <a:ln w="9525">
            <a:solidFill>
              <a:srgbClr val="D1D5DB"/>
            </a:solidFill>
            <a:prstDash val="solid"/>
          </a:ln>
        </p:spPr>
      </p:sp>
      <p:sp>
        <p:nvSpPr>
          <p:cNvPr id="36" name="Oval 35">
            <a:extLst>
              <a:ext uri="{FF2B5EF4-FFF2-40B4-BE49-F238E27FC236}">
                <a16:creationId xmlns:a16="http://schemas.microsoft.com/office/drawing/2014/main" id="{FF785374-2BE4-4E5A-8108-A9141C1D3AA3}"/>
              </a:ext>
            </a:extLst>
          </p:cNvPr>
          <p:cNvSpPr>
            <a:spLocks noGrp="1"/>
          </p:cNvSpPr>
          <p:nvPr/>
        </p:nvSpPr>
        <p:spPr>
          <a:xfrm>
            <a:off x="8382000" y="1924050"/>
            <a:ext cx="400050" cy="400050"/>
          </a:xfrm>
          <a:prstGeom prst="ellipse">
            <a:avLst/>
          </a:prstGeom>
          <a:solidFill>
            <a:srgbClr val="FFFFFF"/>
          </a:solidFill>
          <a:ln w="11430">
            <a:solidFill>
              <a:srgbClr val="D1D5DB"/>
            </a:solidFill>
            <a:prstDash val="solid"/>
          </a:ln>
        </p:spPr>
      </p:sp>
      <p:pic>
        <p:nvPicPr>
          <p:cNvPr id="112" name="Graphic 111"/>
          <p:cNvPicPr>
            <a:picLocks noChangeAspect="1"/>
          </p:cNvPicPr>
          <p:nvPr/>
        </p:nvPicPr>
        <p:blipFill>
          <a:blip>
            <a:extLst>
              <a:ext uri="{96DAC541-7B7A-43D3-8B79-37D633B846F1}">
                <asvg:svgBlip xmlns:asvg="http://schemas.microsoft.com/office/drawing/2016/SVG/main" r:embed="rId6"/>
              </a:ext>
            </a:extLst>
          </a:blip>
          <a:stretch/>
        </p:blipFill>
        <p:spPr>
          <a:xfrm>
            <a:off x="8474012" y="2016062"/>
            <a:ext cx="216027" cy="216027"/>
          </a:xfrm>
          <a:prstGeom prst="rect">
            <a:avLst/>
          </a:prstGeom>
        </p:spPr>
      </p:pic>
      <p:sp>
        <p:nvSpPr>
          <p:cNvPr id="38" name="Rectangle 37">
            <a:extLst>
              <a:ext uri="{FF2B5EF4-FFF2-40B4-BE49-F238E27FC236}">
                <a16:creationId xmlns:a16="http://schemas.microsoft.com/office/drawing/2014/main" id="{E90CEE6E-CFF9-4AE7-85C4-03326CABE7FD}"/>
              </a:ext>
            </a:extLst>
          </p:cNvPr>
          <p:cNvSpPr>
            <a:spLocks noGrp="1"/>
          </p:cNvSpPr>
          <p:nvPr/>
        </p:nvSpPr>
        <p:spPr>
          <a:xfrm>
            <a:off x="8905875" y="1933575"/>
            <a:ext cx="2505075" cy="266700"/>
          </a:xfrm>
          <a:prstGeom prst="rect">
            <a:avLst/>
          </a:prstGeom>
          <a:noFill/>
          <a:ln w="0">
            <a:noFill/>
            <a:prstDash val="solid"/>
          </a:ln>
        </p:spPr>
        <p:txBody>
          <a:bodyPr/>
          <a:lstStyle/>
          <a:p>
            <a:pPr algn="l">
              <a:defRPr sz="1425" b="1" i="0">
                <a:solidFill>
                  <a:srgbClr val="172554"/>
                </a:solidFill>
              </a:defRPr>
            </a:pPr>
            <a:r>
              <a:rPr sz="1425" b="1" i="0">
                <a:solidFill>
                  <a:srgbClr val="172554"/>
                </a:solidFill>
              </a:rPr>
              <a:t>Administrator</a:t>
            </a:r>
          </a:p>
        </p:txBody>
      </p:sp>
      <p:sp>
        <p:nvSpPr>
          <p:cNvPr id="39" name="Oval 38">
            <a:extLst>
              <a:ext uri="{FF2B5EF4-FFF2-40B4-BE49-F238E27FC236}">
                <a16:creationId xmlns:a16="http://schemas.microsoft.com/office/drawing/2014/main" id="{78CFA87F-23A5-4EF8-9CF0-CCF3874D6BA9}"/>
              </a:ext>
            </a:extLst>
          </p:cNvPr>
          <p:cNvSpPr>
            <a:spLocks noGrp="1"/>
          </p:cNvSpPr>
          <p:nvPr/>
        </p:nvSpPr>
        <p:spPr>
          <a:xfrm>
            <a:off x="8429625" y="2505075"/>
            <a:ext cx="57150" cy="57150"/>
          </a:xfrm>
          <a:prstGeom prst="ellipse">
            <a:avLst/>
          </a:prstGeom>
          <a:solidFill>
            <a:srgbClr val="EA580C"/>
          </a:solidFill>
          <a:ln w="0">
            <a:noFill/>
            <a:prstDash val="solid"/>
          </a:ln>
        </p:spPr>
      </p:sp>
      <p:sp>
        <p:nvSpPr>
          <p:cNvPr id="40" name="Rectangle 39">
            <a:extLst>
              <a:ext uri="{FF2B5EF4-FFF2-40B4-BE49-F238E27FC236}">
                <a16:creationId xmlns:a16="http://schemas.microsoft.com/office/drawing/2014/main" id="{9E022209-D3BF-4AC4-B627-F62332D3C962}"/>
              </a:ext>
            </a:extLst>
          </p:cNvPr>
          <p:cNvSpPr>
            <a:spLocks noGrp="1"/>
          </p:cNvSpPr>
          <p:nvPr/>
        </p:nvSpPr>
        <p:spPr>
          <a:xfrm>
            <a:off x="8591550" y="2409825"/>
            <a:ext cx="2838450" cy="200025"/>
          </a:xfrm>
          <a:prstGeom prst="rect">
            <a:avLst/>
          </a:prstGeom>
          <a:noFill/>
          <a:ln w="0">
            <a:noFill/>
            <a:prstDash val="solid"/>
          </a:ln>
        </p:spPr>
        <p:txBody>
          <a:bodyPr/>
          <a:lstStyle/>
          <a:p>
            <a:pPr algn="l">
              <a:defRPr sz="1088" b="0" i="0">
                <a:solidFill>
                  <a:srgbClr val="4B5563"/>
                </a:solidFill>
              </a:defRPr>
            </a:pPr>
            <a:r>
              <a:rPr sz="1088" b="0" i="0">
                <a:solidFill>
                  <a:srgbClr val="4B5563"/>
                </a:solidFill>
              </a:rPr>
              <a:t>Register buses, drivers, routes and stops</a:t>
            </a:r>
          </a:p>
        </p:txBody>
      </p:sp>
      <p:sp>
        <p:nvSpPr>
          <p:cNvPr id="41" name="Oval 40">
            <a:extLst>
              <a:ext uri="{FF2B5EF4-FFF2-40B4-BE49-F238E27FC236}">
                <a16:creationId xmlns:a16="http://schemas.microsoft.com/office/drawing/2014/main" id="{6DA4324F-5EFA-4B6B-B116-1FFB0D7356E2}"/>
              </a:ext>
            </a:extLst>
          </p:cNvPr>
          <p:cNvSpPr>
            <a:spLocks noGrp="1"/>
          </p:cNvSpPr>
          <p:nvPr/>
        </p:nvSpPr>
        <p:spPr>
          <a:xfrm>
            <a:off x="8429625" y="2733675"/>
            <a:ext cx="57150" cy="57150"/>
          </a:xfrm>
          <a:prstGeom prst="ellipse">
            <a:avLst/>
          </a:prstGeom>
          <a:solidFill>
            <a:srgbClr val="EA580C"/>
          </a:solidFill>
          <a:ln w="0">
            <a:noFill/>
            <a:prstDash val="solid"/>
          </a:ln>
        </p:spPr>
      </p:sp>
      <p:sp>
        <p:nvSpPr>
          <p:cNvPr id="42" name="Rectangle 41">
            <a:extLst>
              <a:ext uri="{FF2B5EF4-FFF2-40B4-BE49-F238E27FC236}">
                <a16:creationId xmlns:a16="http://schemas.microsoft.com/office/drawing/2014/main" id="{E2505640-CC5C-458D-AEE1-3562DD0FCDFD}"/>
              </a:ext>
            </a:extLst>
          </p:cNvPr>
          <p:cNvSpPr>
            <a:spLocks noGrp="1"/>
          </p:cNvSpPr>
          <p:nvPr/>
        </p:nvSpPr>
        <p:spPr>
          <a:xfrm>
            <a:off x="8591550" y="2638425"/>
            <a:ext cx="2838450" cy="200025"/>
          </a:xfrm>
          <a:prstGeom prst="rect">
            <a:avLst/>
          </a:prstGeom>
          <a:noFill/>
          <a:ln w="0">
            <a:noFill/>
            <a:prstDash val="solid"/>
          </a:ln>
        </p:spPr>
        <p:txBody>
          <a:bodyPr/>
          <a:lstStyle/>
          <a:p>
            <a:pPr algn="l">
              <a:defRPr sz="1088" b="0" i="0">
                <a:solidFill>
                  <a:srgbClr val="4B5563"/>
                </a:solidFill>
              </a:defRPr>
            </a:pPr>
            <a:r>
              <a:rPr sz="1088" b="0" i="0" dirty="0">
                <a:solidFill>
                  <a:srgbClr val="4B5563"/>
                </a:solidFill>
              </a:rPr>
              <a:t>Monitor incidents</a:t>
            </a:r>
          </a:p>
        </p:txBody>
      </p:sp>
      <p:sp>
        <p:nvSpPr>
          <p:cNvPr id="43" name="Oval 42">
            <a:extLst>
              <a:ext uri="{FF2B5EF4-FFF2-40B4-BE49-F238E27FC236}">
                <a16:creationId xmlns:a16="http://schemas.microsoft.com/office/drawing/2014/main" id="{563EE078-D78D-4ECE-81B4-A3DC980C4AC9}"/>
              </a:ext>
            </a:extLst>
          </p:cNvPr>
          <p:cNvSpPr>
            <a:spLocks noGrp="1"/>
          </p:cNvSpPr>
          <p:nvPr/>
        </p:nvSpPr>
        <p:spPr>
          <a:xfrm>
            <a:off x="8429625" y="2962275"/>
            <a:ext cx="57150" cy="57150"/>
          </a:xfrm>
          <a:prstGeom prst="ellipse">
            <a:avLst/>
          </a:prstGeom>
          <a:solidFill>
            <a:srgbClr val="EA580C"/>
          </a:solidFill>
          <a:ln w="0">
            <a:noFill/>
            <a:prstDash val="solid"/>
          </a:ln>
        </p:spPr>
      </p:sp>
      <p:sp>
        <p:nvSpPr>
          <p:cNvPr id="44" name="Rectangle 43">
            <a:extLst>
              <a:ext uri="{FF2B5EF4-FFF2-40B4-BE49-F238E27FC236}">
                <a16:creationId xmlns:a16="http://schemas.microsoft.com/office/drawing/2014/main" id="{72B3C20D-8BB0-435F-A92B-129A5094F416}"/>
              </a:ext>
            </a:extLst>
          </p:cNvPr>
          <p:cNvSpPr>
            <a:spLocks noGrp="1"/>
          </p:cNvSpPr>
          <p:nvPr/>
        </p:nvSpPr>
        <p:spPr>
          <a:xfrm>
            <a:off x="8591550" y="2867025"/>
            <a:ext cx="2838450" cy="200025"/>
          </a:xfrm>
          <a:prstGeom prst="rect">
            <a:avLst/>
          </a:prstGeom>
          <a:noFill/>
          <a:ln w="0">
            <a:noFill/>
            <a:prstDash val="solid"/>
          </a:ln>
        </p:spPr>
        <p:txBody>
          <a:bodyPr/>
          <a:lstStyle/>
          <a:p>
            <a:pPr algn="l">
              <a:defRPr sz="1088" b="0" i="0">
                <a:solidFill>
                  <a:srgbClr val="4B5563"/>
                </a:solidFill>
              </a:defRPr>
            </a:pPr>
            <a:r>
              <a:rPr sz="1088" b="0" i="0">
                <a:solidFill>
                  <a:srgbClr val="4B5563"/>
                </a:solidFill>
              </a:rPr>
              <a:t>View analytics</a:t>
            </a:r>
          </a:p>
        </p:txBody>
      </p:sp>
      <p:sp>
        <p:nvSpPr>
          <p:cNvPr id="45" name="Rectangle 44">
            <a:extLst>
              <a:ext uri="{FF2B5EF4-FFF2-40B4-BE49-F238E27FC236}">
                <a16:creationId xmlns:a16="http://schemas.microsoft.com/office/drawing/2014/main" id="{CB59E621-D6E4-4604-8355-E3DA1E403B3A}"/>
              </a:ext>
            </a:extLst>
          </p:cNvPr>
          <p:cNvSpPr>
            <a:spLocks noGrp="1"/>
          </p:cNvSpPr>
          <p:nvPr/>
        </p:nvSpPr>
        <p:spPr>
          <a:xfrm>
            <a:off x="590550" y="3314700"/>
            <a:ext cx="2476500" cy="171450"/>
          </a:xfrm>
          <a:prstGeom prst="rect">
            <a:avLst/>
          </a:prstGeom>
          <a:noFill/>
          <a:ln w="0">
            <a:noFill/>
            <a:prstDash val="solid"/>
          </a:ln>
        </p:spPr>
        <p:txBody>
          <a:bodyPr/>
          <a:lstStyle/>
          <a:p>
            <a:pPr algn="l">
              <a:defRPr sz="825" b="1" i="0">
                <a:solidFill>
                  <a:srgbClr val="0F766E"/>
                </a:solidFill>
              </a:defRPr>
            </a:pPr>
            <a:r>
              <a:rPr sz="825" b="1" i="0">
                <a:solidFill>
                  <a:srgbClr val="0F766E"/>
                </a:solidFill>
              </a:rPr>
              <a:t>SCOPE BOUNDARY</a:t>
            </a:r>
          </a:p>
        </p:txBody>
      </p:sp>
      <p:sp>
        <p:nvSpPr>
          <p:cNvPr id="46" name="Rectangle: Rounded Corners 45">
            <a:extLst>
              <a:ext uri="{FF2B5EF4-FFF2-40B4-BE49-F238E27FC236}">
                <a16:creationId xmlns:a16="http://schemas.microsoft.com/office/drawing/2014/main" id="{E73162AE-EB78-49F3-9539-B9EBB0B391BB}"/>
              </a:ext>
            </a:extLst>
          </p:cNvPr>
          <p:cNvSpPr>
            <a:spLocks noGrp="1"/>
          </p:cNvSpPr>
          <p:nvPr/>
        </p:nvSpPr>
        <p:spPr>
          <a:xfrm>
            <a:off x="590550" y="3552825"/>
            <a:ext cx="6800850" cy="2466975"/>
          </a:xfrm>
          <a:prstGeom prst="roundRect">
            <a:avLst>
              <a:gd name="adj" fmla="val 5405"/>
            </a:avLst>
          </a:prstGeom>
          <a:solidFill>
            <a:srgbClr val="FFFFFF"/>
          </a:solidFill>
          <a:ln w="9525">
            <a:solidFill>
              <a:srgbClr val="D1D5DB"/>
            </a:solidFill>
            <a:prstDash val="solid"/>
          </a:ln>
        </p:spPr>
      </p:sp>
      <p:sp>
        <p:nvSpPr>
          <p:cNvPr id="47" name="Rectangle: Rounded Corners 46">
            <a:extLst>
              <a:ext uri="{FF2B5EF4-FFF2-40B4-BE49-F238E27FC236}">
                <a16:creationId xmlns:a16="http://schemas.microsoft.com/office/drawing/2014/main" id="{C7AC7A6D-5264-4332-8E54-1F0189D459F8}"/>
              </a:ext>
            </a:extLst>
          </p:cNvPr>
          <p:cNvSpPr>
            <a:spLocks noGrp="1"/>
          </p:cNvSpPr>
          <p:nvPr/>
        </p:nvSpPr>
        <p:spPr>
          <a:xfrm>
            <a:off x="590550" y="3552825"/>
            <a:ext cx="6800850" cy="400050"/>
          </a:xfrm>
          <a:prstGeom prst="roundRect">
            <a:avLst>
              <a:gd name="adj" fmla="val 33333"/>
            </a:avLst>
          </a:prstGeom>
          <a:solidFill>
            <a:srgbClr val="0F766E"/>
          </a:solidFill>
          <a:ln w="0">
            <a:noFill/>
            <a:prstDash val="solid"/>
          </a:ln>
        </p:spPr>
      </p:sp>
      <p:sp>
        <p:nvSpPr>
          <p:cNvPr id="48" name="Rectangle 47">
            <a:extLst>
              <a:ext uri="{FF2B5EF4-FFF2-40B4-BE49-F238E27FC236}">
                <a16:creationId xmlns:a16="http://schemas.microsoft.com/office/drawing/2014/main" id="{49C9B8B4-75DD-4D9C-820F-E502C3734030}"/>
              </a:ext>
            </a:extLst>
          </p:cNvPr>
          <p:cNvSpPr>
            <a:spLocks noGrp="1"/>
          </p:cNvSpPr>
          <p:nvPr/>
        </p:nvSpPr>
        <p:spPr>
          <a:xfrm>
            <a:off x="819150" y="3657600"/>
            <a:ext cx="2667000" cy="190500"/>
          </a:xfrm>
          <a:prstGeom prst="rect">
            <a:avLst/>
          </a:prstGeom>
          <a:noFill/>
          <a:ln w="0">
            <a:noFill/>
            <a:prstDash val="solid"/>
          </a:ln>
        </p:spPr>
        <p:txBody>
          <a:bodyPr/>
          <a:lstStyle/>
          <a:p>
            <a:pPr algn="l">
              <a:defRPr sz="1125" b="1" i="0">
                <a:solidFill>
                  <a:srgbClr val="FFFFFF"/>
                </a:solidFill>
              </a:defRPr>
            </a:pPr>
            <a:r>
              <a:rPr sz="1125" b="1" i="0">
                <a:solidFill>
                  <a:srgbClr val="FFFFFF"/>
                </a:solidFill>
              </a:rPr>
              <a:t>IN SCOPE</a:t>
            </a:r>
          </a:p>
        </p:txBody>
      </p:sp>
      <p:pic>
        <p:nvPicPr>
          <p:cNvPr id="124" name="Graphic 123"/>
          <p:cNvPicPr>
            <a:picLocks noChangeAspect="1"/>
          </p:cNvPicPr>
          <p:nvPr/>
        </p:nvPicPr>
        <p:blipFill>
          <a:blip>
            <a:extLst>
              <a:ext uri="{96DAC541-7B7A-43D3-8B79-37D633B846F1}">
                <asvg:svgBlip xmlns:asvg="http://schemas.microsoft.com/office/drawing/2016/SVG/main" r:embed="rId7"/>
              </a:ext>
            </a:extLst>
          </a:blip>
          <a:stretch/>
        </p:blipFill>
        <p:spPr>
          <a:xfrm>
            <a:off x="828675" y="4114800"/>
            <a:ext cx="180975" cy="180975"/>
          </a:xfrm>
          <a:prstGeom prst="rect">
            <a:avLst/>
          </a:prstGeom>
        </p:spPr>
      </p:pic>
      <p:sp>
        <p:nvSpPr>
          <p:cNvPr id="50" name="Rectangle 49">
            <a:extLst>
              <a:ext uri="{FF2B5EF4-FFF2-40B4-BE49-F238E27FC236}">
                <a16:creationId xmlns:a16="http://schemas.microsoft.com/office/drawing/2014/main" id="{4F51F05B-E8F4-4C43-BF80-306C31ACC313}"/>
              </a:ext>
            </a:extLst>
          </p:cNvPr>
          <p:cNvSpPr>
            <a:spLocks noGrp="1"/>
          </p:cNvSpPr>
          <p:nvPr/>
        </p:nvSpPr>
        <p:spPr>
          <a:xfrm>
            <a:off x="1114425" y="4095750"/>
            <a:ext cx="2714625" cy="266700"/>
          </a:xfrm>
          <a:prstGeom prst="rect">
            <a:avLst/>
          </a:prstGeom>
          <a:noFill/>
          <a:ln w="0">
            <a:noFill/>
            <a:prstDash val="solid"/>
          </a:ln>
        </p:spPr>
        <p:txBody>
          <a:bodyPr/>
          <a:lstStyle/>
          <a:p>
            <a:pPr algn="l">
              <a:defRPr sz="1088" b="1" i="0">
                <a:solidFill>
                  <a:srgbClr val="172554"/>
                </a:solidFill>
              </a:defRPr>
            </a:pPr>
            <a:r>
              <a:rPr sz="1088" b="1" i="0">
                <a:solidFill>
                  <a:srgbClr val="172554"/>
                </a:solidFill>
              </a:rPr>
              <a:t>Public bus tracking in West Bengal</a:t>
            </a:r>
          </a:p>
        </p:txBody>
      </p:sp>
      <p:pic>
        <p:nvPicPr>
          <p:cNvPr id="126" name="Graphic 125"/>
          <p:cNvPicPr>
            <a:picLocks noChangeAspect="1"/>
          </p:cNvPicPr>
          <p:nvPr/>
        </p:nvPicPr>
        <p:blipFill>
          <a:blip>
            <a:extLst>
              <a:ext uri="{96DAC541-7B7A-43D3-8B79-37D633B846F1}">
                <asvg:svgBlip xmlns:asvg="http://schemas.microsoft.com/office/drawing/2016/SVG/main" r:embed="rId7"/>
              </a:ext>
            </a:extLst>
          </a:blip>
          <a:stretch/>
        </p:blipFill>
        <p:spPr>
          <a:xfrm>
            <a:off x="828675" y="4533900"/>
            <a:ext cx="180975" cy="180975"/>
          </a:xfrm>
          <a:prstGeom prst="rect">
            <a:avLst/>
          </a:prstGeom>
        </p:spPr>
      </p:pic>
      <p:sp>
        <p:nvSpPr>
          <p:cNvPr id="52" name="Rectangle 51">
            <a:extLst>
              <a:ext uri="{FF2B5EF4-FFF2-40B4-BE49-F238E27FC236}">
                <a16:creationId xmlns:a16="http://schemas.microsoft.com/office/drawing/2014/main" id="{5E21A986-1BD6-44FE-A035-E0D14995A0F9}"/>
              </a:ext>
            </a:extLst>
          </p:cNvPr>
          <p:cNvSpPr>
            <a:spLocks noGrp="1"/>
          </p:cNvSpPr>
          <p:nvPr/>
        </p:nvSpPr>
        <p:spPr>
          <a:xfrm>
            <a:off x="1114425" y="4514850"/>
            <a:ext cx="2714625" cy="266700"/>
          </a:xfrm>
          <a:prstGeom prst="rect">
            <a:avLst/>
          </a:prstGeom>
          <a:noFill/>
          <a:ln w="0">
            <a:noFill/>
            <a:prstDash val="solid"/>
          </a:ln>
        </p:spPr>
        <p:txBody>
          <a:bodyPr/>
          <a:lstStyle/>
          <a:p>
            <a:pPr algn="l">
              <a:defRPr sz="1088" b="1" i="0">
                <a:solidFill>
                  <a:srgbClr val="172554"/>
                </a:solidFill>
              </a:defRPr>
            </a:pPr>
            <a:r>
              <a:rPr sz="1088" b="1" i="0">
                <a:solidFill>
                  <a:srgbClr val="172554"/>
                </a:solidFill>
              </a:rPr>
              <a:t>Registered buses and routes</a:t>
            </a:r>
          </a:p>
        </p:txBody>
      </p:sp>
      <p:pic>
        <p:nvPicPr>
          <p:cNvPr id="128" name="Graphic 127"/>
          <p:cNvPicPr>
            <a:picLocks noChangeAspect="1"/>
          </p:cNvPicPr>
          <p:nvPr/>
        </p:nvPicPr>
        <p:blipFill>
          <a:blip>
            <a:extLst>
              <a:ext uri="{96DAC541-7B7A-43D3-8B79-37D633B846F1}">
                <asvg:svgBlip xmlns:asvg="http://schemas.microsoft.com/office/drawing/2016/SVG/main" r:embed="rId7"/>
              </a:ext>
            </a:extLst>
          </a:blip>
          <a:stretch/>
        </p:blipFill>
        <p:spPr>
          <a:xfrm>
            <a:off x="828675" y="4953000"/>
            <a:ext cx="180975" cy="180975"/>
          </a:xfrm>
          <a:prstGeom prst="rect">
            <a:avLst/>
          </a:prstGeom>
        </p:spPr>
      </p:pic>
      <p:sp>
        <p:nvSpPr>
          <p:cNvPr id="54" name="Rectangle 53">
            <a:extLst>
              <a:ext uri="{FF2B5EF4-FFF2-40B4-BE49-F238E27FC236}">
                <a16:creationId xmlns:a16="http://schemas.microsoft.com/office/drawing/2014/main" id="{CD47940C-8294-4377-9A72-B4A4ADDF006C}"/>
              </a:ext>
            </a:extLst>
          </p:cNvPr>
          <p:cNvSpPr>
            <a:spLocks noGrp="1"/>
          </p:cNvSpPr>
          <p:nvPr/>
        </p:nvSpPr>
        <p:spPr>
          <a:xfrm>
            <a:off x="1114425" y="4933950"/>
            <a:ext cx="2714625" cy="266700"/>
          </a:xfrm>
          <a:prstGeom prst="rect">
            <a:avLst/>
          </a:prstGeom>
          <a:noFill/>
          <a:ln w="0">
            <a:noFill/>
            <a:prstDash val="solid"/>
          </a:ln>
        </p:spPr>
        <p:txBody>
          <a:bodyPr/>
          <a:lstStyle/>
          <a:p>
            <a:pPr algn="l">
              <a:defRPr sz="1088" b="1" i="0">
                <a:solidFill>
                  <a:srgbClr val="172554"/>
                </a:solidFill>
              </a:defRPr>
            </a:pPr>
            <a:r>
              <a:rPr sz="1088" b="1" i="0">
                <a:solidFill>
                  <a:srgbClr val="172554"/>
                </a:solidFill>
              </a:rPr>
              <a:t>Trip lifecycle</a:t>
            </a:r>
          </a:p>
        </p:txBody>
      </p:sp>
      <p:pic>
        <p:nvPicPr>
          <p:cNvPr id="130" name="Graphic 129"/>
          <p:cNvPicPr>
            <a:picLocks noChangeAspect="1"/>
          </p:cNvPicPr>
          <p:nvPr/>
        </p:nvPicPr>
        <p:blipFill>
          <a:blip>
            <a:extLst>
              <a:ext uri="{96DAC541-7B7A-43D3-8B79-37D633B846F1}">
                <asvg:svgBlip xmlns:asvg="http://schemas.microsoft.com/office/drawing/2016/SVG/main" r:embed="rId7"/>
              </a:ext>
            </a:extLst>
          </a:blip>
          <a:stretch/>
        </p:blipFill>
        <p:spPr>
          <a:xfrm>
            <a:off x="828675" y="5372100"/>
            <a:ext cx="180975" cy="180975"/>
          </a:xfrm>
          <a:prstGeom prst="rect">
            <a:avLst/>
          </a:prstGeom>
        </p:spPr>
      </p:pic>
      <p:sp>
        <p:nvSpPr>
          <p:cNvPr id="56" name="Rectangle 55">
            <a:extLst>
              <a:ext uri="{FF2B5EF4-FFF2-40B4-BE49-F238E27FC236}">
                <a16:creationId xmlns:a16="http://schemas.microsoft.com/office/drawing/2014/main" id="{EA8B4A87-839B-48EE-97E3-53774B834236}"/>
              </a:ext>
            </a:extLst>
          </p:cNvPr>
          <p:cNvSpPr>
            <a:spLocks noGrp="1"/>
          </p:cNvSpPr>
          <p:nvPr/>
        </p:nvSpPr>
        <p:spPr>
          <a:xfrm>
            <a:off x="1114425" y="5353050"/>
            <a:ext cx="2714625" cy="266700"/>
          </a:xfrm>
          <a:prstGeom prst="rect">
            <a:avLst/>
          </a:prstGeom>
          <a:noFill/>
          <a:ln w="0">
            <a:noFill/>
            <a:prstDash val="solid"/>
          </a:ln>
        </p:spPr>
        <p:txBody>
          <a:bodyPr/>
          <a:lstStyle/>
          <a:p>
            <a:pPr algn="l">
              <a:defRPr sz="1088" b="1" i="0">
                <a:solidFill>
                  <a:srgbClr val="172554"/>
                </a:solidFill>
              </a:defRPr>
            </a:pPr>
            <a:r>
              <a:rPr sz="1088" b="1" i="0">
                <a:solidFill>
                  <a:srgbClr val="172554"/>
                </a:solidFill>
              </a:rPr>
              <a:t>Breakdown and delay handling</a:t>
            </a:r>
          </a:p>
        </p:txBody>
      </p:sp>
      <p:pic>
        <p:nvPicPr>
          <p:cNvPr id="132" name="Graphic 131"/>
          <p:cNvPicPr>
            <a:picLocks noChangeAspect="1"/>
          </p:cNvPicPr>
          <p:nvPr/>
        </p:nvPicPr>
        <p:blipFill>
          <a:blip>
            <a:extLst>
              <a:ext uri="{96DAC541-7B7A-43D3-8B79-37D633B846F1}">
                <asvg:svgBlip xmlns:asvg="http://schemas.microsoft.com/office/drawing/2016/SVG/main" r:embed="rId7"/>
              </a:ext>
            </a:extLst>
          </a:blip>
          <a:stretch/>
        </p:blipFill>
        <p:spPr>
          <a:xfrm>
            <a:off x="3971925" y="4114800"/>
            <a:ext cx="180975" cy="180975"/>
          </a:xfrm>
          <a:prstGeom prst="rect">
            <a:avLst/>
          </a:prstGeom>
        </p:spPr>
      </p:pic>
      <p:sp>
        <p:nvSpPr>
          <p:cNvPr id="58" name="Rectangle 57">
            <a:extLst>
              <a:ext uri="{FF2B5EF4-FFF2-40B4-BE49-F238E27FC236}">
                <a16:creationId xmlns:a16="http://schemas.microsoft.com/office/drawing/2014/main" id="{B2370E3D-B2BD-4970-93E7-0402BF845A11}"/>
              </a:ext>
            </a:extLst>
          </p:cNvPr>
          <p:cNvSpPr>
            <a:spLocks noGrp="1"/>
          </p:cNvSpPr>
          <p:nvPr/>
        </p:nvSpPr>
        <p:spPr>
          <a:xfrm>
            <a:off x="4257675" y="4095750"/>
            <a:ext cx="2714625" cy="266700"/>
          </a:xfrm>
          <a:prstGeom prst="rect">
            <a:avLst/>
          </a:prstGeom>
          <a:noFill/>
          <a:ln w="0">
            <a:noFill/>
            <a:prstDash val="solid"/>
          </a:ln>
        </p:spPr>
        <p:txBody>
          <a:bodyPr/>
          <a:lstStyle/>
          <a:p>
            <a:pPr algn="l">
              <a:defRPr sz="1088" b="1" i="0">
                <a:solidFill>
                  <a:srgbClr val="172554"/>
                </a:solidFill>
              </a:defRPr>
            </a:pPr>
            <a:r>
              <a:rPr sz="1088" b="1" i="0">
                <a:solidFill>
                  <a:srgbClr val="172554"/>
                </a:solidFill>
              </a:rPr>
              <a:t>Multilingual interface</a:t>
            </a:r>
          </a:p>
        </p:txBody>
      </p:sp>
      <p:pic>
        <p:nvPicPr>
          <p:cNvPr id="134" name="Graphic 133"/>
          <p:cNvPicPr>
            <a:picLocks noChangeAspect="1"/>
          </p:cNvPicPr>
          <p:nvPr/>
        </p:nvPicPr>
        <p:blipFill>
          <a:blip>
            <a:extLst>
              <a:ext uri="{96DAC541-7B7A-43D3-8B79-37D633B846F1}">
                <asvg:svgBlip xmlns:asvg="http://schemas.microsoft.com/office/drawing/2016/SVG/main" r:embed="rId7"/>
              </a:ext>
            </a:extLst>
          </a:blip>
          <a:stretch/>
        </p:blipFill>
        <p:spPr>
          <a:xfrm>
            <a:off x="3971925" y="4533900"/>
            <a:ext cx="180975" cy="180975"/>
          </a:xfrm>
          <a:prstGeom prst="rect">
            <a:avLst/>
          </a:prstGeom>
        </p:spPr>
      </p:pic>
      <p:sp>
        <p:nvSpPr>
          <p:cNvPr id="60" name="Rectangle 59">
            <a:extLst>
              <a:ext uri="{FF2B5EF4-FFF2-40B4-BE49-F238E27FC236}">
                <a16:creationId xmlns:a16="http://schemas.microsoft.com/office/drawing/2014/main" id="{069C18E2-050F-45A3-B23E-C7B7A6EEE34A}"/>
              </a:ext>
            </a:extLst>
          </p:cNvPr>
          <p:cNvSpPr>
            <a:spLocks noGrp="1"/>
          </p:cNvSpPr>
          <p:nvPr/>
        </p:nvSpPr>
        <p:spPr>
          <a:xfrm>
            <a:off x="4257675" y="4514850"/>
            <a:ext cx="2714625" cy="266700"/>
          </a:xfrm>
          <a:prstGeom prst="rect">
            <a:avLst/>
          </a:prstGeom>
          <a:noFill/>
          <a:ln w="0">
            <a:noFill/>
            <a:prstDash val="solid"/>
          </a:ln>
        </p:spPr>
        <p:txBody>
          <a:bodyPr/>
          <a:lstStyle/>
          <a:p>
            <a:pPr algn="l">
              <a:defRPr sz="1088" b="1" i="0">
                <a:solidFill>
                  <a:srgbClr val="172554"/>
                </a:solidFill>
              </a:defRPr>
            </a:pPr>
            <a:r>
              <a:rPr sz="1088" b="1" i="0">
                <a:solidFill>
                  <a:srgbClr val="172554"/>
                </a:solidFill>
              </a:rPr>
              <a:t>SOS safety features</a:t>
            </a:r>
          </a:p>
        </p:txBody>
      </p:sp>
      <p:pic>
        <p:nvPicPr>
          <p:cNvPr id="136" name="Graphic 135"/>
          <p:cNvPicPr>
            <a:picLocks noChangeAspect="1"/>
          </p:cNvPicPr>
          <p:nvPr/>
        </p:nvPicPr>
        <p:blipFill>
          <a:blip>
            <a:extLst>
              <a:ext uri="{96DAC541-7B7A-43D3-8B79-37D633B846F1}">
                <asvg:svgBlip xmlns:asvg="http://schemas.microsoft.com/office/drawing/2016/SVG/main" r:embed="rId7"/>
              </a:ext>
            </a:extLst>
          </a:blip>
          <a:stretch/>
        </p:blipFill>
        <p:spPr>
          <a:xfrm>
            <a:off x="3971925" y="4953000"/>
            <a:ext cx="180975" cy="180975"/>
          </a:xfrm>
          <a:prstGeom prst="rect">
            <a:avLst/>
          </a:prstGeom>
        </p:spPr>
      </p:pic>
      <p:sp>
        <p:nvSpPr>
          <p:cNvPr id="62" name="Rectangle 61">
            <a:extLst>
              <a:ext uri="{FF2B5EF4-FFF2-40B4-BE49-F238E27FC236}">
                <a16:creationId xmlns:a16="http://schemas.microsoft.com/office/drawing/2014/main" id="{7BECBE0E-60A1-4456-972D-58C8D15D5AF1}"/>
              </a:ext>
            </a:extLst>
          </p:cNvPr>
          <p:cNvSpPr>
            <a:spLocks noGrp="1"/>
          </p:cNvSpPr>
          <p:nvPr/>
        </p:nvSpPr>
        <p:spPr>
          <a:xfrm>
            <a:off x="4257675" y="4933950"/>
            <a:ext cx="2714625" cy="266700"/>
          </a:xfrm>
          <a:prstGeom prst="rect">
            <a:avLst/>
          </a:prstGeom>
          <a:noFill/>
          <a:ln w="0">
            <a:noFill/>
            <a:prstDash val="solid"/>
          </a:ln>
        </p:spPr>
        <p:txBody>
          <a:bodyPr/>
          <a:lstStyle/>
          <a:p>
            <a:pPr algn="l">
              <a:defRPr sz="1088" b="1" i="0">
                <a:solidFill>
                  <a:srgbClr val="172554"/>
                </a:solidFill>
              </a:defRPr>
            </a:pPr>
            <a:r>
              <a:rPr sz="1088" b="1" i="0">
                <a:solidFill>
                  <a:srgbClr val="172554"/>
                </a:solidFill>
              </a:rPr>
              <a:t>Administrator dashboard</a:t>
            </a:r>
          </a:p>
        </p:txBody>
      </p:sp>
      <p:sp>
        <p:nvSpPr>
          <p:cNvPr id="64" name="Rectangle: Rounded Corners 63">
            <a:extLst>
              <a:ext uri="{FF2B5EF4-FFF2-40B4-BE49-F238E27FC236}">
                <a16:creationId xmlns:a16="http://schemas.microsoft.com/office/drawing/2014/main" id="{FE2DAEF0-4CB9-4BD4-9292-51EC43FBF7D3}"/>
              </a:ext>
            </a:extLst>
          </p:cNvPr>
          <p:cNvSpPr>
            <a:spLocks noGrp="1"/>
          </p:cNvSpPr>
          <p:nvPr/>
        </p:nvSpPr>
        <p:spPr>
          <a:xfrm>
            <a:off x="7639050" y="3552825"/>
            <a:ext cx="3962400" cy="400050"/>
          </a:xfrm>
          <a:prstGeom prst="roundRect">
            <a:avLst>
              <a:gd name="adj" fmla="val 33333"/>
            </a:avLst>
          </a:prstGeom>
          <a:solidFill>
            <a:srgbClr val="1E3A8A"/>
          </a:solidFill>
          <a:ln w="0">
            <a:noFill/>
            <a:prstDash val="solid"/>
          </a:ln>
        </p:spPr>
      </p:sp>
      <p:sp>
        <p:nvSpPr>
          <p:cNvPr id="65" name="Rectangle 64">
            <a:extLst>
              <a:ext uri="{FF2B5EF4-FFF2-40B4-BE49-F238E27FC236}">
                <a16:creationId xmlns:a16="http://schemas.microsoft.com/office/drawing/2014/main" id="{9682C30B-7B7B-48F1-B68B-7FB21943C6F2}"/>
              </a:ext>
            </a:extLst>
          </p:cNvPr>
          <p:cNvSpPr>
            <a:spLocks noGrp="1"/>
          </p:cNvSpPr>
          <p:nvPr/>
        </p:nvSpPr>
        <p:spPr>
          <a:xfrm>
            <a:off x="7867650" y="3657600"/>
            <a:ext cx="3238500" cy="190500"/>
          </a:xfrm>
          <a:prstGeom prst="rect">
            <a:avLst/>
          </a:prstGeom>
          <a:noFill/>
          <a:ln w="0">
            <a:noFill/>
            <a:prstDash val="solid"/>
          </a:ln>
        </p:spPr>
        <p:txBody>
          <a:bodyPr/>
          <a:lstStyle/>
          <a:p>
            <a:pPr algn="l">
              <a:defRPr sz="1125" b="1" i="0">
                <a:solidFill>
                  <a:srgbClr val="FFFFFF"/>
                </a:solidFill>
              </a:defRPr>
            </a:pPr>
            <a:r>
              <a:rPr sz="1125" b="1" i="0">
                <a:solidFill>
                  <a:srgbClr val="FFFFFF"/>
                </a:solidFill>
              </a:rPr>
              <a:t>NOT IN VERSION ONE</a:t>
            </a:r>
          </a:p>
        </p:txBody>
      </p:sp>
      <p:pic>
        <p:nvPicPr>
          <p:cNvPr id="141" name="Graphic 140"/>
          <p:cNvPicPr>
            <a:picLocks noChangeAspect="1"/>
          </p:cNvPicPr>
          <p:nvPr/>
        </p:nvPicPr>
        <p:blipFill>
          <a:blip>
            <a:extLst>
              <a:ext uri="{96DAC541-7B7A-43D3-8B79-37D633B846F1}">
                <asvg:svgBlip xmlns:asvg="http://schemas.microsoft.com/office/drawing/2016/SVG/main" r:embed="rId8"/>
              </a:ext>
            </a:extLst>
          </a:blip>
          <a:stretch/>
        </p:blipFill>
        <p:spPr>
          <a:xfrm>
            <a:off x="7804594" y="4262437"/>
            <a:ext cx="180975" cy="180975"/>
          </a:xfrm>
          <a:prstGeom prst="rect">
            <a:avLst/>
          </a:prstGeom>
        </p:spPr>
      </p:pic>
      <p:sp>
        <p:nvSpPr>
          <p:cNvPr id="67" name="Rectangle 66">
            <a:extLst>
              <a:ext uri="{FF2B5EF4-FFF2-40B4-BE49-F238E27FC236}">
                <a16:creationId xmlns:a16="http://schemas.microsoft.com/office/drawing/2014/main" id="{B005A502-1397-4786-BDCB-6351E4761CA8}"/>
              </a:ext>
            </a:extLst>
          </p:cNvPr>
          <p:cNvSpPr>
            <a:spLocks noGrp="1"/>
          </p:cNvSpPr>
          <p:nvPr/>
        </p:nvSpPr>
        <p:spPr>
          <a:xfrm>
            <a:off x="8156064" y="4219574"/>
            <a:ext cx="3086100" cy="266700"/>
          </a:xfrm>
          <a:prstGeom prst="rect">
            <a:avLst/>
          </a:prstGeom>
          <a:noFill/>
          <a:ln w="0">
            <a:noFill/>
            <a:prstDash val="solid"/>
          </a:ln>
        </p:spPr>
        <p:txBody>
          <a:bodyPr/>
          <a:lstStyle/>
          <a:p>
            <a:pPr algn="l">
              <a:defRPr sz="1088" b="1" i="0">
                <a:solidFill>
                  <a:srgbClr val="4B5563"/>
                </a:solidFill>
              </a:defRPr>
            </a:pPr>
            <a:r>
              <a:rPr sz="1088" b="1" i="0" dirty="0">
                <a:solidFill>
                  <a:srgbClr val="4B5563"/>
                </a:solidFill>
              </a:rPr>
              <a:t>Ticketing and fare collection</a:t>
            </a:r>
          </a:p>
        </p:txBody>
      </p:sp>
      <p:pic>
        <p:nvPicPr>
          <p:cNvPr id="143" name="Graphic 142"/>
          <p:cNvPicPr>
            <a:picLocks noChangeAspect="1"/>
          </p:cNvPicPr>
          <p:nvPr/>
        </p:nvPicPr>
        <p:blipFill>
          <a:blip>
            <a:extLst>
              <a:ext uri="{96DAC541-7B7A-43D3-8B79-37D633B846F1}">
                <asvg:svgBlip xmlns:asvg="http://schemas.microsoft.com/office/drawing/2016/SVG/main" r:embed="rId8"/>
              </a:ext>
            </a:extLst>
          </a:blip>
          <a:stretch/>
        </p:blipFill>
        <p:spPr>
          <a:xfrm>
            <a:off x="7824786" y="4919091"/>
            <a:ext cx="180975" cy="180975"/>
          </a:xfrm>
          <a:prstGeom prst="rect">
            <a:avLst/>
          </a:prstGeom>
        </p:spPr>
      </p:pic>
      <p:sp>
        <p:nvSpPr>
          <p:cNvPr id="69" name="Rectangle 68">
            <a:extLst>
              <a:ext uri="{FF2B5EF4-FFF2-40B4-BE49-F238E27FC236}">
                <a16:creationId xmlns:a16="http://schemas.microsoft.com/office/drawing/2014/main" id="{05F75A3C-26FE-4CC9-B511-E2D53B453C5F}"/>
              </a:ext>
            </a:extLst>
          </p:cNvPr>
          <p:cNvSpPr>
            <a:spLocks noGrp="1"/>
          </p:cNvSpPr>
          <p:nvPr/>
        </p:nvSpPr>
        <p:spPr>
          <a:xfrm>
            <a:off x="8156064" y="4857369"/>
            <a:ext cx="3086100" cy="266700"/>
          </a:xfrm>
          <a:prstGeom prst="rect">
            <a:avLst/>
          </a:prstGeom>
          <a:noFill/>
          <a:ln w="0">
            <a:noFill/>
            <a:prstDash val="solid"/>
          </a:ln>
        </p:spPr>
        <p:txBody>
          <a:bodyPr/>
          <a:lstStyle/>
          <a:p>
            <a:pPr algn="l">
              <a:defRPr sz="1088" b="1" i="0">
                <a:solidFill>
                  <a:srgbClr val="4B5563"/>
                </a:solidFill>
              </a:defRPr>
            </a:pPr>
            <a:r>
              <a:rPr sz="1088" b="1" i="0" dirty="0">
                <a:solidFill>
                  <a:srgbClr val="4B5563"/>
                </a:solidFill>
              </a:rPr>
              <a:t>GPS hardware in buses</a:t>
            </a:r>
          </a:p>
        </p:txBody>
      </p:sp>
      <p:sp>
        <p:nvSpPr>
          <p:cNvPr id="71" name="Rectangle 70">
            <a:extLst>
              <a:ext uri="{FF2B5EF4-FFF2-40B4-BE49-F238E27FC236}">
                <a16:creationId xmlns:a16="http://schemas.microsoft.com/office/drawing/2014/main" id="{C3F2BBE4-2A86-4385-9692-2BB80BF4F2AB}"/>
              </a:ext>
            </a:extLst>
          </p:cNvPr>
          <p:cNvSpPr>
            <a:spLocks noGrp="1"/>
          </p:cNvSpPr>
          <p:nvPr/>
        </p:nvSpPr>
        <p:spPr>
          <a:xfrm>
            <a:off x="8172450" y="4991100"/>
            <a:ext cx="3086100" cy="266700"/>
          </a:xfrm>
          <a:prstGeom prst="rect">
            <a:avLst/>
          </a:prstGeom>
          <a:noFill/>
          <a:ln w="0">
            <a:noFill/>
            <a:prstDash val="solid"/>
          </a:ln>
        </p:spPr>
        <p:txBody>
          <a:bodyPr/>
          <a:lstStyle/>
          <a:p>
            <a:pPr algn="l">
              <a:defRPr sz="1088" b="1" i="0">
                <a:solidFill>
                  <a:srgbClr val="4B5563"/>
                </a:solidFill>
              </a:defRPr>
            </a:pPr>
            <a:endParaRPr sz="1088" b="1" i="0" dirty="0">
              <a:solidFill>
                <a:srgbClr val="4B5563"/>
              </a:solidFill>
            </a:endParaRPr>
          </a:p>
        </p:txBody>
      </p:sp>
      <p:pic>
        <p:nvPicPr>
          <p:cNvPr id="147" name="Graphic 146"/>
          <p:cNvPicPr>
            <a:picLocks noChangeAspect="1"/>
          </p:cNvPicPr>
          <p:nvPr/>
        </p:nvPicPr>
        <p:blipFill>
          <a:blip>
            <a:extLst>
              <a:ext uri="{96DAC541-7B7A-43D3-8B79-37D633B846F1}">
                <asvg:svgBlip xmlns:asvg="http://schemas.microsoft.com/office/drawing/2016/SVG/main" r:embed="rId8"/>
              </a:ext>
            </a:extLst>
          </a:blip>
          <a:stretch/>
        </p:blipFill>
        <p:spPr>
          <a:xfrm>
            <a:off x="7824787" y="5574793"/>
            <a:ext cx="180975" cy="180975"/>
          </a:xfrm>
          <a:prstGeom prst="rect">
            <a:avLst/>
          </a:prstGeom>
        </p:spPr>
      </p:pic>
      <p:sp>
        <p:nvSpPr>
          <p:cNvPr id="73" name="Rectangle 72">
            <a:extLst>
              <a:ext uri="{FF2B5EF4-FFF2-40B4-BE49-F238E27FC236}">
                <a16:creationId xmlns:a16="http://schemas.microsoft.com/office/drawing/2014/main" id="{289A9657-B815-4FAD-8EF0-B8D3130CE562}"/>
              </a:ext>
            </a:extLst>
          </p:cNvPr>
          <p:cNvSpPr>
            <a:spLocks noGrp="1"/>
          </p:cNvSpPr>
          <p:nvPr/>
        </p:nvSpPr>
        <p:spPr>
          <a:xfrm>
            <a:off x="8172450" y="5512880"/>
            <a:ext cx="3086100" cy="266700"/>
          </a:xfrm>
          <a:prstGeom prst="rect">
            <a:avLst/>
          </a:prstGeom>
          <a:noFill/>
          <a:ln w="0">
            <a:noFill/>
            <a:prstDash val="solid"/>
          </a:ln>
        </p:spPr>
        <p:txBody>
          <a:bodyPr/>
          <a:lstStyle/>
          <a:p>
            <a:pPr algn="l">
              <a:defRPr sz="1088" b="1" i="0">
                <a:solidFill>
                  <a:srgbClr val="4B5563"/>
                </a:solidFill>
              </a:defRPr>
            </a:pPr>
            <a:r>
              <a:rPr sz="1088" b="1" i="0" dirty="0">
                <a:solidFill>
                  <a:srgbClr val="4B5563"/>
                </a:solidFill>
              </a:rPr>
              <a:t>Live third-party traffic feeds</a:t>
            </a:r>
          </a:p>
        </p:txBody>
      </p:sp>
      <p:sp>
        <p:nvSpPr>
          <p:cNvPr id="75" name="Rectangle 74">
            <a:extLst>
              <a:ext uri="{FF2B5EF4-FFF2-40B4-BE49-F238E27FC236}">
                <a16:creationId xmlns:a16="http://schemas.microsoft.com/office/drawing/2014/main" id="{92A45165-3B66-4848-820B-CB4C1CDAC1A2}"/>
              </a:ext>
            </a:extLst>
          </p:cNvPr>
          <p:cNvSpPr>
            <a:spLocks noGrp="1"/>
          </p:cNvSpPr>
          <p:nvPr/>
        </p:nvSpPr>
        <p:spPr>
          <a:xfrm>
            <a:off x="7981950" y="5705475"/>
            <a:ext cx="3276600" cy="142875"/>
          </a:xfrm>
          <a:prstGeom prst="rect">
            <a:avLst/>
          </a:prstGeom>
          <a:noFill/>
          <a:ln w="0">
            <a:noFill/>
            <a:prstDash val="solid"/>
          </a:ln>
        </p:spPr>
        <p:txBody>
          <a:bodyPr/>
          <a:lstStyle/>
          <a:p>
            <a:pPr algn="ctr">
              <a:defRPr sz="788" b="1" i="0">
                <a:solidFill>
                  <a:srgbClr val="EA580C"/>
                </a:solidFill>
              </a:defRPr>
            </a:pPr>
            <a:endParaRPr sz="788" b="1" i="0" dirty="0">
              <a:solidFill>
                <a:srgbClr val="EA580C"/>
              </a:solidFill>
            </a:endParaRPr>
          </a:p>
        </p:txBody>
      </p:sp>
    </p:spTree>
    <p:extLst>
      <p:ext uri="{BB962C8B-B14F-4D97-AF65-F5344CB8AC3E}">
        <p14:creationId xmlns:p14="http://schemas.microsoft.com/office/powerpoint/2010/main" val="156685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 name="Rectangle: Rounded Corners 59">
            <a:extLst>
              <a:ext uri="{FF2B5EF4-FFF2-40B4-BE49-F238E27FC236}">
                <a16:creationId xmlns:a16="http://schemas.microsoft.com/office/drawing/2014/main" id="{4B5135CE-43B2-403C-AA2C-8E80A7BCD10E}"/>
              </a:ext>
            </a:extLst>
          </p:cNvPr>
          <p:cNvSpPr>
            <a:spLocks noGrp="1"/>
          </p:cNvSpPr>
          <p:nvPr/>
        </p:nvSpPr>
        <p:spPr>
          <a:xfrm>
            <a:off x="514350" y="323850"/>
            <a:ext cx="76200" cy="552450"/>
          </a:xfrm>
          <a:prstGeom prst="roundRect">
            <a:avLst>
              <a:gd name="adj" fmla="val 50000"/>
            </a:avLst>
          </a:prstGeom>
          <a:solidFill>
            <a:srgbClr val="EA580C"/>
          </a:solidFill>
          <a:ln w="0">
            <a:noFill/>
            <a:prstDash val="solid"/>
          </a:ln>
        </p:spPr>
      </p:sp>
      <p:sp>
        <p:nvSpPr>
          <p:cNvPr id="2" name="Oval 1">
            <a:extLst>
              <a:ext uri="{FF2B5EF4-FFF2-40B4-BE49-F238E27FC236}">
                <a16:creationId xmlns:a16="http://schemas.microsoft.com/office/drawing/2014/main" id="{0A161557-E3FA-4DA9-81E2-F3F61AA4F8E0}"/>
              </a:ext>
            </a:extLst>
          </p:cNvPr>
          <p:cNvSpPr>
            <a:spLocks noGrp="1"/>
          </p:cNvSpPr>
          <p:nvPr/>
        </p:nvSpPr>
        <p:spPr>
          <a:xfrm>
            <a:off x="742950" y="361950"/>
            <a:ext cx="457200" cy="457200"/>
          </a:xfrm>
          <a:prstGeom prst="ellipse">
            <a:avLst/>
          </a:prstGeom>
          <a:solidFill>
            <a:srgbClr val="EEF2FF"/>
          </a:solidFill>
          <a:ln w="0">
            <a:noFill/>
            <a:prstDash val="solid"/>
          </a:ln>
        </p:spPr>
      </p:sp>
      <p:pic>
        <p:nvPicPr>
          <p:cNvPr id="62" name="Graphic 61"/>
          <p:cNvPicPr>
            <a:picLocks noChangeAspect="1"/>
          </p:cNvPicPr>
          <p:nvPr/>
        </p:nvPicPr>
        <p:blipFill>
          <a:blip>
            <a:extLst>
              <a:ext uri="{96DAC541-7B7A-43D3-8B79-37D633B846F1}">
                <asvg:svgBlip xmlns:asvg="http://schemas.microsoft.com/office/drawing/2016/SVG/main" r:embed="rId3"/>
              </a:ext>
            </a:extLst>
          </a:blip>
          <a:stretch/>
        </p:blipFill>
        <p:spPr>
          <a:xfrm>
            <a:off x="848106" y="467106"/>
            <a:ext cx="246888" cy="246888"/>
          </a:xfrm>
          <a:prstGeom prst="rect">
            <a:avLst/>
          </a:prstGeom>
        </p:spPr>
      </p:pic>
      <p:sp>
        <p:nvSpPr>
          <p:cNvPr id="4" name="Rectangle 3">
            <a:extLst>
              <a:ext uri="{FF2B5EF4-FFF2-40B4-BE49-F238E27FC236}">
                <a16:creationId xmlns:a16="http://schemas.microsoft.com/office/drawing/2014/main" id="{52DF461F-FC78-4503-8E07-8AAF507643C4}"/>
              </a:ext>
            </a:extLst>
          </p:cNvPr>
          <p:cNvSpPr>
            <a:spLocks noGrp="1"/>
          </p:cNvSpPr>
          <p:nvPr/>
        </p:nvSpPr>
        <p:spPr>
          <a:xfrm>
            <a:off x="1352550" y="361950"/>
            <a:ext cx="4762500" cy="171450"/>
          </a:xfrm>
          <a:prstGeom prst="rect">
            <a:avLst/>
          </a:prstGeom>
          <a:noFill/>
          <a:ln w="0">
            <a:noFill/>
            <a:prstDash val="solid"/>
          </a:ln>
        </p:spPr>
        <p:txBody>
          <a:bodyPr/>
          <a:lstStyle/>
          <a:p>
            <a:pPr algn="l">
              <a:defRPr sz="825" b="1" i="0">
                <a:solidFill>
                  <a:srgbClr val="0F766E"/>
                </a:solidFill>
              </a:defRPr>
            </a:pPr>
            <a:r>
              <a:rPr sz="825" b="1" i="0">
                <a:solidFill>
                  <a:srgbClr val="0F766E"/>
                </a:solidFill>
              </a:rPr>
              <a:t>SOLUTION GOALS</a:t>
            </a:r>
          </a:p>
        </p:txBody>
      </p:sp>
      <p:sp>
        <p:nvSpPr>
          <p:cNvPr id="5" name="Rectangle 4">
            <a:extLst>
              <a:ext uri="{FF2B5EF4-FFF2-40B4-BE49-F238E27FC236}">
                <a16:creationId xmlns:a16="http://schemas.microsoft.com/office/drawing/2014/main" id="{88DF88B0-8AC9-410A-9907-CF83F67DCF4E}"/>
              </a:ext>
            </a:extLst>
          </p:cNvPr>
          <p:cNvSpPr>
            <a:spLocks noGrp="1"/>
          </p:cNvSpPr>
          <p:nvPr/>
        </p:nvSpPr>
        <p:spPr>
          <a:xfrm>
            <a:off x="1352550" y="552450"/>
            <a:ext cx="9906000" cy="409575"/>
          </a:xfrm>
          <a:prstGeom prst="rect">
            <a:avLst/>
          </a:prstGeom>
          <a:noFill/>
          <a:ln w="0">
            <a:noFill/>
            <a:prstDash val="solid"/>
          </a:ln>
        </p:spPr>
        <p:txBody>
          <a:bodyPr/>
          <a:lstStyle/>
          <a:p>
            <a:pPr algn="l">
              <a:defRPr sz="2700" b="1" i="0">
                <a:solidFill>
                  <a:srgbClr val="172554"/>
                </a:solidFill>
              </a:defRPr>
            </a:pPr>
            <a:r>
              <a:rPr sz="2700" b="1" i="0">
                <a:solidFill>
                  <a:srgbClr val="172554"/>
                </a:solidFill>
              </a:rPr>
              <a:t>Objectives of the System</a:t>
            </a:r>
          </a:p>
        </p:txBody>
      </p:sp>
      <p:sp>
        <p:nvSpPr>
          <p:cNvPr id="6" name="Straight Connector 5">
            <a:extLst>
              <a:ext uri="{FF2B5EF4-FFF2-40B4-BE49-F238E27FC236}">
                <a16:creationId xmlns:a16="http://schemas.microsoft.com/office/drawing/2014/main" id="{D7B13E1C-056D-48D0-9FBD-6925E413DD02}"/>
              </a:ext>
            </a:extLst>
          </p:cNvPr>
          <p:cNvSpPr>
            <a:spLocks noGrp="1"/>
          </p:cNvSpPr>
          <p:nvPr/>
        </p:nvSpPr>
        <p:spPr>
          <a:xfrm>
            <a:off x="514350" y="6419850"/>
            <a:ext cx="11163300" cy="0"/>
          </a:xfrm>
          <a:prstGeom prst="line">
            <a:avLst/>
          </a:prstGeom>
          <a:noFill/>
          <a:ln w="9525">
            <a:solidFill>
              <a:srgbClr val="D1D5DB"/>
            </a:solidFill>
            <a:prstDash val="solid"/>
          </a:ln>
        </p:spPr>
      </p:sp>
      <p:sp>
        <p:nvSpPr>
          <p:cNvPr id="7" name="Rectangle 6">
            <a:extLst>
              <a:ext uri="{FF2B5EF4-FFF2-40B4-BE49-F238E27FC236}">
                <a16:creationId xmlns:a16="http://schemas.microsoft.com/office/drawing/2014/main" id="{1FA28446-2073-43D0-8D28-B63B4EDF07F8}"/>
              </a:ext>
            </a:extLst>
          </p:cNvPr>
          <p:cNvSpPr>
            <a:spLocks noGrp="1"/>
          </p:cNvSpPr>
          <p:nvPr/>
        </p:nvSpPr>
        <p:spPr>
          <a:xfrm>
            <a:off x="571500" y="6515100"/>
            <a:ext cx="6858000" cy="171450"/>
          </a:xfrm>
          <a:prstGeom prst="rect">
            <a:avLst/>
          </a:prstGeom>
          <a:noFill/>
          <a:ln w="0">
            <a:noFill/>
            <a:prstDash val="solid"/>
          </a:ln>
        </p:spPr>
        <p:txBody>
          <a:bodyPr/>
          <a:lstStyle/>
          <a:p>
            <a:pPr algn="l">
              <a:defRPr sz="825" b="1" i="0">
                <a:solidFill>
                  <a:srgbClr val="4B5563"/>
                </a:solidFill>
              </a:defRPr>
            </a:pPr>
            <a:r>
              <a:rPr sz="825" b="1" i="0" dirty="0">
                <a:solidFill>
                  <a:srgbClr val="4B5563"/>
                </a:solidFill>
              </a:rPr>
              <a:t>Smart Public Bus Management System </a:t>
            </a:r>
          </a:p>
        </p:txBody>
      </p:sp>
      <p:sp>
        <p:nvSpPr>
          <p:cNvPr id="8" name="Rectangle 7">
            <a:extLst>
              <a:ext uri="{FF2B5EF4-FFF2-40B4-BE49-F238E27FC236}">
                <a16:creationId xmlns:a16="http://schemas.microsoft.com/office/drawing/2014/main" id="{5D375652-E82E-4DB0-8E79-F7F8B0BF4425}"/>
              </a:ext>
            </a:extLst>
          </p:cNvPr>
          <p:cNvSpPr>
            <a:spLocks noGrp="1"/>
          </p:cNvSpPr>
          <p:nvPr/>
        </p:nvSpPr>
        <p:spPr>
          <a:xfrm>
            <a:off x="11049000" y="6505575"/>
            <a:ext cx="571500" cy="171450"/>
          </a:xfrm>
          <a:prstGeom prst="rect">
            <a:avLst/>
          </a:prstGeom>
          <a:noFill/>
          <a:ln w="0">
            <a:noFill/>
            <a:prstDash val="solid"/>
          </a:ln>
        </p:spPr>
        <p:txBody>
          <a:bodyPr/>
          <a:lstStyle/>
          <a:p>
            <a:pPr algn="r">
              <a:defRPr sz="825" b="1" i="0">
                <a:solidFill>
                  <a:srgbClr val="1E3A8A"/>
                </a:solidFill>
              </a:defRPr>
            </a:pPr>
            <a:r>
              <a:rPr sz="825" b="1" i="0">
                <a:solidFill>
                  <a:srgbClr val="1E3A8A"/>
                </a:solidFill>
              </a:rPr>
              <a:t>05</a:t>
            </a:r>
          </a:p>
        </p:txBody>
      </p:sp>
      <p:sp>
        <p:nvSpPr>
          <p:cNvPr id="9" name="Rectangle: Rounded Corners 8">
            <a:extLst>
              <a:ext uri="{FF2B5EF4-FFF2-40B4-BE49-F238E27FC236}">
                <a16:creationId xmlns:a16="http://schemas.microsoft.com/office/drawing/2014/main" id="{B640C5B0-F885-4DBA-894E-4FCB0E8C512F}"/>
              </a:ext>
            </a:extLst>
          </p:cNvPr>
          <p:cNvSpPr>
            <a:spLocks noGrp="1"/>
          </p:cNvSpPr>
          <p:nvPr/>
        </p:nvSpPr>
        <p:spPr>
          <a:xfrm>
            <a:off x="590550" y="1066800"/>
            <a:ext cx="11010900" cy="590550"/>
          </a:xfrm>
          <a:prstGeom prst="roundRect">
            <a:avLst>
              <a:gd name="adj" fmla="val 22581"/>
            </a:avLst>
          </a:prstGeom>
          <a:solidFill>
            <a:srgbClr val="1E3A8A"/>
          </a:solidFill>
          <a:ln w="0">
            <a:noFill/>
            <a:prstDash val="solid"/>
          </a:ln>
        </p:spPr>
      </p:sp>
      <p:pic>
        <p:nvPicPr>
          <p:cNvPr id="69" name="Graphic 68"/>
          <p:cNvPicPr>
            <a:picLocks noChangeAspect="1"/>
          </p:cNvPicPr>
          <p:nvPr/>
        </p:nvPicPr>
        <p:blipFill>
          <a:blip>
            <a:extLst>
              <a:ext uri="{96DAC541-7B7A-43D3-8B79-37D633B846F1}">
                <asvg:svgBlip xmlns:asvg="http://schemas.microsoft.com/office/drawing/2016/SVG/main" r:embed="rId4"/>
              </a:ext>
            </a:extLst>
          </a:blip>
          <a:stretch/>
        </p:blipFill>
        <p:spPr>
          <a:xfrm>
            <a:off x="800100" y="1228725"/>
            <a:ext cx="266700" cy="266700"/>
          </a:xfrm>
          <a:prstGeom prst="rect">
            <a:avLst/>
          </a:prstGeom>
        </p:spPr>
      </p:pic>
      <p:sp>
        <p:nvSpPr>
          <p:cNvPr id="11" name="Rectangle 10">
            <a:extLst>
              <a:ext uri="{FF2B5EF4-FFF2-40B4-BE49-F238E27FC236}">
                <a16:creationId xmlns:a16="http://schemas.microsoft.com/office/drawing/2014/main" id="{58C8A536-069C-4B4F-9068-7507F76B26EF}"/>
              </a:ext>
            </a:extLst>
          </p:cNvPr>
          <p:cNvSpPr>
            <a:spLocks noGrp="1"/>
          </p:cNvSpPr>
          <p:nvPr/>
        </p:nvSpPr>
        <p:spPr>
          <a:xfrm>
            <a:off x="1257300" y="1190625"/>
            <a:ext cx="10077450" cy="381000"/>
          </a:xfrm>
          <a:prstGeom prst="rect">
            <a:avLst/>
          </a:prstGeom>
          <a:noFill/>
          <a:ln w="0">
            <a:noFill/>
            <a:prstDash val="solid"/>
          </a:ln>
        </p:spPr>
        <p:txBody>
          <a:bodyPr/>
          <a:lstStyle/>
          <a:p>
            <a:pPr algn="ctr">
              <a:defRPr sz="1313" b="1" i="0">
                <a:solidFill>
                  <a:srgbClr val="FFFFFF"/>
                </a:solidFill>
              </a:defRPr>
            </a:pPr>
            <a:r>
              <a:rPr sz="1313" b="1" i="0">
                <a:solidFill>
                  <a:srgbClr val="FFFFFF"/>
                </a:solidFill>
              </a:rPr>
              <a:t>To give passengers information based on the actual operational condition and movement of the bus, instead of relying on fixed schedules alone.</a:t>
            </a:r>
          </a:p>
        </p:txBody>
      </p:sp>
      <p:sp>
        <p:nvSpPr>
          <p:cNvPr id="12" name="Rectangle: Rounded Corners 11">
            <a:extLst>
              <a:ext uri="{FF2B5EF4-FFF2-40B4-BE49-F238E27FC236}">
                <a16:creationId xmlns:a16="http://schemas.microsoft.com/office/drawing/2014/main" id="{7E228310-8B5A-4F73-8692-190EC211F0F5}"/>
              </a:ext>
            </a:extLst>
          </p:cNvPr>
          <p:cNvSpPr>
            <a:spLocks noGrp="1"/>
          </p:cNvSpPr>
          <p:nvPr/>
        </p:nvSpPr>
        <p:spPr>
          <a:xfrm>
            <a:off x="590550" y="1838325"/>
            <a:ext cx="5438775" cy="857250"/>
          </a:xfrm>
          <a:prstGeom prst="roundRect">
            <a:avLst>
              <a:gd name="adj" fmla="val 13333"/>
            </a:avLst>
          </a:prstGeom>
          <a:solidFill>
            <a:srgbClr val="FFFFFF"/>
          </a:solidFill>
          <a:ln w="9525">
            <a:solidFill>
              <a:srgbClr val="D1D5DB"/>
            </a:solidFill>
            <a:prstDash val="solid"/>
          </a:ln>
        </p:spPr>
      </p:sp>
      <p:sp>
        <p:nvSpPr>
          <p:cNvPr id="13" name="Rectangle: Rounded Corners 12">
            <a:extLst>
              <a:ext uri="{FF2B5EF4-FFF2-40B4-BE49-F238E27FC236}">
                <a16:creationId xmlns:a16="http://schemas.microsoft.com/office/drawing/2014/main" id="{04932E89-9CCE-4CEF-993A-0D75A71EFE8B}"/>
              </a:ext>
            </a:extLst>
          </p:cNvPr>
          <p:cNvSpPr>
            <a:spLocks noGrp="1"/>
          </p:cNvSpPr>
          <p:nvPr/>
        </p:nvSpPr>
        <p:spPr>
          <a:xfrm>
            <a:off x="590550" y="1838325"/>
            <a:ext cx="57150" cy="857250"/>
          </a:xfrm>
          <a:prstGeom prst="roundRect">
            <a:avLst>
              <a:gd name="adj" fmla="val 50000"/>
            </a:avLst>
          </a:prstGeom>
          <a:solidFill>
            <a:srgbClr val="0F766E"/>
          </a:solidFill>
          <a:ln w="0">
            <a:noFill/>
            <a:prstDash val="solid"/>
          </a:ln>
        </p:spPr>
      </p:sp>
      <p:sp>
        <p:nvSpPr>
          <p:cNvPr id="14" name="Oval 13">
            <a:extLst>
              <a:ext uri="{FF2B5EF4-FFF2-40B4-BE49-F238E27FC236}">
                <a16:creationId xmlns:a16="http://schemas.microsoft.com/office/drawing/2014/main" id="{F42F4A86-00F4-48B0-BB49-2CA423C4E14D}"/>
              </a:ext>
            </a:extLst>
          </p:cNvPr>
          <p:cNvSpPr>
            <a:spLocks noGrp="1"/>
          </p:cNvSpPr>
          <p:nvPr/>
        </p:nvSpPr>
        <p:spPr>
          <a:xfrm>
            <a:off x="762000" y="2009775"/>
            <a:ext cx="419100" cy="419100"/>
          </a:xfrm>
          <a:prstGeom prst="ellipse">
            <a:avLst/>
          </a:prstGeom>
          <a:solidFill>
            <a:srgbClr val="ECFDF5"/>
          </a:solidFill>
          <a:ln w="0">
            <a:noFill/>
            <a:prstDash val="solid"/>
          </a:ln>
        </p:spPr>
      </p:sp>
      <p:pic>
        <p:nvPicPr>
          <p:cNvPr id="74" name="Graphic 73"/>
          <p:cNvPicPr>
            <a:picLocks noChangeAspect="1"/>
          </p:cNvPicPr>
          <p:nvPr/>
        </p:nvPicPr>
        <p:blipFill>
          <a:blip>
            <a:extLst>
              <a:ext uri="{96DAC541-7B7A-43D3-8B79-37D633B846F1}">
                <asvg:svgBlip xmlns:asvg="http://schemas.microsoft.com/office/drawing/2016/SVG/main" r:embed="rId5"/>
              </a:ext>
            </a:extLst>
          </a:blip>
          <a:stretch/>
        </p:blipFill>
        <p:spPr>
          <a:xfrm>
            <a:off x="858393" y="2106168"/>
            <a:ext cx="226314" cy="226314"/>
          </a:xfrm>
          <a:prstGeom prst="rect">
            <a:avLst/>
          </a:prstGeom>
        </p:spPr>
      </p:pic>
      <p:sp>
        <p:nvSpPr>
          <p:cNvPr id="16" name="Rectangle 15">
            <a:extLst>
              <a:ext uri="{FF2B5EF4-FFF2-40B4-BE49-F238E27FC236}">
                <a16:creationId xmlns:a16="http://schemas.microsoft.com/office/drawing/2014/main" id="{0218707E-C474-4058-A9AC-6091FB473DDB}"/>
              </a:ext>
            </a:extLst>
          </p:cNvPr>
          <p:cNvSpPr>
            <a:spLocks noGrp="1"/>
          </p:cNvSpPr>
          <p:nvPr/>
        </p:nvSpPr>
        <p:spPr>
          <a:xfrm>
            <a:off x="1314450" y="1981200"/>
            <a:ext cx="361950" cy="171450"/>
          </a:xfrm>
          <a:prstGeom prst="rect">
            <a:avLst/>
          </a:prstGeom>
          <a:noFill/>
          <a:ln w="0">
            <a:noFill/>
            <a:prstDash val="solid"/>
          </a:ln>
        </p:spPr>
        <p:txBody>
          <a:bodyPr/>
          <a:lstStyle/>
          <a:p>
            <a:pPr algn="l">
              <a:defRPr sz="825" b="1" i="0">
                <a:solidFill>
                  <a:srgbClr val="0F766E"/>
                </a:solidFill>
              </a:defRPr>
            </a:pPr>
            <a:r>
              <a:rPr sz="825" b="1" i="0">
                <a:solidFill>
                  <a:srgbClr val="0F766E"/>
                </a:solidFill>
              </a:rPr>
              <a:t>01</a:t>
            </a:r>
          </a:p>
        </p:txBody>
      </p:sp>
      <p:sp>
        <p:nvSpPr>
          <p:cNvPr id="17" name="Rectangle 16">
            <a:extLst>
              <a:ext uri="{FF2B5EF4-FFF2-40B4-BE49-F238E27FC236}">
                <a16:creationId xmlns:a16="http://schemas.microsoft.com/office/drawing/2014/main" id="{2570152C-F5E2-45A9-B295-CC5197B76B08}"/>
              </a:ext>
            </a:extLst>
          </p:cNvPr>
          <p:cNvSpPr>
            <a:spLocks noGrp="1"/>
          </p:cNvSpPr>
          <p:nvPr/>
        </p:nvSpPr>
        <p:spPr>
          <a:xfrm>
            <a:off x="1314450" y="2171700"/>
            <a:ext cx="4543425" cy="438150"/>
          </a:xfrm>
          <a:prstGeom prst="rect">
            <a:avLst/>
          </a:prstGeom>
          <a:noFill/>
          <a:ln w="0">
            <a:noFill/>
            <a:prstDash val="solid"/>
          </a:ln>
        </p:spPr>
        <p:txBody>
          <a:bodyPr/>
          <a:lstStyle/>
          <a:p>
            <a:pPr algn="l">
              <a:defRPr sz="1238" b="1" i="0">
                <a:solidFill>
                  <a:srgbClr val="172554"/>
                </a:solidFill>
              </a:defRPr>
            </a:pPr>
            <a:r>
              <a:rPr sz="1238" b="1" i="0">
                <a:solidFill>
                  <a:srgbClr val="172554"/>
                </a:solidFill>
              </a:rPr>
              <a:t>Provide live bus location and status on a map</a:t>
            </a:r>
          </a:p>
        </p:txBody>
      </p:sp>
      <p:sp>
        <p:nvSpPr>
          <p:cNvPr id="18" name="Rectangle: Rounded Corners 17">
            <a:extLst>
              <a:ext uri="{FF2B5EF4-FFF2-40B4-BE49-F238E27FC236}">
                <a16:creationId xmlns:a16="http://schemas.microsoft.com/office/drawing/2014/main" id="{35EE2003-5216-4367-94DC-B88EF94BD096}"/>
              </a:ext>
            </a:extLst>
          </p:cNvPr>
          <p:cNvSpPr>
            <a:spLocks noGrp="1"/>
          </p:cNvSpPr>
          <p:nvPr/>
        </p:nvSpPr>
        <p:spPr>
          <a:xfrm>
            <a:off x="6162675" y="1838325"/>
            <a:ext cx="5438775" cy="857250"/>
          </a:xfrm>
          <a:prstGeom prst="roundRect">
            <a:avLst>
              <a:gd name="adj" fmla="val 13333"/>
            </a:avLst>
          </a:prstGeom>
          <a:solidFill>
            <a:srgbClr val="FFFFFF"/>
          </a:solidFill>
          <a:ln w="9525">
            <a:solidFill>
              <a:srgbClr val="D1D5DB"/>
            </a:solidFill>
            <a:prstDash val="solid"/>
          </a:ln>
        </p:spPr>
      </p:sp>
      <p:sp>
        <p:nvSpPr>
          <p:cNvPr id="19" name="Rectangle: Rounded Corners 18">
            <a:extLst>
              <a:ext uri="{FF2B5EF4-FFF2-40B4-BE49-F238E27FC236}">
                <a16:creationId xmlns:a16="http://schemas.microsoft.com/office/drawing/2014/main" id="{140CB525-7476-4B82-A9E7-CB0FE5112251}"/>
              </a:ext>
            </a:extLst>
          </p:cNvPr>
          <p:cNvSpPr>
            <a:spLocks noGrp="1"/>
          </p:cNvSpPr>
          <p:nvPr/>
        </p:nvSpPr>
        <p:spPr>
          <a:xfrm>
            <a:off x="6162675" y="1838325"/>
            <a:ext cx="57150" cy="857250"/>
          </a:xfrm>
          <a:prstGeom prst="roundRect">
            <a:avLst>
              <a:gd name="adj" fmla="val 50000"/>
            </a:avLst>
          </a:prstGeom>
          <a:solidFill>
            <a:srgbClr val="0F766E"/>
          </a:solidFill>
          <a:ln w="0">
            <a:noFill/>
            <a:prstDash val="solid"/>
          </a:ln>
        </p:spPr>
      </p:sp>
      <p:sp>
        <p:nvSpPr>
          <p:cNvPr id="20" name="Oval 19">
            <a:extLst>
              <a:ext uri="{FF2B5EF4-FFF2-40B4-BE49-F238E27FC236}">
                <a16:creationId xmlns:a16="http://schemas.microsoft.com/office/drawing/2014/main" id="{A21313EA-5921-4810-8308-0EA66748D9F9}"/>
              </a:ext>
            </a:extLst>
          </p:cNvPr>
          <p:cNvSpPr>
            <a:spLocks noGrp="1"/>
          </p:cNvSpPr>
          <p:nvPr/>
        </p:nvSpPr>
        <p:spPr>
          <a:xfrm>
            <a:off x="6334125" y="2009775"/>
            <a:ext cx="419100" cy="419100"/>
          </a:xfrm>
          <a:prstGeom prst="ellipse">
            <a:avLst/>
          </a:prstGeom>
          <a:solidFill>
            <a:srgbClr val="ECFDF5"/>
          </a:solidFill>
          <a:ln w="0">
            <a:noFill/>
            <a:prstDash val="solid"/>
          </a:ln>
        </p:spPr>
      </p:sp>
      <p:pic>
        <p:nvPicPr>
          <p:cNvPr id="80" name="Graphic 79"/>
          <p:cNvPicPr>
            <a:picLocks noChangeAspect="1"/>
          </p:cNvPicPr>
          <p:nvPr/>
        </p:nvPicPr>
        <p:blipFill>
          <a:blip>
            <a:extLst>
              <a:ext uri="{96DAC541-7B7A-43D3-8B79-37D633B846F1}">
                <asvg:svgBlip xmlns:asvg="http://schemas.microsoft.com/office/drawing/2016/SVG/main" r:embed="rId6"/>
              </a:ext>
            </a:extLst>
          </a:blip>
          <a:stretch/>
        </p:blipFill>
        <p:spPr>
          <a:xfrm>
            <a:off x="6430518" y="2106168"/>
            <a:ext cx="226314" cy="226314"/>
          </a:xfrm>
          <a:prstGeom prst="rect">
            <a:avLst/>
          </a:prstGeom>
        </p:spPr>
      </p:pic>
      <p:sp>
        <p:nvSpPr>
          <p:cNvPr id="22" name="Rectangle 21">
            <a:extLst>
              <a:ext uri="{FF2B5EF4-FFF2-40B4-BE49-F238E27FC236}">
                <a16:creationId xmlns:a16="http://schemas.microsoft.com/office/drawing/2014/main" id="{1CE54784-947A-4BFD-8171-263E77A634CF}"/>
              </a:ext>
            </a:extLst>
          </p:cNvPr>
          <p:cNvSpPr>
            <a:spLocks noGrp="1"/>
          </p:cNvSpPr>
          <p:nvPr/>
        </p:nvSpPr>
        <p:spPr>
          <a:xfrm>
            <a:off x="6886575" y="1981200"/>
            <a:ext cx="361950" cy="171450"/>
          </a:xfrm>
          <a:prstGeom prst="rect">
            <a:avLst/>
          </a:prstGeom>
          <a:noFill/>
          <a:ln w="0">
            <a:noFill/>
            <a:prstDash val="solid"/>
          </a:ln>
        </p:spPr>
        <p:txBody>
          <a:bodyPr/>
          <a:lstStyle/>
          <a:p>
            <a:pPr algn="l">
              <a:defRPr sz="825" b="1" i="0">
                <a:solidFill>
                  <a:srgbClr val="0F766E"/>
                </a:solidFill>
              </a:defRPr>
            </a:pPr>
            <a:r>
              <a:rPr sz="825" b="1" i="0">
                <a:solidFill>
                  <a:srgbClr val="0F766E"/>
                </a:solidFill>
              </a:rPr>
              <a:t>02</a:t>
            </a:r>
          </a:p>
        </p:txBody>
      </p:sp>
      <p:sp>
        <p:nvSpPr>
          <p:cNvPr id="23" name="Rectangle 22">
            <a:extLst>
              <a:ext uri="{FF2B5EF4-FFF2-40B4-BE49-F238E27FC236}">
                <a16:creationId xmlns:a16="http://schemas.microsoft.com/office/drawing/2014/main" id="{8AE5CB91-D9E0-48F3-8D2E-0E4256E8257C}"/>
              </a:ext>
            </a:extLst>
          </p:cNvPr>
          <p:cNvSpPr>
            <a:spLocks noGrp="1"/>
          </p:cNvSpPr>
          <p:nvPr/>
        </p:nvSpPr>
        <p:spPr>
          <a:xfrm>
            <a:off x="6886575" y="2171700"/>
            <a:ext cx="4543425" cy="438150"/>
          </a:xfrm>
          <a:prstGeom prst="rect">
            <a:avLst/>
          </a:prstGeom>
          <a:noFill/>
          <a:ln w="0">
            <a:noFill/>
            <a:prstDash val="solid"/>
          </a:ln>
        </p:spPr>
        <p:txBody>
          <a:bodyPr/>
          <a:lstStyle/>
          <a:p>
            <a:pPr algn="l">
              <a:defRPr sz="1238" b="1" i="0">
                <a:solidFill>
                  <a:srgbClr val="172554"/>
                </a:solidFill>
              </a:defRPr>
            </a:pPr>
            <a:r>
              <a:rPr sz="1238" b="1" i="0">
                <a:solidFill>
                  <a:srgbClr val="172554"/>
                </a:solidFill>
              </a:rPr>
              <a:t>Calculate arrival time dynamically from real movement, not a timetable</a:t>
            </a:r>
          </a:p>
        </p:txBody>
      </p:sp>
      <p:sp>
        <p:nvSpPr>
          <p:cNvPr id="24" name="Rectangle: Rounded Corners 23">
            <a:extLst>
              <a:ext uri="{FF2B5EF4-FFF2-40B4-BE49-F238E27FC236}">
                <a16:creationId xmlns:a16="http://schemas.microsoft.com/office/drawing/2014/main" id="{883CF309-690E-440C-8B04-CAA4A96DC7D4}"/>
              </a:ext>
            </a:extLst>
          </p:cNvPr>
          <p:cNvSpPr>
            <a:spLocks noGrp="1"/>
          </p:cNvSpPr>
          <p:nvPr/>
        </p:nvSpPr>
        <p:spPr>
          <a:xfrm>
            <a:off x="590550" y="2867025"/>
            <a:ext cx="5438775" cy="857250"/>
          </a:xfrm>
          <a:prstGeom prst="roundRect">
            <a:avLst>
              <a:gd name="adj" fmla="val 13333"/>
            </a:avLst>
          </a:prstGeom>
          <a:solidFill>
            <a:srgbClr val="FFFFFF"/>
          </a:solidFill>
          <a:ln w="9525">
            <a:solidFill>
              <a:srgbClr val="D1D5DB"/>
            </a:solidFill>
            <a:prstDash val="solid"/>
          </a:ln>
        </p:spPr>
      </p:sp>
      <p:sp>
        <p:nvSpPr>
          <p:cNvPr id="25" name="Rectangle: Rounded Corners 24">
            <a:extLst>
              <a:ext uri="{FF2B5EF4-FFF2-40B4-BE49-F238E27FC236}">
                <a16:creationId xmlns:a16="http://schemas.microsoft.com/office/drawing/2014/main" id="{3A1C80DE-FE4A-4880-8F39-6628D76F62FD}"/>
              </a:ext>
            </a:extLst>
          </p:cNvPr>
          <p:cNvSpPr>
            <a:spLocks noGrp="1"/>
          </p:cNvSpPr>
          <p:nvPr/>
        </p:nvSpPr>
        <p:spPr>
          <a:xfrm>
            <a:off x="590550" y="2867025"/>
            <a:ext cx="57150" cy="857250"/>
          </a:xfrm>
          <a:prstGeom prst="roundRect">
            <a:avLst>
              <a:gd name="adj" fmla="val 50000"/>
            </a:avLst>
          </a:prstGeom>
          <a:solidFill>
            <a:srgbClr val="0F766E"/>
          </a:solidFill>
          <a:ln w="0">
            <a:noFill/>
            <a:prstDash val="solid"/>
          </a:ln>
        </p:spPr>
      </p:sp>
      <p:sp>
        <p:nvSpPr>
          <p:cNvPr id="26" name="Oval 25">
            <a:extLst>
              <a:ext uri="{FF2B5EF4-FFF2-40B4-BE49-F238E27FC236}">
                <a16:creationId xmlns:a16="http://schemas.microsoft.com/office/drawing/2014/main" id="{297A00F1-F2D6-4AD3-9DF7-39423E3E3B1A}"/>
              </a:ext>
            </a:extLst>
          </p:cNvPr>
          <p:cNvSpPr>
            <a:spLocks noGrp="1"/>
          </p:cNvSpPr>
          <p:nvPr/>
        </p:nvSpPr>
        <p:spPr>
          <a:xfrm>
            <a:off x="762000" y="3038475"/>
            <a:ext cx="419100" cy="419100"/>
          </a:xfrm>
          <a:prstGeom prst="ellipse">
            <a:avLst/>
          </a:prstGeom>
          <a:solidFill>
            <a:srgbClr val="ECFDF5"/>
          </a:solidFill>
          <a:ln w="0">
            <a:noFill/>
            <a:prstDash val="solid"/>
          </a:ln>
        </p:spPr>
      </p:sp>
      <p:pic>
        <p:nvPicPr>
          <p:cNvPr id="86" name="Graphic 85"/>
          <p:cNvPicPr>
            <a:picLocks noChangeAspect="1"/>
          </p:cNvPicPr>
          <p:nvPr/>
        </p:nvPicPr>
        <p:blipFill>
          <a:blip>
            <a:extLst>
              <a:ext uri="{96DAC541-7B7A-43D3-8B79-37D633B846F1}">
                <asvg:svgBlip xmlns:asvg="http://schemas.microsoft.com/office/drawing/2016/SVG/main" r:embed="rId7"/>
              </a:ext>
            </a:extLst>
          </a:blip>
          <a:stretch/>
        </p:blipFill>
        <p:spPr>
          <a:xfrm>
            <a:off x="858393" y="3134868"/>
            <a:ext cx="226314" cy="226314"/>
          </a:xfrm>
          <a:prstGeom prst="rect">
            <a:avLst/>
          </a:prstGeom>
        </p:spPr>
      </p:pic>
      <p:sp>
        <p:nvSpPr>
          <p:cNvPr id="28" name="Rectangle 27">
            <a:extLst>
              <a:ext uri="{FF2B5EF4-FFF2-40B4-BE49-F238E27FC236}">
                <a16:creationId xmlns:a16="http://schemas.microsoft.com/office/drawing/2014/main" id="{C46A74D1-1C32-4F1A-B6CD-4F0A0114BF1C}"/>
              </a:ext>
            </a:extLst>
          </p:cNvPr>
          <p:cNvSpPr>
            <a:spLocks noGrp="1"/>
          </p:cNvSpPr>
          <p:nvPr/>
        </p:nvSpPr>
        <p:spPr>
          <a:xfrm>
            <a:off x="1314450" y="3009900"/>
            <a:ext cx="361950" cy="171450"/>
          </a:xfrm>
          <a:prstGeom prst="rect">
            <a:avLst/>
          </a:prstGeom>
          <a:noFill/>
          <a:ln w="0">
            <a:noFill/>
            <a:prstDash val="solid"/>
          </a:ln>
        </p:spPr>
        <p:txBody>
          <a:bodyPr/>
          <a:lstStyle/>
          <a:p>
            <a:pPr algn="l">
              <a:defRPr sz="825" b="1" i="0">
                <a:solidFill>
                  <a:srgbClr val="0F766E"/>
                </a:solidFill>
              </a:defRPr>
            </a:pPr>
            <a:r>
              <a:rPr sz="825" b="1" i="0">
                <a:solidFill>
                  <a:srgbClr val="0F766E"/>
                </a:solidFill>
              </a:rPr>
              <a:t>03</a:t>
            </a:r>
          </a:p>
        </p:txBody>
      </p:sp>
      <p:sp>
        <p:nvSpPr>
          <p:cNvPr id="29" name="Rectangle 28">
            <a:extLst>
              <a:ext uri="{FF2B5EF4-FFF2-40B4-BE49-F238E27FC236}">
                <a16:creationId xmlns:a16="http://schemas.microsoft.com/office/drawing/2014/main" id="{961FFCE1-6FFB-4A1E-8FA1-B3FAEF37F225}"/>
              </a:ext>
            </a:extLst>
          </p:cNvPr>
          <p:cNvSpPr>
            <a:spLocks noGrp="1"/>
          </p:cNvSpPr>
          <p:nvPr/>
        </p:nvSpPr>
        <p:spPr>
          <a:xfrm>
            <a:off x="1314450" y="3200400"/>
            <a:ext cx="4543425" cy="438150"/>
          </a:xfrm>
          <a:prstGeom prst="rect">
            <a:avLst/>
          </a:prstGeom>
          <a:noFill/>
          <a:ln w="0">
            <a:noFill/>
            <a:prstDash val="solid"/>
          </a:ln>
        </p:spPr>
        <p:txBody>
          <a:bodyPr/>
          <a:lstStyle/>
          <a:p>
            <a:pPr algn="l">
              <a:defRPr sz="1238" b="1" i="0">
                <a:solidFill>
                  <a:srgbClr val="172554"/>
                </a:solidFill>
              </a:defRPr>
            </a:pPr>
            <a:r>
              <a:rPr sz="1238" b="1" i="0">
                <a:solidFill>
                  <a:srgbClr val="172554"/>
                </a:solidFill>
              </a:rPr>
              <a:t>Detect stop arrival and departure without hardware at stops</a:t>
            </a:r>
          </a:p>
        </p:txBody>
      </p:sp>
      <p:sp>
        <p:nvSpPr>
          <p:cNvPr id="30" name="Rectangle: Rounded Corners 29">
            <a:extLst>
              <a:ext uri="{FF2B5EF4-FFF2-40B4-BE49-F238E27FC236}">
                <a16:creationId xmlns:a16="http://schemas.microsoft.com/office/drawing/2014/main" id="{6AB822C4-AE2D-4603-AEFD-51C098CD1CE5}"/>
              </a:ext>
            </a:extLst>
          </p:cNvPr>
          <p:cNvSpPr>
            <a:spLocks noGrp="1"/>
          </p:cNvSpPr>
          <p:nvPr/>
        </p:nvSpPr>
        <p:spPr>
          <a:xfrm>
            <a:off x="6162675" y="2867025"/>
            <a:ext cx="5438775" cy="857250"/>
          </a:xfrm>
          <a:prstGeom prst="roundRect">
            <a:avLst>
              <a:gd name="adj" fmla="val 13333"/>
            </a:avLst>
          </a:prstGeom>
          <a:solidFill>
            <a:srgbClr val="FFFFFF"/>
          </a:solidFill>
          <a:ln w="9525">
            <a:solidFill>
              <a:srgbClr val="D1D5DB"/>
            </a:solidFill>
            <a:prstDash val="solid"/>
          </a:ln>
        </p:spPr>
      </p:sp>
      <p:sp>
        <p:nvSpPr>
          <p:cNvPr id="31" name="Rectangle: Rounded Corners 30">
            <a:extLst>
              <a:ext uri="{FF2B5EF4-FFF2-40B4-BE49-F238E27FC236}">
                <a16:creationId xmlns:a16="http://schemas.microsoft.com/office/drawing/2014/main" id="{722B38D6-C200-472E-8726-7032B482ADB0}"/>
              </a:ext>
            </a:extLst>
          </p:cNvPr>
          <p:cNvSpPr>
            <a:spLocks noGrp="1"/>
          </p:cNvSpPr>
          <p:nvPr/>
        </p:nvSpPr>
        <p:spPr>
          <a:xfrm>
            <a:off x="6162675" y="2867025"/>
            <a:ext cx="57150" cy="857250"/>
          </a:xfrm>
          <a:prstGeom prst="roundRect">
            <a:avLst>
              <a:gd name="adj" fmla="val 50000"/>
            </a:avLst>
          </a:prstGeom>
          <a:solidFill>
            <a:srgbClr val="0F766E"/>
          </a:solidFill>
          <a:ln w="0">
            <a:noFill/>
            <a:prstDash val="solid"/>
          </a:ln>
        </p:spPr>
      </p:sp>
      <p:sp>
        <p:nvSpPr>
          <p:cNvPr id="32" name="Oval 31">
            <a:extLst>
              <a:ext uri="{FF2B5EF4-FFF2-40B4-BE49-F238E27FC236}">
                <a16:creationId xmlns:a16="http://schemas.microsoft.com/office/drawing/2014/main" id="{35869460-8199-4202-BEF2-E5E51031B9C5}"/>
              </a:ext>
            </a:extLst>
          </p:cNvPr>
          <p:cNvSpPr>
            <a:spLocks noGrp="1"/>
          </p:cNvSpPr>
          <p:nvPr/>
        </p:nvSpPr>
        <p:spPr>
          <a:xfrm>
            <a:off x="6334125" y="3038475"/>
            <a:ext cx="419100" cy="419100"/>
          </a:xfrm>
          <a:prstGeom prst="ellipse">
            <a:avLst/>
          </a:prstGeom>
          <a:solidFill>
            <a:srgbClr val="ECFDF5"/>
          </a:solidFill>
          <a:ln w="0">
            <a:noFill/>
            <a:prstDash val="solid"/>
          </a:ln>
        </p:spPr>
      </p:sp>
      <p:pic>
        <p:nvPicPr>
          <p:cNvPr id="92" name="Graphic 91"/>
          <p:cNvPicPr>
            <a:picLocks noChangeAspect="1"/>
          </p:cNvPicPr>
          <p:nvPr/>
        </p:nvPicPr>
        <p:blipFill>
          <a:blip>
            <a:extLst>
              <a:ext uri="{96DAC541-7B7A-43D3-8B79-37D633B846F1}">
                <asvg:svgBlip xmlns:asvg="http://schemas.microsoft.com/office/drawing/2016/SVG/main" r:embed="rId8"/>
              </a:ext>
            </a:extLst>
          </a:blip>
          <a:stretch/>
        </p:blipFill>
        <p:spPr>
          <a:xfrm>
            <a:off x="6430518" y="3134868"/>
            <a:ext cx="226314" cy="226314"/>
          </a:xfrm>
          <a:prstGeom prst="rect">
            <a:avLst/>
          </a:prstGeom>
        </p:spPr>
      </p:pic>
      <p:sp>
        <p:nvSpPr>
          <p:cNvPr id="34" name="Rectangle 33">
            <a:extLst>
              <a:ext uri="{FF2B5EF4-FFF2-40B4-BE49-F238E27FC236}">
                <a16:creationId xmlns:a16="http://schemas.microsoft.com/office/drawing/2014/main" id="{4D97E461-36FE-4965-86E5-B617D976EA98}"/>
              </a:ext>
            </a:extLst>
          </p:cNvPr>
          <p:cNvSpPr>
            <a:spLocks noGrp="1"/>
          </p:cNvSpPr>
          <p:nvPr/>
        </p:nvSpPr>
        <p:spPr>
          <a:xfrm>
            <a:off x="6886575" y="3009900"/>
            <a:ext cx="361950" cy="171450"/>
          </a:xfrm>
          <a:prstGeom prst="rect">
            <a:avLst/>
          </a:prstGeom>
          <a:noFill/>
          <a:ln w="0">
            <a:noFill/>
            <a:prstDash val="solid"/>
          </a:ln>
        </p:spPr>
        <p:txBody>
          <a:bodyPr/>
          <a:lstStyle/>
          <a:p>
            <a:pPr algn="l">
              <a:defRPr sz="825" b="1" i="0">
                <a:solidFill>
                  <a:srgbClr val="0F766E"/>
                </a:solidFill>
              </a:defRPr>
            </a:pPr>
            <a:r>
              <a:rPr sz="825" b="1" i="0">
                <a:solidFill>
                  <a:srgbClr val="0F766E"/>
                </a:solidFill>
              </a:rPr>
              <a:t>04</a:t>
            </a:r>
          </a:p>
        </p:txBody>
      </p:sp>
      <p:sp>
        <p:nvSpPr>
          <p:cNvPr id="35" name="Rectangle 34">
            <a:extLst>
              <a:ext uri="{FF2B5EF4-FFF2-40B4-BE49-F238E27FC236}">
                <a16:creationId xmlns:a16="http://schemas.microsoft.com/office/drawing/2014/main" id="{C7C3C269-E106-48B6-8BF1-8C13EB970765}"/>
              </a:ext>
            </a:extLst>
          </p:cNvPr>
          <p:cNvSpPr>
            <a:spLocks noGrp="1"/>
          </p:cNvSpPr>
          <p:nvPr/>
        </p:nvSpPr>
        <p:spPr>
          <a:xfrm>
            <a:off x="6886575" y="3200400"/>
            <a:ext cx="4543425" cy="438150"/>
          </a:xfrm>
          <a:prstGeom prst="rect">
            <a:avLst/>
          </a:prstGeom>
          <a:noFill/>
          <a:ln w="0">
            <a:noFill/>
            <a:prstDash val="solid"/>
          </a:ln>
        </p:spPr>
        <p:txBody>
          <a:bodyPr/>
          <a:lstStyle/>
          <a:p>
            <a:pPr algn="l">
              <a:defRPr sz="1238" b="1" i="0">
                <a:solidFill>
                  <a:srgbClr val="172554"/>
                </a:solidFill>
              </a:defRPr>
            </a:pPr>
            <a:r>
              <a:rPr sz="1238" b="1" i="0">
                <a:solidFill>
                  <a:srgbClr val="172554"/>
                </a:solidFill>
              </a:rPr>
              <a:t>Push updates automatically, without manual refreshing</a:t>
            </a:r>
          </a:p>
        </p:txBody>
      </p:sp>
      <p:sp>
        <p:nvSpPr>
          <p:cNvPr id="36" name="Rectangle: Rounded Corners 35">
            <a:extLst>
              <a:ext uri="{FF2B5EF4-FFF2-40B4-BE49-F238E27FC236}">
                <a16:creationId xmlns:a16="http://schemas.microsoft.com/office/drawing/2014/main" id="{EB64E876-F327-4719-ADA8-4981CAD4DF03}"/>
              </a:ext>
            </a:extLst>
          </p:cNvPr>
          <p:cNvSpPr>
            <a:spLocks noGrp="1"/>
          </p:cNvSpPr>
          <p:nvPr/>
        </p:nvSpPr>
        <p:spPr>
          <a:xfrm>
            <a:off x="590550" y="3895725"/>
            <a:ext cx="5438775" cy="857250"/>
          </a:xfrm>
          <a:prstGeom prst="roundRect">
            <a:avLst>
              <a:gd name="adj" fmla="val 13333"/>
            </a:avLst>
          </a:prstGeom>
          <a:solidFill>
            <a:srgbClr val="FFFFFF"/>
          </a:solidFill>
          <a:ln w="9525">
            <a:solidFill>
              <a:srgbClr val="D1D5DB"/>
            </a:solidFill>
            <a:prstDash val="solid"/>
          </a:ln>
        </p:spPr>
      </p:sp>
      <p:sp>
        <p:nvSpPr>
          <p:cNvPr id="37" name="Rectangle: Rounded Corners 36">
            <a:extLst>
              <a:ext uri="{FF2B5EF4-FFF2-40B4-BE49-F238E27FC236}">
                <a16:creationId xmlns:a16="http://schemas.microsoft.com/office/drawing/2014/main" id="{7A1209C5-C0E0-4EBA-A8E7-BCFC7E836D2A}"/>
              </a:ext>
            </a:extLst>
          </p:cNvPr>
          <p:cNvSpPr>
            <a:spLocks noGrp="1"/>
          </p:cNvSpPr>
          <p:nvPr/>
        </p:nvSpPr>
        <p:spPr>
          <a:xfrm>
            <a:off x="590550" y="3895725"/>
            <a:ext cx="57150" cy="857250"/>
          </a:xfrm>
          <a:prstGeom prst="roundRect">
            <a:avLst>
              <a:gd name="adj" fmla="val 50000"/>
            </a:avLst>
          </a:prstGeom>
          <a:solidFill>
            <a:srgbClr val="0F766E"/>
          </a:solidFill>
          <a:ln w="0">
            <a:noFill/>
            <a:prstDash val="solid"/>
          </a:ln>
        </p:spPr>
      </p:sp>
      <p:sp>
        <p:nvSpPr>
          <p:cNvPr id="38" name="Oval 37">
            <a:extLst>
              <a:ext uri="{FF2B5EF4-FFF2-40B4-BE49-F238E27FC236}">
                <a16:creationId xmlns:a16="http://schemas.microsoft.com/office/drawing/2014/main" id="{9A105DE8-0A9E-4A89-B1DA-4D1750B60450}"/>
              </a:ext>
            </a:extLst>
          </p:cNvPr>
          <p:cNvSpPr>
            <a:spLocks noGrp="1"/>
          </p:cNvSpPr>
          <p:nvPr/>
        </p:nvSpPr>
        <p:spPr>
          <a:xfrm>
            <a:off x="762000" y="4067175"/>
            <a:ext cx="419100" cy="419100"/>
          </a:xfrm>
          <a:prstGeom prst="ellipse">
            <a:avLst/>
          </a:prstGeom>
          <a:solidFill>
            <a:srgbClr val="ECFDF5"/>
          </a:solidFill>
          <a:ln w="0">
            <a:noFill/>
            <a:prstDash val="solid"/>
          </a:ln>
        </p:spPr>
      </p:sp>
      <p:pic>
        <p:nvPicPr>
          <p:cNvPr id="98" name="Graphic 97"/>
          <p:cNvPicPr>
            <a:picLocks noChangeAspect="1"/>
          </p:cNvPicPr>
          <p:nvPr/>
        </p:nvPicPr>
        <p:blipFill>
          <a:blip>
            <a:extLst>
              <a:ext uri="{96DAC541-7B7A-43D3-8B79-37D633B846F1}">
                <asvg:svgBlip xmlns:asvg="http://schemas.microsoft.com/office/drawing/2016/SVG/main" r:embed="rId9"/>
              </a:ext>
            </a:extLst>
          </a:blip>
          <a:stretch/>
        </p:blipFill>
        <p:spPr>
          <a:xfrm>
            <a:off x="858393" y="4163568"/>
            <a:ext cx="226314" cy="226314"/>
          </a:xfrm>
          <a:prstGeom prst="rect">
            <a:avLst/>
          </a:prstGeom>
        </p:spPr>
      </p:pic>
      <p:sp>
        <p:nvSpPr>
          <p:cNvPr id="40" name="Rectangle 39">
            <a:extLst>
              <a:ext uri="{FF2B5EF4-FFF2-40B4-BE49-F238E27FC236}">
                <a16:creationId xmlns:a16="http://schemas.microsoft.com/office/drawing/2014/main" id="{74E48865-9D56-4E27-ABAB-4D13D59317DB}"/>
              </a:ext>
            </a:extLst>
          </p:cNvPr>
          <p:cNvSpPr>
            <a:spLocks noGrp="1"/>
          </p:cNvSpPr>
          <p:nvPr/>
        </p:nvSpPr>
        <p:spPr>
          <a:xfrm>
            <a:off x="1314450" y="4038600"/>
            <a:ext cx="361950" cy="171450"/>
          </a:xfrm>
          <a:prstGeom prst="rect">
            <a:avLst/>
          </a:prstGeom>
          <a:noFill/>
          <a:ln w="0">
            <a:noFill/>
            <a:prstDash val="solid"/>
          </a:ln>
        </p:spPr>
        <p:txBody>
          <a:bodyPr/>
          <a:lstStyle/>
          <a:p>
            <a:pPr algn="l">
              <a:defRPr sz="825" b="1" i="0">
                <a:solidFill>
                  <a:srgbClr val="EA580C"/>
                </a:solidFill>
              </a:defRPr>
            </a:pPr>
            <a:r>
              <a:rPr sz="825" b="1" i="0" dirty="0">
                <a:solidFill>
                  <a:srgbClr val="0F766E"/>
                </a:solidFill>
              </a:rPr>
              <a:t>05</a:t>
            </a:r>
          </a:p>
        </p:txBody>
      </p:sp>
      <p:sp>
        <p:nvSpPr>
          <p:cNvPr id="41" name="Rectangle 40">
            <a:extLst>
              <a:ext uri="{FF2B5EF4-FFF2-40B4-BE49-F238E27FC236}">
                <a16:creationId xmlns:a16="http://schemas.microsoft.com/office/drawing/2014/main" id="{4825A7F2-E83F-4DED-9E97-1D03C4DD8D89}"/>
              </a:ext>
            </a:extLst>
          </p:cNvPr>
          <p:cNvSpPr>
            <a:spLocks noGrp="1"/>
          </p:cNvSpPr>
          <p:nvPr/>
        </p:nvSpPr>
        <p:spPr>
          <a:xfrm>
            <a:off x="1314450" y="4229100"/>
            <a:ext cx="4543425" cy="438150"/>
          </a:xfrm>
          <a:prstGeom prst="rect">
            <a:avLst/>
          </a:prstGeom>
          <a:noFill/>
          <a:ln w="0">
            <a:noFill/>
            <a:prstDash val="solid"/>
          </a:ln>
        </p:spPr>
        <p:txBody>
          <a:bodyPr/>
          <a:lstStyle/>
          <a:p>
            <a:pPr algn="l">
              <a:defRPr sz="1238" b="1" i="0">
                <a:solidFill>
                  <a:srgbClr val="172554"/>
                </a:solidFill>
              </a:defRPr>
            </a:pPr>
            <a:r>
              <a:rPr sz="1238" b="1" i="0">
                <a:solidFill>
                  <a:srgbClr val="172554"/>
                </a:solidFill>
              </a:rPr>
              <a:t>Report and communicate breakdowns and delays in real time</a:t>
            </a:r>
          </a:p>
        </p:txBody>
      </p:sp>
      <p:sp>
        <p:nvSpPr>
          <p:cNvPr id="42" name="Rectangle: Rounded Corners 41">
            <a:extLst>
              <a:ext uri="{FF2B5EF4-FFF2-40B4-BE49-F238E27FC236}">
                <a16:creationId xmlns:a16="http://schemas.microsoft.com/office/drawing/2014/main" id="{F5BEDF88-EED6-4985-808A-6A4CF872669D}"/>
              </a:ext>
            </a:extLst>
          </p:cNvPr>
          <p:cNvSpPr>
            <a:spLocks noGrp="1"/>
          </p:cNvSpPr>
          <p:nvPr/>
        </p:nvSpPr>
        <p:spPr>
          <a:xfrm>
            <a:off x="6162675" y="3895725"/>
            <a:ext cx="5438775" cy="857250"/>
          </a:xfrm>
          <a:prstGeom prst="roundRect">
            <a:avLst>
              <a:gd name="adj" fmla="val 13333"/>
            </a:avLst>
          </a:prstGeom>
          <a:solidFill>
            <a:srgbClr val="FFFFFF"/>
          </a:solidFill>
          <a:ln w="9525">
            <a:solidFill>
              <a:srgbClr val="D1D5DB"/>
            </a:solidFill>
            <a:prstDash val="solid"/>
          </a:ln>
        </p:spPr>
      </p:sp>
      <p:sp>
        <p:nvSpPr>
          <p:cNvPr id="43" name="Rectangle: Rounded Corners 42">
            <a:extLst>
              <a:ext uri="{FF2B5EF4-FFF2-40B4-BE49-F238E27FC236}">
                <a16:creationId xmlns:a16="http://schemas.microsoft.com/office/drawing/2014/main" id="{5756C4F3-BBEB-4B00-B1ED-B70E08922C82}"/>
              </a:ext>
            </a:extLst>
          </p:cNvPr>
          <p:cNvSpPr>
            <a:spLocks noGrp="1"/>
          </p:cNvSpPr>
          <p:nvPr/>
        </p:nvSpPr>
        <p:spPr>
          <a:xfrm>
            <a:off x="6162675" y="3895725"/>
            <a:ext cx="57150" cy="857250"/>
          </a:xfrm>
          <a:prstGeom prst="roundRect">
            <a:avLst>
              <a:gd name="adj" fmla="val 50000"/>
            </a:avLst>
          </a:prstGeom>
          <a:solidFill>
            <a:srgbClr val="0F766E"/>
          </a:solidFill>
          <a:ln w="0">
            <a:noFill/>
            <a:prstDash val="solid"/>
          </a:ln>
        </p:spPr>
      </p:sp>
      <p:sp>
        <p:nvSpPr>
          <p:cNvPr id="44" name="Oval 43">
            <a:extLst>
              <a:ext uri="{FF2B5EF4-FFF2-40B4-BE49-F238E27FC236}">
                <a16:creationId xmlns:a16="http://schemas.microsoft.com/office/drawing/2014/main" id="{0433FE7D-944D-4C63-B9CC-1BFB9CA6190D}"/>
              </a:ext>
            </a:extLst>
          </p:cNvPr>
          <p:cNvSpPr>
            <a:spLocks noGrp="1"/>
          </p:cNvSpPr>
          <p:nvPr/>
        </p:nvSpPr>
        <p:spPr>
          <a:xfrm>
            <a:off x="6334125" y="4067175"/>
            <a:ext cx="419100" cy="419100"/>
          </a:xfrm>
          <a:prstGeom prst="ellipse">
            <a:avLst/>
          </a:prstGeom>
          <a:solidFill>
            <a:srgbClr val="ECFDF5"/>
          </a:solidFill>
          <a:ln w="0">
            <a:noFill/>
            <a:prstDash val="solid"/>
          </a:ln>
        </p:spPr>
      </p:sp>
      <p:pic>
        <p:nvPicPr>
          <p:cNvPr id="104" name="Graphic 103"/>
          <p:cNvPicPr>
            <a:picLocks noChangeAspect="1"/>
          </p:cNvPicPr>
          <p:nvPr/>
        </p:nvPicPr>
        <p:blipFill>
          <a:blip>
            <a:extLst>
              <a:ext uri="{96DAC541-7B7A-43D3-8B79-37D633B846F1}">
                <asvg:svgBlip xmlns:asvg="http://schemas.microsoft.com/office/drawing/2016/SVG/main" r:embed="rId10"/>
              </a:ext>
            </a:extLst>
          </a:blip>
          <a:stretch/>
        </p:blipFill>
        <p:spPr>
          <a:xfrm>
            <a:off x="6430518" y="4163568"/>
            <a:ext cx="226314" cy="226314"/>
          </a:xfrm>
          <a:prstGeom prst="rect">
            <a:avLst/>
          </a:prstGeom>
        </p:spPr>
      </p:pic>
      <p:sp>
        <p:nvSpPr>
          <p:cNvPr id="46" name="Rectangle 45">
            <a:extLst>
              <a:ext uri="{FF2B5EF4-FFF2-40B4-BE49-F238E27FC236}">
                <a16:creationId xmlns:a16="http://schemas.microsoft.com/office/drawing/2014/main" id="{B1E79C3D-74DC-4871-8B04-499F47B85C76}"/>
              </a:ext>
            </a:extLst>
          </p:cNvPr>
          <p:cNvSpPr>
            <a:spLocks noGrp="1"/>
          </p:cNvSpPr>
          <p:nvPr/>
        </p:nvSpPr>
        <p:spPr>
          <a:xfrm>
            <a:off x="6886575" y="4038600"/>
            <a:ext cx="361950" cy="171450"/>
          </a:xfrm>
          <a:prstGeom prst="rect">
            <a:avLst/>
          </a:prstGeom>
          <a:noFill/>
          <a:ln w="0">
            <a:noFill/>
            <a:prstDash val="solid"/>
          </a:ln>
        </p:spPr>
        <p:txBody>
          <a:bodyPr/>
          <a:lstStyle/>
          <a:p>
            <a:pPr algn="l">
              <a:defRPr sz="825" b="1" i="0">
                <a:solidFill>
                  <a:srgbClr val="0F766E"/>
                </a:solidFill>
              </a:defRPr>
            </a:pPr>
            <a:r>
              <a:rPr sz="825" b="1" i="0">
                <a:solidFill>
                  <a:srgbClr val="0F766E"/>
                </a:solidFill>
              </a:rPr>
              <a:t>06</a:t>
            </a:r>
          </a:p>
        </p:txBody>
      </p:sp>
      <p:sp>
        <p:nvSpPr>
          <p:cNvPr id="47" name="Rectangle 46">
            <a:extLst>
              <a:ext uri="{FF2B5EF4-FFF2-40B4-BE49-F238E27FC236}">
                <a16:creationId xmlns:a16="http://schemas.microsoft.com/office/drawing/2014/main" id="{63D164E2-67E6-44A0-A8E0-E9D5F2E2FC69}"/>
              </a:ext>
            </a:extLst>
          </p:cNvPr>
          <p:cNvSpPr>
            <a:spLocks noGrp="1"/>
          </p:cNvSpPr>
          <p:nvPr/>
        </p:nvSpPr>
        <p:spPr>
          <a:xfrm>
            <a:off x="6886575" y="4229100"/>
            <a:ext cx="4543425" cy="438150"/>
          </a:xfrm>
          <a:prstGeom prst="rect">
            <a:avLst/>
          </a:prstGeom>
          <a:noFill/>
          <a:ln w="0">
            <a:noFill/>
            <a:prstDash val="solid"/>
          </a:ln>
        </p:spPr>
        <p:txBody>
          <a:bodyPr/>
          <a:lstStyle/>
          <a:p>
            <a:pPr algn="l">
              <a:defRPr sz="1238" b="1" i="0">
                <a:solidFill>
                  <a:srgbClr val="172554"/>
                </a:solidFill>
              </a:defRPr>
            </a:pPr>
            <a:r>
              <a:rPr sz="1238" b="1" i="0">
                <a:solidFill>
                  <a:srgbClr val="172554"/>
                </a:solidFill>
              </a:rPr>
              <a:t>Support English, Bengali, Hindi, and spoken voice notifications</a:t>
            </a:r>
          </a:p>
        </p:txBody>
      </p:sp>
      <p:sp>
        <p:nvSpPr>
          <p:cNvPr id="48" name="Rectangle: Rounded Corners 47">
            <a:extLst>
              <a:ext uri="{FF2B5EF4-FFF2-40B4-BE49-F238E27FC236}">
                <a16:creationId xmlns:a16="http://schemas.microsoft.com/office/drawing/2014/main" id="{78B13D06-36A2-40DB-BC27-02CBB348FAC4}"/>
              </a:ext>
            </a:extLst>
          </p:cNvPr>
          <p:cNvSpPr>
            <a:spLocks noGrp="1"/>
          </p:cNvSpPr>
          <p:nvPr/>
        </p:nvSpPr>
        <p:spPr>
          <a:xfrm>
            <a:off x="590550" y="4924425"/>
            <a:ext cx="5438775" cy="857250"/>
          </a:xfrm>
          <a:prstGeom prst="roundRect">
            <a:avLst>
              <a:gd name="adj" fmla="val 13333"/>
            </a:avLst>
          </a:prstGeom>
          <a:solidFill>
            <a:srgbClr val="FFFFFF"/>
          </a:solidFill>
          <a:ln w="9525">
            <a:solidFill>
              <a:srgbClr val="D1D5DB"/>
            </a:solidFill>
            <a:prstDash val="solid"/>
          </a:ln>
        </p:spPr>
      </p:sp>
      <p:sp>
        <p:nvSpPr>
          <p:cNvPr id="49" name="Rectangle: Rounded Corners 48">
            <a:extLst>
              <a:ext uri="{FF2B5EF4-FFF2-40B4-BE49-F238E27FC236}">
                <a16:creationId xmlns:a16="http://schemas.microsoft.com/office/drawing/2014/main" id="{80D9E50E-2AD6-4F7E-B97F-27B38F137633}"/>
              </a:ext>
            </a:extLst>
          </p:cNvPr>
          <p:cNvSpPr>
            <a:spLocks noGrp="1"/>
          </p:cNvSpPr>
          <p:nvPr/>
        </p:nvSpPr>
        <p:spPr>
          <a:xfrm>
            <a:off x="590550" y="4924425"/>
            <a:ext cx="57150" cy="857250"/>
          </a:xfrm>
          <a:prstGeom prst="roundRect">
            <a:avLst>
              <a:gd name="adj" fmla="val 50000"/>
            </a:avLst>
          </a:prstGeom>
          <a:solidFill>
            <a:srgbClr val="0F766E"/>
          </a:solidFill>
          <a:ln w="0">
            <a:solidFill>
              <a:srgbClr val="0F766E"/>
            </a:solidFill>
            <a:prstDash val="solid"/>
          </a:ln>
        </p:spPr>
      </p:sp>
      <p:sp>
        <p:nvSpPr>
          <p:cNvPr id="50" name="Oval 49">
            <a:extLst>
              <a:ext uri="{FF2B5EF4-FFF2-40B4-BE49-F238E27FC236}">
                <a16:creationId xmlns:a16="http://schemas.microsoft.com/office/drawing/2014/main" id="{C7C25039-C421-4757-ABB4-D3BCF49DC38E}"/>
              </a:ext>
            </a:extLst>
          </p:cNvPr>
          <p:cNvSpPr>
            <a:spLocks noGrp="1"/>
          </p:cNvSpPr>
          <p:nvPr/>
        </p:nvSpPr>
        <p:spPr>
          <a:xfrm>
            <a:off x="762000" y="5095875"/>
            <a:ext cx="419100" cy="419100"/>
          </a:xfrm>
          <a:prstGeom prst="ellipse">
            <a:avLst/>
          </a:prstGeom>
          <a:solidFill>
            <a:srgbClr val="ECFDF5"/>
          </a:solidFill>
          <a:ln w="0">
            <a:noFill/>
            <a:prstDash val="solid"/>
          </a:ln>
        </p:spPr>
      </p:sp>
      <p:pic>
        <p:nvPicPr>
          <p:cNvPr id="110" name="Graphic 109"/>
          <p:cNvPicPr>
            <a:picLocks noChangeAspect="1"/>
          </p:cNvPicPr>
          <p:nvPr/>
        </p:nvPicPr>
        <p:blipFill>
          <a:blip>
            <a:extLst>
              <a:ext uri="{96DAC541-7B7A-43D3-8B79-37D633B846F1}">
                <asvg:svgBlip xmlns:asvg="http://schemas.microsoft.com/office/drawing/2016/SVG/main" r:embed="rId11"/>
              </a:ext>
            </a:extLst>
          </a:blip>
          <a:stretch/>
        </p:blipFill>
        <p:spPr>
          <a:xfrm>
            <a:off x="858393" y="5192268"/>
            <a:ext cx="226314" cy="226314"/>
          </a:xfrm>
          <a:prstGeom prst="rect">
            <a:avLst/>
          </a:prstGeom>
        </p:spPr>
      </p:pic>
      <p:sp>
        <p:nvSpPr>
          <p:cNvPr id="52" name="Rectangle 51">
            <a:extLst>
              <a:ext uri="{FF2B5EF4-FFF2-40B4-BE49-F238E27FC236}">
                <a16:creationId xmlns:a16="http://schemas.microsoft.com/office/drawing/2014/main" id="{56E97E04-5546-4473-8AD5-79A1B3F7617C}"/>
              </a:ext>
            </a:extLst>
          </p:cNvPr>
          <p:cNvSpPr>
            <a:spLocks noGrp="1"/>
          </p:cNvSpPr>
          <p:nvPr/>
        </p:nvSpPr>
        <p:spPr>
          <a:xfrm>
            <a:off x="1314450" y="5067300"/>
            <a:ext cx="361950" cy="171450"/>
          </a:xfrm>
          <a:prstGeom prst="rect">
            <a:avLst/>
          </a:prstGeom>
          <a:noFill/>
          <a:ln w="0">
            <a:noFill/>
            <a:prstDash val="solid"/>
          </a:ln>
        </p:spPr>
        <p:txBody>
          <a:bodyPr/>
          <a:lstStyle/>
          <a:p>
            <a:pPr algn="l">
              <a:defRPr sz="825" b="1" i="0">
                <a:solidFill>
                  <a:srgbClr val="EA580C"/>
                </a:solidFill>
              </a:defRPr>
            </a:pPr>
            <a:r>
              <a:rPr sz="825" b="1" i="0" dirty="0">
                <a:solidFill>
                  <a:srgbClr val="0F766E"/>
                </a:solidFill>
              </a:rPr>
              <a:t>07</a:t>
            </a:r>
          </a:p>
        </p:txBody>
      </p:sp>
      <p:sp>
        <p:nvSpPr>
          <p:cNvPr id="53" name="Rectangle 52">
            <a:extLst>
              <a:ext uri="{FF2B5EF4-FFF2-40B4-BE49-F238E27FC236}">
                <a16:creationId xmlns:a16="http://schemas.microsoft.com/office/drawing/2014/main" id="{63AA7BE5-7536-44D9-BC30-831412736FC4}"/>
              </a:ext>
            </a:extLst>
          </p:cNvPr>
          <p:cNvSpPr>
            <a:spLocks noGrp="1"/>
          </p:cNvSpPr>
          <p:nvPr/>
        </p:nvSpPr>
        <p:spPr>
          <a:xfrm>
            <a:off x="1314450" y="5257800"/>
            <a:ext cx="4543425" cy="438150"/>
          </a:xfrm>
          <a:prstGeom prst="rect">
            <a:avLst/>
          </a:prstGeom>
          <a:noFill/>
          <a:ln w="0">
            <a:noFill/>
            <a:prstDash val="solid"/>
          </a:ln>
        </p:spPr>
        <p:txBody>
          <a:bodyPr/>
          <a:lstStyle/>
          <a:p>
            <a:pPr algn="l">
              <a:defRPr sz="1238" b="1" i="0">
                <a:solidFill>
                  <a:srgbClr val="172554"/>
                </a:solidFill>
              </a:defRPr>
            </a:pPr>
            <a:r>
              <a:rPr sz="1238" b="1" i="0">
                <a:solidFill>
                  <a:srgbClr val="172554"/>
                </a:solidFill>
              </a:rPr>
              <a:t>Provide SOS safety features for passengers and drivers</a:t>
            </a:r>
          </a:p>
        </p:txBody>
      </p:sp>
      <p:sp>
        <p:nvSpPr>
          <p:cNvPr id="54" name="Rectangle: Rounded Corners 53">
            <a:extLst>
              <a:ext uri="{FF2B5EF4-FFF2-40B4-BE49-F238E27FC236}">
                <a16:creationId xmlns:a16="http://schemas.microsoft.com/office/drawing/2014/main" id="{DD629D3D-6076-491F-BCE4-B7C6338ACDF9}"/>
              </a:ext>
            </a:extLst>
          </p:cNvPr>
          <p:cNvSpPr>
            <a:spLocks noGrp="1"/>
          </p:cNvSpPr>
          <p:nvPr/>
        </p:nvSpPr>
        <p:spPr>
          <a:xfrm>
            <a:off x="6162675" y="4924425"/>
            <a:ext cx="5438775" cy="857250"/>
          </a:xfrm>
          <a:prstGeom prst="roundRect">
            <a:avLst>
              <a:gd name="adj" fmla="val 13333"/>
            </a:avLst>
          </a:prstGeom>
          <a:solidFill>
            <a:srgbClr val="FFFFFF"/>
          </a:solidFill>
          <a:ln w="9525">
            <a:solidFill>
              <a:srgbClr val="D1D5DB"/>
            </a:solidFill>
            <a:prstDash val="solid"/>
          </a:ln>
        </p:spPr>
      </p:sp>
      <p:sp>
        <p:nvSpPr>
          <p:cNvPr id="55" name="Rectangle: Rounded Corners 54">
            <a:extLst>
              <a:ext uri="{FF2B5EF4-FFF2-40B4-BE49-F238E27FC236}">
                <a16:creationId xmlns:a16="http://schemas.microsoft.com/office/drawing/2014/main" id="{32FC877D-4C1E-46D6-A92B-7FC83280BAE8}"/>
              </a:ext>
            </a:extLst>
          </p:cNvPr>
          <p:cNvSpPr>
            <a:spLocks noGrp="1"/>
          </p:cNvSpPr>
          <p:nvPr/>
        </p:nvSpPr>
        <p:spPr>
          <a:xfrm>
            <a:off x="6162675" y="4924425"/>
            <a:ext cx="57150" cy="857250"/>
          </a:xfrm>
          <a:prstGeom prst="roundRect">
            <a:avLst>
              <a:gd name="adj" fmla="val 50000"/>
            </a:avLst>
          </a:prstGeom>
          <a:solidFill>
            <a:srgbClr val="0F766E"/>
          </a:solidFill>
          <a:ln w="0">
            <a:noFill/>
            <a:prstDash val="solid"/>
          </a:ln>
        </p:spPr>
      </p:sp>
      <p:sp>
        <p:nvSpPr>
          <p:cNvPr id="56" name="Oval 55">
            <a:extLst>
              <a:ext uri="{FF2B5EF4-FFF2-40B4-BE49-F238E27FC236}">
                <a16:creationId xmlns:a16="http://schemas.microsoft.com/office/drawing/2014/main" id="{798330BD-918A-4FCF-8ABA-1CD0598E92C4}"/>
              </a:ext>
            </a:extLst>
          </p:cNvPr>
          <p:cNvSpPr>
            <a:spLocks noGrp="1"/>
          </p:cNvSpPr>
          <p:nvPr/>
        </p:nvSpPr>
        <p:spPr>
          <a:xfrm>
            <a:off x="6334125" y="5095875"/>
            <a:ext cx="419100" cy="419100"/>
          </a:xfrm>
          <a:prstGeom prst="ellipse">
            <a:avLst/>
          </a:prstGeom>
          <a:solidFill>
            <a:srgbClr val="ECFDF5"/>
          </a:solidFill>
          <a:ln w="0">
            <a:noFill/>
            <a:prstDash val="solid"/>
          </a:ln>
        </p:spPr>
      </p:sp>
      <p:pic>
        <p:nvPicPr>
          <p:cNvPr id="116" name="Graphic 115"/>
          <p:cNvPicPr>
            <a:picLocks noChangeAspect="1"/>
          </p:cNvPicPr>
          <p:nvPr/>
        </p:nvPicPr>
        <p:blipFill>
          <a:blip>
            <a:extLst>
              <a:ext uri="{96DAC541-7B7A-43D3-8B79-37D633B846F1}">
                <asvg:svgBlip xmlns:asvg="http://schemas.microsoft.com/office/drawing/2016/SVG/main" r:embed="rId12"/>
              </a:ext>
            </a:extLst>
          </a:blip>
          <a:stretch/>
        </p:blipFill>
        <p:spPr>
          <a:xfrm>
            <a:off x="6430518" y="5192268"/>
            <a:ext cx="226314" cy="226314"/>
          </a:xfrm>
          <a:prstGeom prst="rect">
            <a:avLst/>
          </a:prstGeom>
        </p:spPr>
      </p:pic>
      <p:sp>
        <p:nvSpPr>
          <p:cNvPr id="58" name="Rectangle 57">
            <a:extLst>
              <a:ext uri="{FF2B5EF4-FFF2-40B4-BE49-F238E27FC236}">
                <a16:creationId xmlns:a16="http://schemas.microsoft.com/office/drawing/2014/main" id="{18B00864-84B5-411F-8E92-6CE229D87544}"/>
              </a:ext>
            </a:extLst>
          </p:cNvPr>
          <p:cNvSpPr>
            <a:spLocks noGrp="1"/>
          </p:cNvSpPr>
          <p:nvPr/>
        </p:nvSpPr>
        <p:spPr>
          <a:xfrm>
            <a:off x="6886575" y="5067300"/>
            <a:ext cx="361950" cy="171450"/>
          </a:xfrm>
          <a:prstGeom prst="rect">
            <a:avLst/>
          </a:prstGeom>
          <a:noFill/>
          <a:ln w="0">
            <a:noFill/>
            <a:prstDash val="solid"/>
          </a:ln>
        </p:spPr>
        <p:txBody>
          <a:bodyPr/>
          <a:lstStyle/>
          <a:p>
            <a:pPr algn="l">
              <a:defRPr sz="825" b="1" i="0">
                <a:solidFill>
                  <a:srgbClr val="0F766E"/>
                </a:solidFill>
              </a:defRPr>
            </a:pPr>
            <a:r>
              <a:rPr sz="825" b="1" i="0">
                <a:solidFill>
                  <a:srgbClr val="0F766E"/>
                </a:solidFill>
              </a:rPr>
              <a:t>08</a:t>
            </a:r>
          </a:p>
        </p:txBody>
      </p:sp>
      <p:sp>
        <p:nvSpPr>
          <p:cNvPr id="59" name="Rectangle 58">
            <a:extLst>
              <a:ext uri="{FF2B5EF4-FFF2-40B4-BE49-F238E27FC236}">
                <a16:creationId xmlns:a16="http://schemas.microsoft.com/office/drawing/2014/main" id="{2FE32821-7B93-4BA9-B015-1A207D9F8554}"/>
              </a:ext>
            </a:extLst>
          </p:cNvPr>
          <p:cNvSpPr>
            <a:spLocks noGrp="1"/>
          </p:cNvSpPr>
          <p:nvPr/>
        </p:nvSpPr>
        <p:spPr>
          <a:xfrm>
            <a:off x="6886575" y="5257800"/>
            <a:ext cx="4543425" cy="438150"/>
          </a:xfrm>
          <a:prstGeom prst="rect">
            <a:avLst/>
          </a:prstGeom>
          <a:noFill/>
          <a:ln w="0">
            <a:noFill/>
            <a:prstDash val="solid"/>
          </a:ln>
        </p:spPr>
        <p:txBody>
          <a:bodyPr/>
          <a:lstStyle/>
          <a:p>
            <a:pPr algn="l">
              <a:defRPr sz="1238" b="1" i="0">
                <a:solidFill>
                  <a:srgbClr val="172554"/>
                </a:solidFill>
              </a:defRPr>
            </a:pPr>
            <a:r>
              <a:rPr sz="1238" b="1" i="0">
                <a:solidFill>
                  <a:srgbClr val="172554"/>
                </a:solidFill>
              </a:rPr>
              <a:t>Generate route and performance analytics for administrators</a:t>
            </a:r>
          </a:p>
        </p:txBody>
      </p:sp>
    </p:spTree>
    <p:extLst>
      <p:ext uri="{BB962C8B-B14F-4D97-AF65-F5344CB8AC3E}">
        <p14:creationId xmlns:p14="http://schemas.microsoft.com/office/powerpoint/2010/main" val="768330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 name="Rectangle: Rounded Corners 103">
            <a:extLst>
              <a:ext uri="{FF2B5EF4-FFF2-40B4-BE49-F238E27FC236}">
                <a16:creationId xmlns:a16="http://schemas.microsoft.com/office/drawing/2014/main" id="{BCDC5005-BD83-4CE6-B445-6AEA40190363}"/>
              </a:ext>
            </a:extLst>
          </p:cNvPr>
          <p:cNvSpPr>
            <a:spLocks noGrp="1"/>
          </p:cNvSpPr>
          <p:nvPr/>
        </p:nvSpPr>
        <p:spPr>
          <a:xfrm>
            <a:off x="514350" y="323850"/>
            <a:ext cx="76200" cy="552450"/>
          </a:xfrm>
          <a:prstGeom prst="roundRect">
            <a:avLst>
              <a:gd name="adj" fmla="val 50000"/>
            </a:avLst>
          </a:prstGeom>
          <a:solidFill>
            <a:srgbClr val="EA580C"/>
          </a:solidFill>
          <a:ln w="0">
            <a:noFill/>
            <a:prstDash val="solid"/>
          </a:ln>
        </p:spPr>
      </p:sp>
      <p:sp>
        <p:nvSpPr>
          <p:cNvPr id="2" name="Oval 1">
            <a:extLst>
              <a:ext uri="{FF2B5EF4-FFF2-40B4-BE49-F238E27FC236}">
                <a16:creationId xmlns:a16="http://schemas.microsoft.com/office/drawing/2014/main" id="{65A60BE9-CAC3-453E-9882-EC36E2AB9194}"/>
              </a:ext>
            </a:extLst>
          </p:cNvPr>
          <p:cNvSpPr>
            <a:spLocks noGrp="1"/>
          </p:cNvSpPr>
          <p:nvPr/>
        </p:nvSpPr>
        <p:spPr>
          <a:xfrm>
            <a:off x="742950" y="361950"/>
            <a:ext cx="457200" cy="457200"/>
          </a:xfrm>
          <a:prstGeom prst="ellipse">
            <a:avLst/>
          </a:prstGeom>
          <a:solidFill>
            <a:srgbClr val="EEF2FF"/>
          </a:solidFill>
          <a:ln w="0">
            <a:noFill/>
            <a:prstDash val="solid"/>
          </a:ln>
        </p:spPr>
      </p:sp>
      <p:pic>
        <p:nvPicPr>
          <p:cNvPr id="106" name="Graphic 105"/>
          <p:cNvPicPr>
            <a:picLocks noChangeAspect="1"/>
          </p:cNvPicPr>
          <p:nvPr/>
        </p:nvPicPr>
        <p:blipFill>
          <a:blip>
            <a:extLst>
              <a:ext uri="{96DAC541-7B7A-43D3-8B79-37D633B846F1}">
                <asvg:svgBlip xmlns:asvg="http://schemas.microsoft.com/office/drawing/2016/SVG/main" r:embed="rId3"/>
              </a:ext>
            </a:extLst>
          </a:blip>
          <a:stretch/>
        </p:blipFill>
        <p:spPr>
          <a:xfrm>
            <a:off x="848106" y="467106"/>
            <a:ext cx="246888" cy="246888"/>
          </a:xfrm>
          <a:prstGeom prst="rect">
            <a:avLst/>
          </a:prstGeom>
        </p:spPr>
      </p:pic>
      <p:sp>
        <p:nvSpPr>
          <p:cNvPr id="4" name="Rectangle 3">
            <a:extLst>
              <a:ext uri="{FF2B5EF4-FFF2-40B4-BE49-F238E27FC236}">
                <a16:creationId xmlns:a16="http://schemas.microsoft.com/office/drawing/2014/main" id="{A1C543D1-95BD-4AF4-827B-65083789F6CF}"/>
              </a:ext>
            </a:extLst>
          </p:cNvPr>
          <p:cNvSpPr>
            <a:spLocks noGrp="1"/>
          </p:cNvSpPr>
          <p:nvPr/>
        </p:nvSpPr>
        <p:spPr>
          <a:xfrm>
            <a:off x="1352550" y="361950"/>
            <a:ext cx="4762500" cy="171450"/>
          </a:xfrm>
          <a:prstGeom prst="rect">
            <a:avLst/>
          </a:prstGeom>
          <a:noFill/>
          <a:ln w="0">
            <a:noFill/>
            <a:prstDash val="solid"/>
          </a:ln>
        </p:spPr>
        <p:txBody>
          <a:bodyPr/>
          <a:lstStyle/>
          <a:p>
            <a:pPr algn="l">
              <a:defRPr sz="825" b="1" i="0">
                <a:solidFill>
                  <a:srgbClr val="0F766E"/>
                </a:solidFill>
              </a:defRPr>
            </a:pPr>
            <a:r>
              <a:rPr sz="825" b="1" i="0">
                <a:solidFill>
                  <a:srgbClr val="0F766E"/>
                </a:solidFill>
              </a:rPr>
              <a:t>DEVELOPMENT MODEL</a:t>
            </a:r>
          </a:p>
        </p:txBody>
      </p:sp>
      <p:sp>
        <p:nvSpPr>
          <p:cNvPr id="5" name="Rectangle 4">
            <a:extLst>
              <a:ext uri="{FF2B5EF4-FFF2-40B4-BE49-F238E27FC236}">
                <a16:creationId xmlns:a16="http://schemas.microsoft.com/office/drawing/2014/main" id="{BE75D53F-C353-4948-BF59-0FB78E3DAF42}"/>
              </a:ext>
            </a:extLst>
          </p:cNvPr>
          <p:cNvSpPr>
            <a:spLocks noGrp="1"/>
          </p:cNvSpPr>
          <p:nvPr/>
        </p:nvSpPr>
        <p:spPr>
          <a:xfrm>
            <a:off x="1352550" y="552450"/>
            <a:ext cx="9906000" cy="409575"/>
          </a:xfrm>
          <a:prstGeom prst="rect">
            <a:avLst/>
          </a:prstGeom>
          <a:noFill/>
          <a:ln w="0">
            <a:noFill/>
            <a:prstDash val="solid"/>
          </a:ln>
        </p:spPr>
        <p:txBody>
          <a:bodyPr/>
          <a:lstStyle/>
          <a:p>
            <a:pPr algn="l">
              <a:defRPr sz="2550" b="1" i="0">
                <a:solidFill>
                  <a:srgbClr val="172554"/>
                </a:solidFill>
              </a:defRPr>
            </a:pPr>
            <a:r>
              <a:rPr sz="2550" b="1" i="0">
                <a:solidFill>
                  <a:srgbClr val="172554"/>
                </a:solidFill>
              </a:rPr>
              <a:t>Software Engineering Model: Incremental Model</a:t>
            </a:r>
          </a:p>
        </p:txBody>
      </p:sp>
      <p:sp>
        <p:nvSpPr>
          <p:cNvPr id="6" name="Straight Connector 5">
            <a:extLst>
              <a:ext uri="{FF2B5EF4-FFF2-40B4-BE49-F238E27FC236}">
                <a16:creationId xmlns:a16="http://schemas.microsoft.com/office/drawing/2014/main" id="{43D887DC-23CC-4377-B80B-4416C5B64749}"/>
              </a:ext>
            </a:extLst>
          </p:cNvPr>
          <p:cNvSpPr>
            <a:spLocks noGrp="1"/>
          </p:cNvSpPr>
          <p:nvPr/>
        </p:nvSpPr>
        <p:spPr>
          <a:xfrm>
            <a:off x="514350" y="6419850"/>
            <a:ext cx="11163300" cy="0"/>
          </a:xfrm>
          <a:prstGeom prst="line">
            <a:avLst/>
          </a:prstGeom>
          <a:noFill/>
          <a:ln w="9525">
            <a:solidFill>
              <a:srgbClr val="D1D5DB"/>
            </a:solidFill>
            <a:prstDash val="solid"/>
          </a:ln>
        </p:spPr>
      </p:sp>
      <p:sp>
        <p:nvSpPr>
          <p:cNvPr id="7" name="Rectangle 6">
            <a:extLst>
              <a:ext uri="{FF2B5EF4-FFF2-40B4-BE49-F238E27FC236}">
                <a16:creationId xmlns:a16="http://schemas.microsoft.com/office/drawing/2014/main" id="{6044B29E-DF66-480D-82DB-922A84C39440}"/>
              </a:ext>
            </a:extLst>
          </p:cNvPr>
          <p:cNvSpPr>
            <a:spLocks noGrp="1"/>
          </p:cNvSpPr>
          <p:nvPr/>
        </p:nvSpPr>
        <p:spPr>
          <a:xfrm>
            <a:off x="571500" y="6515100"/>
            <a:ext cx="6858000" cy="171450"/>
          </a:xfrm>
          <a:prstGeom prst="rect">
            <a:avLst/>
          </a:prstGeom>
          <a:noFill/>
          <a:ln w="0">
            <a:noFill/>
            <a:prstDash val="solid"/>
          </a:ln>
        </p:spPr>
        <p:txBody>
          <a:bodyPr/>
          <a:lstStyle/>
          <a:p>
            <a:pPr algn="l">
              <a:defRPr sz="825" b="1" i="0">
                <a:solidFill>
                  <a:srgbClr val="4B5563"/>
                </a:solidFill>
              </a:defRPr>
            </a:pPr>
            <a:r>
              <a:rPr sz="825" b="1" i="0" dirty="0">
                <a:solidFill>
                  <a:srgbClr val="4B5563"/>
                </a:solidFill>
              </a:rPr>
              <a:t>Smart Public Bus Management System </a:t>
            </a:r>
          </a:p>
        </p:txBody>
      </p:sp>
      <p:sp>
        <p:nvSpPr>
          <p:cNvPr id="8" name="Rectangle 7">
            <a:extLst>
              <a:ext uri="{FF2B5EF4-FFF2-40B4-BE49-F238E27FC236}">
                <a16:creationId xmlns:a16="http://schemas.microsoft.com/office/drawing/2014/main" id="{590C1B91-0DBE-4B94-9C8E-F27B81AEC3FB}"/>
              </a:ext>
            </a:extLst>
          </p:cNvPr>
          <p:cNvSpPr>
            <a:spLocks noGrp="1"/>
          </p:cNvSpPr>
          <p:nvPr/>
        </p:nvSpPr>
        <p:spPr>
          <a:xfrm>
            <a:off x="11049000" y="6505575"/>
            <a:ext cx="571500" cy="171450"/>
          </a:xfrm>
          <a:prstGeom prst="rect">
            <a:avLst/>
          </a:prstGeom>
          <a:noFill/>
          <a:ln w="0">
            <a:noFill/>
            <a:prstDash val="solid"/>
          </a:ln>
        </p:spPr>
        <p:txBody>
          <a:bodyPr/>
          <a:lstStyle/>
          <a:p>
            <a:pPr algn="r">
              <a:defRPr sz="825" b="1" i="0">
                <a:solidFill>
                  <a:srgbClr val="1E3A8A"/>
                </a:solidFill>
              </a:defRPr>
            </a:pPr>
            <a:r>
              <a:rPr sz="825" b="1" i="0">
                <a:solidFill>
                  <a:srgbClr val="1E3A8A"/>
                </a:solidFill>
              </a:rPr>
              <a:t>06</a:t>
            </a:r>
          </a:p>
        </p:txBody>
      </p:sp>
      <p:sp>
        <p:nvSpPr>
          <p:cNvPr id="9" name="Rectangle: Rounded Corners 8">
            <a:extLst>
              <a:ext uri="{FF2B5EF4-FFF2-40B4-BE49-F238E27FC236}">
                <a16:creationId xmlns:a16="http://schemas.microsoft.com/office/drawing/2014/main" id="{00983081-3E7A-4F2D-BE51-FD17020C8038}"/>
              </a:ext>
            </a:extLst>
          </p:cNvPr>
          <p:cNvSpPr>
            <a:spLocks noGrp="1"/>
          </p:cNvSpPr>
          <p:nvPr/>
        </p:nvSpPr>
        <p:spPr>
          <a:xfrm>
            <a:off x="590550" y="1066800"/>
            <a:ext cx="11010900" cy="866775"/>
          </a:xfrm>
          <a:prstGeom prst="roundRect">
            <a:avLst>
              <a:gd name="adj" fmla="val 13187"/>
            </a:avLst>
          </a:prstGeom>
          <a:solidFill>
            <a:srgbClr val="F3F4F6"/>
          </a:solidFill>
          <a:ln w="0">
            <a:noFill/>
            <a:prstDash val="solid"/>
          </a:ln>
        </p:spPr>
      </p:sp>
      <p:pic>
        <p:nvPicPr>
          <p:cNvPr id="113" name="Graphic 112"/>
          <p:cNvPicPr>
            <a:picLocks noChangeAspect="1"/>
          </p:cNvPicPr>
          <p:nvPr/>
        </p:nvPicPr>
        <p:blipFill>
          <a:blip>
            <a:extLst>
              <a:ext uri="{96DAC541-7B7A-43D3-8B79-37D633B846F1}">
                <asvg:svgBlip xmlns:asvg="http://schemas.microsoft.com/office/drawing/2016/SVG/main" r:embed="rId4"/>
              </a:ext>
            </a:extLst>
          </a:blip>
          <a:stretch/>
        </p:blipFill>
        <p:spPr>
          <a:xfrm>
            <a:off x="781050" y="1314450"/>
            <a:ext cx="285750" cy="285750"/>
          </a:xfrm>
          <a:prstGeom prst="rect">
            <a:avLst/>
          </a:prstGeom>
        </p:spPr>
      </p:pic>
      <p:sp>
        <p:nvSpPr>
          <p:cNvPr id="11" name="Rectangle 10">
            <a:extLst>
              <a:ext uri="{FF2B5EF4-FFF2-40B4-BE49-F238E27FC236}">
                <a16:creationId xmlns:a16="http://schemas.microsoft.com/office/drawing/2014/main" id="{7E205895-DD58-4309-A143-8CB7132800F6}"/>
              </a:ext>
            </a:extLst>
          </p:cNvPr>
          <p:cNvSpPr>
            <a:spLocks noGrp="1"/>
          </p:cNvSpPr>
          <p:nvPr/>
        </p:nvSpPr>
        <p:spPr>
          <a:xfrm>
            <a:off x="1257300" y="1171575"/>
            <a:ext cx="10001250" cy="657225"/>
          </a:xfrm>
          <a:prstGeom prst="rect">
            <a:avLst/>
          </a:prstGeom>
          <a:noFill/>
          <a:ln w="0">
            <a:noFill/>
            <a:prstDash val="solid"/>
          </a:ln>
        </p:spPr>
        <p:txBody>
          <a:bodyPr/>
          <a:lstStyle/>
          <a:p>
            <a:pPr>
              <a:defRPr sz="1140" b="1" i="0">
                <a:solidFill>
                  <a:srgbClr val="172554"/>
                </a:solidFill>
              </a:defRPr>
            </a:pPr>
            <a:r>
              <a:rPr lang="en-IN" sz="1140" b="1" dirty="0">
                <a:solidFill>
                  <a:srgbClr val="172554"/>
                </a:solidFill>
              </a:rPr>
              <a:t>The Incremental Model fits because a complete working MVP is delivered first. Notifications, voice alerts, SOS, and analytics are then added as separate increments. Each increment is planned, built, tested, and integrated before the next begins, ensuring that a functional system is always available even if later work is delayed.</a:t>
            </a:r>
            <a:endParaRPr sz="1140" b="1" i="0" dirty="0">
              <a:solidFill>
                <a:srgbClr val="172554"/>
              </a:solidFill>
            </a:endParaRPr>
          </a:p>
        </p:txBody>
      </p:sp>
      <p:sp>
        <p:nvSpPr>
          <p:cNvPr id="12" name="Rectangle: Rounded Corners 11">
            <a:extLst>
              <a:ext uri="{FF2B5EF4-FFF2-40B4-BE49-F238E27FC236}">
                <a16:creationId xmlns:a16="http://schemas.microsoft.com/office/drawing/2014/main" id="{C401A7C2-215F-4A8F-BA07-6E66A63AE8FC}"/>
              </a:ext>
            </a:extLst>
          </p:cNvPr>
          <p:cNvSpPr>
            <a:spLocks noGrp="1"/>
          </p:cNvSpPr>
          <p:nvPr/>
        </p:nvSpPr>
        <p:spPr>
          <a:xfrm>
            <a:off x="400050" y="2257425"/>
            <a:ext cx="2057400" cy="3086100"/>
          </a:xfrm>
          <a:prstGeom prst="roundRect">
            <a:avLst>
              <a:gd name="adj" fmla="val 6481"/>
            </a:avLst>
          </a:prstGeom>
          <a:solidFill>
            <a:srgbClr val="FFFFFF"/>
          </a:solidFill>
          <a:ln w="9525">
            <a:solidFill>
              <a:srgbClr val="D1D5DB"/>
            </a:solidFill>
            <a:prstDash val="solid"/>
          </a:ln>
        </p:spPr>
      </p:sp>
      <p:sp>
        <p:nvSpPr>
          <p:cNvPr id="13" name="Rectangle: Rounded Corners 12">
            <a:extLst>
              <a:ext uri="{FF2B5EF4-FFF2-40B4-BE49-F238E27FC236}">
                <a16:creationId xmlns:a16="http://schemas.microsoft.com/office/drawing/2014/main" id="{07B22D40-DF5D-4FB5-8B90-54E6EEA79BA3}"/>
              </a:ext>
            </a:extLst>
          </p:cNvPr>
          <p:cNvSpPr>
            <a:spLocks noGrp="1"/>
          </p:cNvSpPr>
          <p:nvPr/>
        </p:nvSpPr>
        <p:spPr>
          <a:xfrm>
            <a:off x="400050" y="2257425"/>
            <a:ext cx="2057400" cy="552450"/>
          </a:xfrm>
          <a:prstGeom prst="roundRect">
            <a:avLst>
              <a:gd name="adj" fmla="val 24138"/>
            </a:avLst>
          </a:prstGeom>
          <a:solidFill>
            <a:srgbClr val="1E3A8A"/>
          </a:solidFill>
          <a:ln w="0">
            <a:noFill/>
            <a:prstDash val="solid"/>
          </a:ln>
        </p:spPr>
      </p:sp>
      <p:pic>
        <p:nvPicPr>
          <p:cNvPr id="117" name="Graphic 116"/>
          <p:cNvPicPr>
            <a:picLocks noChangeAspect="1"/>
          </p:cNvPicPr>
          <p:nvPr/>
        </p:nvPicPr>
        <p:blipFill>
          <a:blip>
            <a:extLst>
              <a:ext uri="{96DAC541-7B7A-43D3-8B79-37D633B846F1}">
                <asvg:svgBlip xmlns:asvg="http://schemas.microsoft.com/office/drawing/2016/SVG/main" r:embed="rId5"/>
              </a:ext>
            </a:extLst>
          </a:blip>
          <a:stretch/>
        </p:blipFill>
        <p:spPr>
          <a:xfrm>
            <a:off x="552450" y="2409825"/>
            <a:ext cx="247650" cy="247650"/>
          </a:xfrm>
          <a:prstGeom prst="rect">
            <a:avLst/>
          </a:prstGeom>
        </p:spPr>
      </p:pic>
      <p:sp>
        <p:nvSpPr>
          <p:cNvPr id="15" name="Rectangle 14">
            <a:extLst>
              <a:ext uri="{FF2B5EF4-FFF2-40B4-BE49-F238E27FC236}">
                <a16:creationId xmlns:a16="http://schemas.microsoft.com/office/drawing/2014/main" id="{437A7DF7-A3F3-4545-8B6B-4DED06D14E8F}"/>
              </a:ext>
            </a:extLst>
          </p:cNvPr>
          <p:cNvSpPr>
            <a:spLocks noGrp="1"/>
          </p:cNvSpPr>
          <p:nvPr/>
        </p:nvSpPr>
        <p:spPr>
          <a:xfrm>
            <a:off x="870585" y="2381059"/>
            <a:ext cx="1390650" cy="247650"/>
          </a:xfrm>
          <a:prstGeom prst="rect">
            <a:avLst/>
          </a:prstGeom>
          <a:noFill/>
          <a:ln w="0">
            <a:noFill/>
            <a:prstDash val="solid"/>
          </a:ln>
        </p:spPr>
        <p:txBody>
          <a:bodyPr/>
          <a:lstStyle/>
          <a:p>
            <a:pPr algn="l">
              <a:defRPr sz="900" b="1" i="0">
                <a:solidFill>
                  <a:srgbClr val="FFFFFF"/>
                </a:solidFill>
              </a:defRPr>
            </a:pPr>
            <a:r>
              <a:rPr sz="1400" b="1" i="0" dirty="0">
                <a:solidFill>
                  <a:srgbClr val="FFFFFF"/>
                </a:solidFill>
              </a:rPr>
              <a:t>Increment 1</a:t>
            </a:r>
          </a:p>
        </p:txBody>
      </p:sp>
      <p:sp>
        <p:nvSpPr>
          <p:cNvPr id="16" name="Rectangle 15">
            <a:extLst>
              <a:ext uri="{FF2B5EF4-FFF2-40B4-BE49-F238E27FC236}">
                <a16:creationId xmlns:a16="http://schemas.microsoft.com/office/drawing/2014/main" id="{1709BEC1-09DD-4401-B045-8FAE77F1F571}"/>
              </a:ext>
            </a:extLst>
          </p:cNvPr>
          <p:cNvSpPr>
            <a:spLocks noGrp="1"/>
          </p:cNvSpPr>
          <p:nvPr/>
        </p:nvSpPr>
        <p:spPr>
          <a:xfrm>
            <a:off x="914400" y="2543175"/>
            <a:ext cx="1390650" cy="152400"/>
          </a:xfrm>
          <a:prstGeom prst="rect">
            <a:avLst/>
          </a:prstGeom>
          <a:noFill/>
          <a:ln w="0">
            <a:noFill/>
            <a:prstDash val="solid"/>
          </a:ln>
        </p:spPr>
        <p:txBody>
          <a:bodyPr/>
          <a:lstStyle/>
          <a:p>
            <a:pPr algn="l">
              <a:defRPr sz="788" b="1" i="0">
                <a:solidFill>
                  <a:srgbClr val="FFFFFF"/>
                </a:solidFill>
              </a:defRPr>
            </a:pPr>
            <a:endParaRPr sz="788" b="1" i="0" dirty="0">
              <a:solidFill>
                <a:srgbClr val="FFFFFF"/>
              </a:solidFill>
            </a:endParaRPr>
          </a:p>
        </p:txBody>
      </p:sp>
      <p:sp>
        <p:nvSpPr>
          <p:cNvPr id="17" name="Rectangle 16">
            <a:extLst>
              <a:ext uri="{FF2B5EF4-FFF2-40B4-BE49-F238E27FC236}">
                <a16:creationId xmlns:a16="http://schemas.microsoft.com/office/drawing/2014/main" id="{D6F4C7B7-8DDE-4F1A-91B8-7B80294E0D34}"/>
              </a:ext>
            </a:extLst>
          </p:cNvPr>
          <p:cNvSpPr>
            <a:spLocks noGrp="1"/>
          </p:cNvSpPr>
          <p:nvPr/>
        </p:nvSpPr>
        <p:spPr>
          <a:xfrm>
            <a:off x="552450" y="2971800"/>
            <a:ext cx="1752600" cy="523875"/>
          </a:xfrm>
          <a:prstGeom prst="rect">
            <a:avLst/>
          </a:prstGeom>
          <a:noFill/>
          <a:ln w="0">
            <a:noFill/>
            <a:prstDash val="solid"/>
          </a:ln>
        </p:spPr>
        <p:txBody>
          <a:bodyPr/>
          <a:lstStyle/>
          <a:p>
            <a:pPr algn="ctr">
              <a:defRPr sz="1238" b="1" i="0">
                <a:solidFill>
                  <a:srgbClr val="172554"/>
                </a:solidFill>
              </a:defRPr>
            </a:pPr>
            <a:r>
              <a:rPr sz="1238" b="1" i="0">
                <a:solidFill>
                  <a:srgbClr val="172554"/>
                </a:solidFill>
              </a:rPr>
              <a:t>Core registry and accounts</a:t>
            </a:r>
          </a:p>
        </p:txBody>
      </p:sp>
      <p:sp>
        <p:nvSpPr>
          <p:cNvPr id="18" name="Rectangle 17">
            <a:extLst>
              <a:ext uri="{FF2B5EF4-FFF2-40B4-BE49-F238E27FC236}">
                <a16:creationId xmlns:a16="http://schemas.microsoft.com/office/drawing/2014/main" id="{14B1170A-1DBC-41E1-856F-0F9DF253E8C5}"/>
              </a:ext>
            </a:extLst>
          </p:cNvPr>
          <p:cNvSpPr>
            <a:spLocks noGrp="1"/>
          </p:cNvSpPr>
          <p:nvPr/>
        </p:nvSpPr>
        <p:spPr>
          <a:xfrm>
            <a:off x="590550" y="3629025"/>
            <a:ext cx="1676400" cy="142875"/>
          </a:xfrm>
          <a:prstGeom prst="rect">
            <a:avLst/>
          </a:prstGeom>
          <a:noFill/>
          <a:ln w="0">
            <a:noFill/>
            <a:prstDash val="solid"/>
          </a:ln>
        </p:spPr>
        <p:txBody>
          <a:bodyPr/>
          <a:lstStyle/>
          <a:p>
            <a:pPr algn="ctr">
              <a:defRPr sz="713" b="1" i="0">
                <a:solidFill>
                  <a:srgbClr val="1E3A8A"/>
                </a:solidFill>
              </a:defRPr>
            </a:pPr>
            <a:r>
              <a:rPr sz="713" b="1" i="0">
                <a:solidFill>
                  <a:srgbClr val="1E3A8A"/>
                </a:solidFill>
              </a:rPr>
              <a:t>INCREMENT CYCLE</a:t>
            </a:r>
          </a:p>
        </p:txBody>
      </p:sp>
      <p:sp>
        <p:nvSpPr>
          <p:cNvPr id="19" name="Rectangle: Rounded Corners 18">
            <a:extLst>
              <a:ext uri="{FF2B5EF4-FFF2-40B4-BE49-F238E27FC236}">
                <a16:creationId xmlns:a16="http://schemas.microsoft.com/office/drawing/2014/main" id="{65B8A0E0-03A0-400E-9117-98706F862952}"/>
              </a:ext>
            </a:extLst>
          </p:cNvPr>
          <p:cNvSpPr>
            <a:spLocks noGrp="1"/>
          </p:cNvSpPr>
          <p:nvPr/>
        </p:nvSpPr>
        <p:spPr>
          <a:xfrm>
            <a:off x="628650" y="3857625"/>
            <a:ext cx="1600200" cy="200025"/>
          </a:xfrm>
          <a:prstGeom prst="roundRect">
            <a:avLst>
              <a:gd name="adj" fmla="val 33333"/>
            </a:avLst>
          </a:prstGeom>
          <a:solidFill>
            <a:srgbClr val="EEF2FF"/>
          </a:solidFill>
          <a:ln w="0">
            <a:noFill/>
            <a:prstDash val="solid"/>
          </a:ln>
        </p:spPr>
      </p:sp>
      <p:sp>
        <p:nvSpPr>
          <p:cNvPr id="20" name="Rectangle 19">
            <a:extLst>
              <a:ext uri="{FF2B5EF4-FFF2-40B4-BE49-F238E27FC236}">
                <a16:creationId xmlns:a16="http://schemas.microsoft.com/office/drawing/2014/main" id="{5B49B01E-DB8B-4060-A32D-1850E86B52F4}"/>
              </a:ext>
            </a:extLst>
          </p:cNvPr>
          <p:cNvSpPr>
            <a:spLocks noGrp="1"/>
          </p:cNvSpPr>
          <p:nvPr/>
        </p:nvSpPr>
        <p:spPr>
          <a:xfrm>
            <a:off x="723900" y="3895725"/>
            <a:ext cx="1409700" cy="123825"/>
          </a:xfrm>
          <a:prstGeom prst="rect">
            <a:avLst/>
          </a:prstGeom>
          <a:noFill/>
          <a:ln w="0">
            <a:noFill/>
            <a:prstDash val="solid"/>
          </a:ln>
        </p:spPr>
        <p:txBody>
          <a:bodyPr/>
          <a:lstStyle/>
          <a:p>
            <a:pPr algn="ctr">
              <a:defRPr sz="788" b="1" i="0">
                <a:solidFill>
                  <a:srgbClr val="1E3A8A"/>
                </a:solidFill>
              </a:defRPr>
            </a:pPr>
            <a:r>
              <a:rPr sz="788" b="1" i="0">
                <a:solidFill>
                  <a:srgbClr val="1E3A8A"/>
                </a:solidFill>
              </a:rPr>
              <a:t>Communication</a:t>
            </a:r>
          </a:p>
        </p:txBody>
      </p:sp>
      <p:sp>
        <p:nvSpPr>
          <p:cNvPr id="21" name="Rectangle: Rounded Corners 20">
            <a:extLst>
              <a:ext uri="{FF2B5EF4-FFF2-40B4-BE49-F238E27FC236}">
                <a16:creationId xmlns:a16="http://schemas.microsoft.com/office/drawing/2014/main" id="{48CCB5FE-AE15-47BE-9E19-473567D92D64}"/>
              </a:ext>
            </a:extLst>
          </p:cNvPr>
          <p:cNvSpPr>
            <a:spLocks noGrp="1"/>
          </p:cNvSpPr>
          <p:nvPr/>
        </p:nvSpPr>
        <p:spPr>
          <a:xfrm>
            <a:off x="628650" y="4114800"/>
            <a:ext cx="1600200" cy="200025"/>
          </a:xfrm>
          <a:prstGeom prst="roundRect">
            <a:avLst>
              <a:gd name="adj" fmla="val 33333"/>
            </a:avLst>
          </a:prstGeom>
          <a:solidFill>
            <a:srgbClr val="EEF2FF"/>
          </a:solidFill>
          <a:ln w="0">
            <a:noFill/>
            <a:prstDash val="solid"/>
          </a:ln>
        </p:spPr>
      </p:sp>
      <p:sp>
        <p:nvSpPr>
          <p:cNvPr id="22" name="Rectangle 21">
            <a:extLst>
              <a:ext uri="{FF2B5EF4-FFF2-40B4-BE49-F238E27FC236}">
                <a16:creationId xmlns:a16="http://schemas.microsoft.com/office/drawing/2014/main" id="{A4CEDE47-3720-4267-9884-1277E5725BBC}"/>
              </a:ext>
            </a:extLst>
          </p:cNvPr>
          <p:cNvSpPr>
            <a:spLocks noGrp="1"/>
          </p:cNvSpPr>
          <p:nvPr/>
        </p:nvSpPr>
        <p:spPr>
          <a:xfrm>
            <a:off x="723900" y="4152900"/>
            <a:ext cx="1409700" cy="123825"/>
          </a:xfrm>
          <a:prstGeom prst="rect">
            <a:avLst/>
          </a:prstGeom>
          <a:noFill/>
          <a:ln w="0">
            <a:noFill/>
            <a:prstDash val="solid"/>
          </a:ln>
        </p:spPr>
        <p:txBody>
          <a:bodyPr/>
          <a:lstStyle/>
          <a:p>
            <a:pPr algn="ctr">
              <a:defRPr sz="788" b="1" i="0">
                <a:solidFill>
                  <a:srgbClr val="1E3A8A"/>
                </a:solidFill>
              </a:defRPr>
            </a:pPr>
            <a:r>
              <a:rPr sz="788" b="1" i="0">
                <a:solidFill>
                  <a:srgbClr val="1E3A8A"/>
                </a:solidFill>
              </a:rPr>
              <a:t>Planning</a:t>
            </a:r>
          </a:p>
        </p:txBody>
      </p:sp>
      <p:sp>
        <p:nvSpPr>
          <p:cNvPr id="23" name="Rectangle: Rounded Corners 22">
            <a:extLst>
              <a:ext uri="{FF2B5EF4-FFF2-40B4-BE49-F238E27FC236}">
                <a16:creationId xmlns:a16="http://schemas.microsoft.com/office/drawing/2014/main" id="{382C594F-F89F-4F2E-9C16-79699F68A91C}"/>
              </a:ext>
            </a:extLst>
          </p:cNvPr>
          <p:cNvSpPr>
            <a:spLocks noGrp="1"/>
          </p:cNvSpPr>
          <p:nvPr/>
        </p:nvSpPr>
        <p:spPr>
          <a:xfrm>
            <a:off x="628650" y="4371975"/>
            <a:ext cx="1600200" cy="200025"/>
          </a:xfrm>
          <a:prstGeom prst="roundRect">
            <a:avLst>
              <a:gd name="adj" fmla="val 33333"/>
            </a:avLst>
          </a:prstGeom>
          <a:solidFill>
            <a:srgbClr val="EEF2FF"/>
          </a:solidFill>
          <a:ln w="0">
            <a:noFill/>
            <a:prstDash val="solid"/>
          </a:ln>
        </p:spPr>
      </p:sp>
      <p:sp>
        <p:nvSpPr>
          <p:cNvPr id="24" name="Rectangle 23">
            <a:extLst>
              <a:ext uri="{FF2B5EF4-FFF2-40B4-BE49-F238E27FC236}">
                <a16:creationId xmlns:a16="http://schemas.microsoft.com/office/drawing/2014/main" id="{BD0B66C9-61BF-42CF-BE54-2C1FDA5E6ACE}"/>
              </a:ext>
            </a:extLst>
          </p:cNvPr>
          <p:cNvSpPr>
            <a:spLocks noGrp="1"/>
          </p:cNvSpPr>
          <p:nvPr/>
        </p:nvSpPr>
        <p:spPr>
          <a:xfrm>
            <a:off x="723900" y="4410075"/>
            <a:ext cx="1409700" cy="123825"/>
          </a:xfrm>
          <a:prstGeom prst="rect">
            <a:avLst/>
          </a:prstGeom>
          <a:noFill/>
          <a:ln w="0">
            <a:noFill/>
            <a:prstDash val="solid"/>
          </a:ln>
        </p:spPr>
        <p:txBody>
          <a:bodyPr/>
          <a:lstStyle/>
          <a:p>
            <a:pPr algn="ctr">
              <a:defRPr sz="788" b="1" i="0">
                <a:solidFill>
                  <a:srgbClr val="1E3A8A"/>
                </a:solidFill>
              </a:defRPr>
            </a:pPr>
            <a:r>
              <a:rPr sz="788" b="1" i="0">
                <a:solidFill>
                  <a:srgbClr val="1E3A8A"/>
                </a:solidFill>
              </a:rPr>
              <a:t>Modeling</a:t>
            </a:r>
          </a:p>
        </p:txBody>
      </p:sp>
      <p:sp>
        <p:nvSpPr>
          <p:cNvPr id="25" name="Rectangle: Rounded Corners 24">
            <a:extLst>
              <a:ext uri="{FF2B5EF4-FFF2-40B4-BE49-F238E27FC236}">
                <a16:creationId xmlns:a16="http://schemas.microsoft.com/office/drawing/2014/main" id="{74E90C11-1FAC-4091-99FC-069FF7D4C5BE}"/>
              </a:ext>
            </a:extLst>
          </p:cNvPr>
          <p:cNvSpPr>
            <a:spLocks noGrp="1"/>
          </p:cNvSpPr>
          <p:nvPr/>
        </p:nvSpPr>
        <p:spPr>
          <a:xfrm>
            <a:off x="628650" y="4629150"/>
            <a:ext cx="1600200" cy="200025"/>
          </a:xfrm>
          <a:prstGeom prst="roundRect">
            <a:avLst>
              <a:gd name="adj" fmla="val 33333"/>
            </a:avLst>
          </a:prstGeom>
          <a:solidFill>
            <a:srgbClr val="EEF2FF"/>
          </a:solidFill>
          <a:ln w="0">
            <a:noFill/>
            <a:prstDash val="solid"/>
          </a:ln>
        </p:spPr>
      </p:sp>
      <p:sp>
        <p:nvSpPr>
          <p:cNvPr id="26" name="Rectangle 25">
            <a:extLst>
              <a:ext uri="{FF2B5EF4-FFF2-40B4-BE49-F238E27FC236}">
                <a16:creationId xmlns:a16="http://schemas.microsoft.com/office/drawing/2014/main" id="{CDEDF90D-9FC6-4EFD-A325-86E5192D1E34}"/>
              </a:ext>
            </a:extLst>
          </p:cNvPr>
          <p:cNvSpPr>
            <a:spLocks noGrp="1"/>
          </p:cNvSpPr>
          <p:nvPr/>
        </p:nvSpPr>
        <p:spPr>
          <a:xfrm>
            <a:off x="723900" y="4667250"/>
            <a:ext cx="1409700" cy="123825"/>
          </a:xfrm>
          <a:prstGeom prst="rect">
            <a:avLst/>
          </a:prstGeom>
          <a:noFill/>
          <a:ln w="0">
            <a:noFill/>
            <a:prstDash val="solid"/>
          </a:ln>
        </p:spPr>
        <p:txBody>
          <a:bodyPr/>
          <a:lstStyle/>
          <a:p>
            <a:pPr algn="ctr">
              <a:defRPr sz="788" b="1" i="0">
                <a:solidFill>
                  <a:srgbClr val="1E3A8A"/>
                </a:solidFill>
              </a:defRPr>
            </a:pPr>
            <a:r>
              <a:rPr sz="788" b="1" i="0">
                <a:solidFill>
                  <a:srgbClr val="1E3A8A"/>
                </a:solidFill>
              </a:rPr>
              <a:t>Construction</a:t>
            </a:r>
          </a:p>
        </p:txBody>
      </p:sp>
      <p:sp>
        <p:nvSpPr>
          <p:cNvPr id="27" name="Rectangle: Rounded Corners 26">
            <a:extLst>
              <a:ext uri="{FF2B5EF4-FFF2-40B4-BE49-F238E27FC236}">
                <a16:creationId xmlns:a16="http://schemas.microsoft.com/office/drawing/2014/main" id="{859ECE15-DD10-4768-86D0-1660B95BF3C8}"/>
              </a:ext>
            </a:extLst>
          </p:cNvPr>
          <p:cNvSpPr>
            <a:spLocks noGrp="1"/>
          </p:cNvSpPr>
          <p:nvPr/>
        </p:nvSpPr>
        <p:spPr>
          <a:xfrm>
            <a:off x="628650" y="4886325"/>
            <a:ext cx="1600200" cy="200025"/>
          </a:xfrm>
          <a:prstGeom prst="roundRect">
            <a:avLst>
              <a:gd name="adj" fmla="val 33333"/>
            </a:avLst>
          </a:prstGeom>
          <a:solidFill>
            <a:srgbClr val="EEF2FF"/>
          </a:solidFill>
          <a:ln w="0">
            <a:noFill/>
            <a:prstDash val="solid"/>
          </a:ln>
        </p:spPr>
      </p:sp>
      <p:sp>
        <p:nvSpPr>
          <p:cNvPr id="28" name="Rectangle 27">
            <a:extLst>
              <a:ext uri="{FF2B5EF4-FFF2-40B4-BE49-F238E27FC236}">
                <a16:creationId xmlns:a16="http://schemas.microsoft.com/office/drawing/2014/main" id="{664311FB-4988-4D99-841B-48EA54C2271F}"/>
              </a:ext>
            </a:extLst>
          </p:cNvPr>
          <p:cNvSpPr>
            <a:spLocks noGrp="1"/>
          </p:cNvSpPr>
          <p:nvPr/>
        </p:nvSpPr>
        <p:spPr>
          <a:xfrm>
            <a:off x="723900" y="4924425"/>
            <a:ext cx="1409700" cy="123825"/>
          </a:xfrm>
          <a:prstGeom prst="rect">
            <a:avLst/>
          </a:prstGeom>
          <a:noFill/>
          <a:ln w="0">
            <a:noFill/>
            <a:prstDash val="solid"/>
          </a:ln>
        </p:spPr>
        <p:txBody>
          <a:bodyPr/>
          <a:lstStyle/>
          <a:p>
            <a:pPr algn="ctr">
              <a:defRPr sz="788" b="1" i="0">
                <a:solidFill>
                  <a:srgbClr val="1E3A8A"/>
                </a:solidFill>
              </a:defRPr>
            </a:pPr>
            <a:r>
              <a:rPr sz="788" b="1" i="0">
                <a:solidFill>
                  <a:srgbClr val="1E3A8A"/>
                </a:solidFill>
              </a:rPr>
              <a:t>Deployment</a:t>
            </a:r>
          </a:p>
        </p:txBody>
      </p:sp>
      <p:sp>
        <p:nvSpPr>
          <p:cNvPr id="29" name="Rectangle: Rounded Corners 28">
            <a:extLst>
              <a:ext uri="{FF2B5EF4-FFF2-40B4-BE49-F238E27FC236}">
                <a16:creationId xmlns:a16="http://schemas.microsoft.com/office/drawing/2014/main" id="{9019B6AC-4C34-4589-A059-02B806811614}"/>
              </a:ext>
            </a:extLst>
          </p:cNvPr>
          <p:cNvSpPr>
            <a:spLocks noGrp="1"/>
          </p:cNvSpPr>
          <p:nvPr/>
        </p:nvSpPr>
        <p:spPr>
          <a:xfrm>
            <a:off x="2733675" y="2257425"/>
            <a:ext cx="2057400" cy="3086100"/>
          </a:xfrm>
          <a:prstGeom prst="roundRect">
            <a:avLst>
              <a:gd name="adj" fmla="val 6481"/>
            </a:avLst>
          </a:prstGeom>
          <a:solidFill>
            <a:srgbClr val="FFFFFF"/>
          </a:solidFill>
          <a:ln w="9525">
            <a:solidFill>
              <a:srgbClr val="D1D5DB"/>
            </a:solidFill>
            <a:prstDash val="solid"/>
          </a:ln>
        </p:spPr>
      </p:sp>
      <p:sp>
        <p:nvSpPr>
          <p:cNvPr id="30" name="Rectangle: Rounded Corners 29">
            <a:extLst>
              <a:ext uri="{FF2B5EF4-FFF2-40B4-BE49-F238E27FC236}">
                <a16:creationId xmlns:a16="http://schemas.microsoft.com/office/drawing/2014/main" id="{57C7D35E-8233-464C-9EBA-BB6FA508EC2D}"/>
              </a:ext>
            </a:extLst>
          </p:cNvPr>
          <p:cNvSpPr>
            <a:spLocks noGrp="1"/>
          </p:cNvSpPr>
          <p:nvPr/>
        </p:nvSpPr>
        <p:spPr>
          <a:xfrm>
            <a:off x="2733675" y="2257425"/>
            <a:ext cx="2057400" cy="552450"/>
          </a:xfrm>
          <a:prstGeom prst="roundRect">
            <a:avLst>
              <a:gd name="adj" fmla="val 24138"/>
            </a:avLst>
          </a:prstGeom>
          <a:solidFill>
            <a:srgbClr val="0F766E"/>
          </a:solidFill>
          <a:ln w="0">
            <a:noFill/>
            <a:prstDash val="solid"/>
          </a:ln>
        </p:spPr>
      </p:sp>
      <p:pic>
        <p:nvPicPr>
          <p:cNvPr id="134" name="Graphic 133"/>
          <p:cNvPicPr>
            <a:picLocks noChangeAspect="1"/>
          </p:cNvPicPr>
          <p:nvPr/>
        </p:nvPicPr>
        <p:blipFill>
          <a:blip>
            <a:extLst>
              <a:ext uri="{96DAC541-7B7A-43D3-8B79-37D633B846F1}">
                <asvg:svgBlip xmlns:asvg="http://schemas.microsoft.com/office/drawing/2016/SVG/main" r:embed="rId6"/>
              </a:ext>
            </a:extLst>
          </a:blip>
          <a:stretch/>
        </p:blipFill>
        <p:spPr>
          <a:xfrm>
            <a:off x="2886075" y="2409825"/>
            <a:ext cx="247650" cy="247650"/>
          </a:xfrm>
          <a:prstGeom prst="rect">
            <a:avLst/>
          </a:prstGeom>
        </p:spPr>
      </p:pic>
      <p:sp>
        <p:nvSpPr>
          <p:cNvPr id="32" name="Rectangle 31">
            <a:extLst>
              <a:ext uri="{FF2B5EF4-FFF2-40B4-BE49-F238E27FC236}">
                <a16:creationId xmlns:a16="http://schemas.microsoft.com/office/drawing/2014/main" id="{E842D603-2896-4ECF-92CC-3C0C9B56CF78}"/>
              </a:ext>
            </a:extLst>
          </p:cNvPr>
          <p:cNvSpPr>
            <a:spLocks noGrp="1"/>
          </p:cNvSpPr>
          <p:nvPr/>
        </p:nvSpPr>
        <p:spPr>
          <a:xfrm>
            <a:off x="3248025" y="2409825"/>
            <a:ext cx="1390650" cy="247649"/>
          </a:xfrm>
          <a:prstGeom prst="rect">
            <a:avLst/>
          </a:prstGeom>
          <a:noFill/>
          <a:ln w="0">
            <a:noFill/>
            <a:prstDash val="solid"/>
          </a:ln>
        </p:spPr>
        <p:txBody>
          <a:bodyPr/>
          <a:lstStyle/>
          <a:p>
            <a:pPr algn="l">
              <a:defRPr sz="900" b="1" i="0">
                <a:solidFill>
                  <a:srgbClr val="FFFFFF"/>
                </a:solidFill>
              </a:defRPr>
            </a:pPr>
            <a:r>
              <a:rPr sz="1400" b="1" i="0" dirty="0">
                <a:solidFill>
                  <a:srgbClr val="FFFFFF"/>
                </a:solidFill>
              </a:rPr>
              <a:t>Increment 2</a:t>
            </a:r>
          </a:p>
        </p:txBody>
      </p:sp>
      <p:sp>
        <p:nvSpPr>
          <p:cNvPr id="33" name="Rectangle 32">
            <a:extLst>
              <a:ext uri="{FF2B5EF4-FFF2-40B4-BE49-F238E27FC236}">
                <a16:creationId xmlns:a16="http://schemas.microsoft.com/office/drawing/2014/main" id="{806C439C-E8F8-476E-869A-C465BC3E4567}"/>
              </a:ext>
            </a:extLst>
          </p:cNvPr>
          <p:cNvSpPr>
            <a:spLocks noGrp="1"/>
          </p:cNvSpPr>
          <p:nvPr/>
        </p:nvSpPr>
        <p:spPr>
          <a:xfrm>
            <a:off x="3248025" y="2543175"/>
            <a:ext cx="1390650" cy="152400"/>
          </a:xfrm>
          <a:prstGeom prst="rect">
            <a:avLst/>
          </a:prstGeom>
          <a:noFill/>
          <a:ln w="0">
            <a:noFill/>
            <a:prstDash val="solid"/>
          </a:ln>
        </p:spPr>
        <p:txBody>
          <a:bodyPr/>
          <a:lstStyle/>
          <a:p>
            <a:pPr algn="l">
              <a:defRPr sz="788" b="1" i="0">
                <a:solidFill>
                  <a:srgbClr val="FFFFFF"/>
                </a:solidFill>
              </a:defRPr>
            </a:pPr>
            <a:endParaRPr sz="788" b="1" i="0" dirty="0">
              <a:solidFill>
                <a:srgbClr val="FFFFFF"/>
              </a:solidFill>
            </a:endParaRPr>
          </a:p>
        </p:txBody>
      </p:sp>
      <p:sp>
        <p:nvSpPr>
          <p:cNvPr id="34" name="Rectangle 33">
            <a:extLst>
              <a:ext uri="{FF2B5EF4-FFF2-40B4-BE49-F238E27FC236}">
                <a16:creationId xmlns:a16="http://schemas.microsoft.com/office/drawing/2014/main" id="{A38F774A-E6CF-4844-8A8D-6F59BD02828A}"/>
              </a:ext>
            </a:extLst>
          </p:cNvPr>
          <p:cNvSpPr>
            <a:spLocks noGrp="1"/>
          </p:cNvSpPr>
          <p:nvPr/>
        </p:nvSpPr>
        <p:spPr>
          <a:xfrm>
            <a:off x="2886075" y="2971800"/>
            <a:ext cx="1752600" cy="523875"/>
          </a:xfrm>
          <a:prstGeom prst="rect">
            <a:avLst/>
          </a:prstGeom>
          <a:noFill/>
          <a:ln w="0">
            <a:noFill/>
            <a:prstDash val="solid"/>
          </a:ln>
        </p:spPr>
        <p:txBody>
          <a:bodyPr/>
          <a:lstStyle/>
          <a:p>
            <a:pPr algn="ctr">
              <a:defRPr sz="1238" b="1" i="0">
                <a:solidFill>
                  <a:srgbClr val="172554"/>
                </a:solidFill>
              </a:defRPr>
            </a:pPr>
            <a:r>
              <a:rPr sz="1238" b="1" i="0">
                <a:solidFill>
                  <a:srgbClr val="172554"/>
                </a:solidFill>
              </a:rPr>
              <a:t>Tracking, geofencing, ETA engine</a:t>
            </a:r>
          </a:p>
        </p:txBody>
      </p:sp>
      <p:sp>
        <p:nvSpPr>
          <p:cNvPr id="35" name="Rectangle 34">
            <a:extLst>
              <a:ext uri="{FF2B5EF4-FFF2-40B4-BE49-F238E27FC236}">
                <a16:creationId xmlns:a16="http://schemas.microsoft.com/office/drawing/2014/main" id="{C394790C-D478-47F8-BAFA-28B7278DE08D}"/>
              </a:ext>
            </a:extLst>
          </p:cNvPr>
          <p:cNvSpPr>
            <a:spLocks noGrp="1"/>
          </p:cNvSpPr>
          <p:nvPr/>
        </p:nvSpPr>
        <p:spPr>
          <a:xfrm>
            <a:off x="2924175" y="3629025"/>
            <a:ext cx="1676400" cy="142875"/>
          </a:xfrm>
          <a:prstGeom prst="rect">
            <a:avLst/>
          </a:prstGeom>
          <a:noFill/>
          <a:ln w="0">
            <a:noFill/>
            <a:prstDash val="solid"/>
          </a:ln>
        </p:spPr>
        <p:txBody>
          <a:bodyPr/>
          <a:lstStyle/>
          <a:p>
            <a:pPr algn="ctr">
              <a:defRPr sz="713" b="1" i="0">
                <a:solidFill>
                  <a:srgbClr val="0F766E"/>
                </a:solidFill>
              </a:defRPr>
            </a:pPr>
            <a:r>
              <a:rPr sz="713" b="1" i="0">
                <a:solidFill>
                  <a:srgbClr val="0F766E"/>
                </a:solidFill>
              </a:rPr>
              <a:t>INCREMENT CYCLE</a:t>
            </a:r>
          </a:p>
        </p:txBody>
      </p:sp>
      <p:sp>
        <p:nvSpPr>
          <p:cNvPr id="36" name="Rectangle: Rounded Corners 35">
            <a:extLst>
              <a:ext uri="{FF2B5EF4-FFF2-40B4-BE49-F238E27FC236}">
                <a16:creationId xmlns:a16="http://schemas.microsoft.com/office/drawing/2014/main" id="{FEE18DF2-8631-4304-9C86-6706C97AEC5B}"/>
              </a:ext>
            </a:extLst>
          </p:cNvPr>
          <p:cNvSpPr>
            <a:spLocks noGrp="1"/>
          </p:cNvSpPr>
          <p:nvPr/>
        </p:nvSpPr>
        <p:spPr>
          <a:xfrm>
            <a:off x="2962275" y="3857625"/>
            <a:ext cx="1600200" cy="200025"/>
          </a:xfrm>
          <a:prstGeom prst="roundRect">
            <a:avLst>
              <a:gd name="adj" fmla="val 33333"/>
            </a:avLst>
          </a:prstGeom>
          <a:solidFill>
            <a:srgbClr val="ECFDF5"/>
          </a:solidFill>
          <a:ln w="0">
            <a:noFill/>
            <a:prstDash val="solid"/>
          </a:ln>
        </p:spPr>
      </p:sp>
      <p:sp>
        <p:nvSpPr>
          <p:cNvPr id="37" name="Rectangle 36">
            <a:extLst>
              <a:ext uri="{FF2B5EF4-FFF2-40B4-BE49-F238E27FC236}">
                <a16:creationId xmlns:a16="http://schemas.microsoft.com/office/drawing/2014/main" id="{124CF1FC-F007-4CEE-A423-10B0BABD4536}"/>
              </a:ext>
            </a:extLst>
          </p:cNvPr>
          <p:cNvSpPr>
            <a:spLocks noGrp="1"/>
          </p:cNvSpPr>
          <p:nvPr/>
        </p:nvSpPr>
        <p:spPr>
          <a:xfrm>
            <a:off x="3057525" y="3895725"/>
            <a:ext cx="1409700" cy="123825"/>
          </a:xfrm>
          <a:prstGeom prst="rect">
            <a:avLst/>
          </a:prstGeom>
          <a:noFill/>
          <a:ln w="0">
            <a:noFill/>
            <a:prstDash val="solid"/>
          </a:ln>
        </p:spPr>
        <p:txBody>
          <a:bodyPr/>
          <a:lstStyle/>
          <a:p>
            <a:pPr algn="ctr">
              <a:defRPr sz="788" b="1" i="0">
                <a:solidFill>
                  <a:srgbClr val="0F766E"/>
                </a:solidFill>
              </a:defRPr>
            </a:pPr>
            <a:r>
              <a:rPr sz="788" b="1" i="0">
                <a:solidFill>
                  <a:srgbClr val="0F766E"/>
                </a:solidFill>
              </a:rPr>
              <a:t>Communication</a:t>
            </a:r>
          </a:p>
        </p:txBody>
      </p:sp>
      <p:sp>
        <p:nvSpPr>
          <p:cNvPr id="38" name="Rectangle: Rounded Corners 37">
            <a:extLst>
              <a:ext uri="{FF2B5EF4-FFF2-40B4-BE49-F238E27FC236}">
                <a16:creationId xmlns:a16="http://schemas.microsoft.com/office/drawing/2014/main" id="{1421508D-FC16-4C4F-901E-CA5AC94FA08B}"/>
              </a:ext>
            </a:extLst>
          </p:cNvPr>
          <p:cNvSpPr>
            <a:spLocks noGrp="1"/>
          </p:cNvSpPr>
          <p:nvPr/>
        </p:nvSpPr>
        <p:spPr>
          <a:xfrm>
            <a:off x="2962275" y="4114800"/>
            <a:ext cx="1600200" cy="200025"/>
          </a:xfrm>
          <a:prstGeom prst="roundRect">
            <a:avLst>
              <a:gd name="adj" fmla="val 33333"/>
            </a:avLst>
          </a:prstGeom>
          <a:solidFill>
            <a:srgbClr val="ECFDF5"/>
          </a:solidFill>
          <a:ln w="0">
            <a:noFill/>
            <a:prstDash val="solid"/>
          </a:ln>
        </p:spPr>
      </p:sp>
      <p:sp>
        <p:nvSpPr>
          <p:cNvPr id="39" name="Rectangle 38">
            <a:extLst>
              <a:ext uri="{FF2B5EF4-FFF2-40B4-BE49-F238E27FC236}">
                <a16:creationId xmlns:a16="http://schemas.microsoft.com/office/drawing/2014/main" id="{7DB6B889-213F-4225-A99C-E1395E6BE2F6}"/>
              </a:ext>
            </a:extLst>
          </p:cNvPr>
          <p:cNvSpPr>
            <a:spLocks noGrp="1"/>
          </p:cNvSpPr>
          <p:nvPr/>
        </p:nvSpPr>
        <p:spPr>
          <a:xfrm>
            <a:off x="3057525" y="4152900"/>
            <a:ext cx="1409700" cy="123825"/>
          </a:xfrm>
          <a:prstGeom prst="rect">
            <a:avLst/>
          </a:prstGeom>
          <a:noFill/>
          <a:ln w="0">
            <a:noFill/>
            <a:prstDash val="solid"/>
          </a:ln>
        </p:spPr>
        <p:txBody>
          <a:bodyPr/>
          <a:lstStyle/>
          <a:p>
            <a:pPr algn="ctr">
              <a:defRPr sz="788" b="1" i="0">
                <a:solidFill>
                  <a:srgbClr val="0F766E"/>
                </a:solidFill>
              </a:defRPr>
            </a:pPr>
            <a:r>
              <a:rPr sz="788" b="1" i="0">
                <a:solidFill>
                  <a:srgbClr val="0F766E"/>
                </a:solidFill>
              </a:rPr>
              <a:t>Planning</a:t>
            </a:r>
          </a:p>
        </p:txBody>
      </p:sp>
      <p:sp>
        <p:nvSpPr>
          <p:cNvPr id="40" name="Rectangle: Rounded Corners 39">
            <a:extLst>
              <a:ext uri="{FF2B5EF4-FFF2-40B4-BE49-F238E27FC236}">
                <a16:creationId xmlns:a16="http://schemas.microsoft.com/office/drawing/2014/main" id="{D9A371DB-E721-4018-BD10-5C5B2D8F7A31}"/>
              </a:ext>
            </a:extLst>
          </p:cNvPr>
          <p:cNvSpPr>
            <a:spLocks noGrp="1"/>
          </p:cNvSpPr>
          <p:nvPr/>
        </p:nvSpPr>
        <p:spPr>
          <a:xfrm>
            <a:off x="2962275" y="4371975"/>
            <a:ext cx="1600200" cy="200025"/>
          </a:xfrm>
          <a:prstGeom prst="roundRect">
            <a:avLst>
              <a:gd name="adj" fmla="val 33333"/>
            </a:avLst>
          </a:prstGeom>
          <a:solidFill>
            <a:srgbClr val="ECFDF5"/>
          </a:solidFill>
          <a:ln w="0">
            <a:noFill/>
            <a:prstDash val="solid"/>
          </a:ln>
        </p:spPr>
      </p:sp>
      <p:sp>
        <p:nvSpPr>
          <p:cNvPr id="41" name="Rectangle 40">
            <a:extLst>
              <a:ext uri="{FF2B5EF4-FFF2-40B4-BE49-F238E27FC236}">
                <a16:creationId xmlns:a16="http://schemas.microsoft.com/office/drawing/2014/main" id="{6116C053-5E62-4428-A555-8EFF0B8D6274}"/>
              </a:ext>
            </a:extLst>
          </p:cNvPr>
          <p:cNvSpPr>
            <a:spLocks noGrp="1"/>
          </p:cNvSpPr>
          <p:nvPr/>
        </p:nvSpPr>
        <p:spPr>
          <a:xfrm>
            <a:off x="3057525" y="4410075"/>
            <a:ext cx="1409700" cy="123825"/>
          </a:xfrm>
          <a:prstGeom prst="rect">
            <a:avLst/>
          </a:prstGeom>
          <a:noFill/>
          <a:ln w="0">
            <a:noFill/>
            <a:prstDash val="solid"/>
          </a:ln>
        </p:spPr>
        <p:txBody>
          <a:bodyPr/>
          <a:lstStyle/>
          <a:p>
            <a:pPr algn="ctr">
              <a:defRPr sz="788" b="1" i="0">
                <a:solidFill>
                  <a:srgbClr val="0F766E"/>
                </a:solidFill>
              </a:defRPr>
            </a:pPr>
            <a:r>
              <a:rPr sz="788" b="1" i="0">
                <a:solidFill>
                  <a:srgbClr val="0F766E"/>
                </a:solidFill>
              </a:rPr>
              <a:t>Modeling</a:t>
            </a:r>
          </a:p>
        </p:txBody>
      </p:sp>
      <p:sp>
        <p:nvSpPr>
          <p:cNvPr id="42" name="Rectangle: Rounded Corners 41">
            <a:extLst>
              <a:ext uri="{FF2B5EF4-FFF2-40B4-BE49-F238E27FC236}">
                <a16:creationId xmlns:a16="http://schemas.microsoft.com/office/drawing/2014/main" id="{1D53483B-104C-4BBC-9077-BE4CAFB0DE5B}"/>
              </a:ext>
            </a:extLst>
          </p:cNvPr>
          <p:cNvSpPr>
            <a:spLocks noGrp="1"/>
          </p:cNvSpPr>
          <p:nvPr/>
        </p:nvSpPr>
        <p:spPr>
          <a:xfrm>
            <a:off x="2962275" y="4629150"/>
            <a:ext cx="1600200" cy="200025"/>
          </a:xfrm>
          <a:prstGeom prst="roundRect">
            <a:avLst>
              <a:gd name="adj" fmla="val 33333"/>
            </a:avLst>
          </a:prstGeom>
          <a:solidFill>
            <a:srgbClr val="ECFDF5"/>
          </a:solidFill>
          <a:ln w="0">
            <a:noFill/>
            <a:prstDash val="solid"/>
          </a:ln>
        </p:spPr>
      </p:sp>
      <p:sp>
        <p:nvSpPr>
          <p:cNvPr id="43" name="Rectangle 42">
            <a:extLst>
              <a:ext uri="{FF2B5EF4-FFF2-40B4-BE49-F238E27FC236}">
                <a16:creationId xmlns:a16="http://schemas.microsoft.com/office/drawing/2014/main" id="{19D79BC6-07B7-406A-BCE3-A8D9731608F4}"/>
              </a:ext>
            </a:extLst>
          </p:cNvPr>
          <p:cNvSpPr>
            <a:spLocks noGrp="1"/>
          </p:cNvSpPr>
          <p:nvPr/>
        </p:nvSpPr>
        <p:spPr>
          <a:xfrm>
            <a:off x="3057525" y="4667250"/>
            <a:ext cx="1409700" cy="123825"/>
          </a:xfrm>
          <a:prstGeom prst="rect">
            <a:avLst/>
          </a:prstGeom>
          <a:noFill/>
          <a:ln w="0">
            <a:noFill/>
            <a:prstDash val="solid"/>
          </a:ln>
        </p:spPr>
        <p:txBody>
          <a:bodyPr/>
          <a:lstStyle/>
          <a:p>
            <a:pPr algn="ctr">
              <a:defRPr sz="788" b="1" i="0">
                <a:solidFill>
                  <a:srgbClr val="0F766E"/>
                </a:solidFill>
              </a:defRPr>
            </a:pPr>
            <a:r>
              <a:rPr sz="788" b="1" i="0">
                <a:solidFill>
                  <a:srgbClr val="0F766E"/>
                </a:solidFill>
              </a:rPr>
              <a:t>Construction</a:t>
            </a:r>
          </a:p>
        </p:txBody>
      </p:sp>
      <p:sp>
        <p:nvSpPr>
          <p:cNvPr id="44" name="Rectangle: Rounded Corners 43">
            <a:extLst>
              <a:ext uri="{FF2B5EF4-FFF2-40B4-BE49-F238E27FC236}">
                <a16:creationId xmlns:a16="http://schemas.microsoft.com/office/drawing/2014/main" id="{B4D020DD-F656-432C-BD90-FEFA321AE6BB}"/>
              </a:ext>
            </a:extLst>
          </p:cNvPr>
          <p:cNvSpPr>
            <a:spLocks noGrp="1"/>
          </p:cNvSpPr>
          <p:nvPr/>
        </p:nvSpPr>
        <p:spPr>
          <a:xfrm>
            <a:off x="2962275" y="4886325"/>
            <a:ext cx="1600200" cy="200025"/>
          </a:xfrm>
          <a:prstGeom prst="roundRect">
            <a:avLst>
              <a:gd name="adj" fmla="val 33333"/>
            </a:avLst>
          </a:prstGeom>
          <a:solidFill>
            <a:srgbClr val="ECFDF5"/>
          </a:solidFill>
          <a:ln w="0">
            <a:noFill/>
            <a:prstDash val="solid"/>
          </a:ln>
        </p:spPr>
      </p:sp>
      <p:sp>
        <p:nvSpPr>
          <p:cNvPr id="45" name="Rectangle 44">
            <a:extLst>
              <a:ext uri="{FF2B5EF4-FFF2-40B4-BE49-F238E27FC236}">
                <a16:creationId xmlns:a16="http://schemas.microsoft.com/office/drawing/2014/main" id="{027CEE00-A8B6-4EE9-9C28-10FA35057DD6}"/>
              </a:ext>
            </a:extLst>
          </p:cNvPr>
          <p:cNvSpPr>
            <a:spLocks noGrp="1"/>
          </p:cNvSpPr>
          <p:nvPr/>
        </p:nvSpPr>
        <p:spPr>
          <a:xfrm>
            <a:off x="3057525" y="4924425"/>
            <a:ext cx="1409700" cy="123825"/>
          </a:xfrm>
          <a:prstGeom prst="rect">
            <a:avLst/>
          </a:prstGeom>
          <a:noFill/>
          <a:ln w="0">
            <a:noFill/>
            <a:prstDash val="solid"/>
          </a:ln>
        </p:spPr>
        <p:txBody>
          <a:bodyPr/>
          <a:lstStyle/>
          <a:p>
            <a:pPr algn="ctr">
              <a:defRPr sz="788" b="1" i="0">
                <a:solidFill>
                  <a:srgbClr val="0F766E"/>
                </a:solidFill>
              </a:defRPr>
            </a:pPr>
            <a:r>
              <a:rPr sz="788" b="1" i="0">
                <a:solidFill>
                  <a:srgbClr val="0F766E"/>
                </a:solidFill>
              </a:rPr>
              <a:t>Deployment</a:t>
            </a:r>
          </a:p>
        </p:txBody>
      </p:sp>
      <p:sp>
        <p:nvSpPr>
          <p:cNvPr id="46" name="Rectangle: Rounded Corners 45">
            <a:extLst>
              <a:ext uri="{FF2B5EF4-FFF2-40B4-BE49-F238E27FC236}">
                <a16:creationId xmlns:a16="http://schemas.microsoft.com/office/drawing/2014/main" id="{E95DBD5C-4D27-4D8D-8EFC-DCA27B21CC88}"/>
              </a:ext>
            </a:extLst>
          </p:cNvPr>
          <p:cNvSpPr>
            <a:spLocks noGrp="1"/>
          </p:cNvSpPr>
          <p:nvPr/>
        </p:nvSpPr>
        <p:spPr>
          <a:xfrm>
            <a:off x="5067300" y="2257425"/>
            <a:ext cx="2057400" cy="3086100"/>
          </a:xfrm>
          <a:prstGeom prst="roundRect">
            <a:avLst>
              <a:gd name="adj" fmla="val 6481"/>
            </a:avLst>
          </a:prstGeom>
          <a:solidFill>
            <a:srgbClr val="FFFFFF"/>
          </a:solidFill>
          <a:ln w="9525">
            <a:solidFill>
              <a:srgbClr val="D1D5DB"/>
            </a:solidFill>
            <a:prstDash val="solid"/>
          </a:ln>
        </p:spPr>
      </p:sp>
      <p:sp>
        <p:nvSpPr>
          <p:cNvPr id="47" name="Rectangle: Rounded Corners 46">
            <a:extLst>
              <a:ext uri="{FF2B5EF4-FFF2-40B4-BE49-F238E27FC236}">
                <a16:creationId xmlns:a16="http://schemas.microsoft.com/office/drawing/2014/main" id="{D448BDDC-B36F-4B55-9A11-39692C3525BA}"/>
              </a:ext>
            </a:extLst>
          </p:cNvPr>
          <p:cNvSpPr>
            <a:spLocks noGrp="1"/>
          </p:cNvSpPr>
          <p:nvPr/>
        </p:nvSpPr>
        <p:spPr>
          <a:xfrm>
            <a:off x="5067300" y="2257425"/>
            <a:ext cx="2057400" cy="552450"/>
          </a:xfrm>
          <a:prstGeom prst="roundRect">
            <a:avLst>
              <a:gd name="adj" fmla="val 24138"/>
            </a:avLst>
          </a:prstGeom>
          <a:solidFill>
            <a:srgbClr val="EA580C"/>
          </a:solidFill>
          <a:ln w="0">
            <a:noFill/>
            <a:prstDash val="solid"/>
          </a:ln>
        </p:spPr>
      </p:sp>
      <p:pic>
        <p:nvPicPr>
          <p:cNvPr id="151" name="Graphic 150"/>
          <p:cNvPicPr>
            <a:picLocks noChangeAspect="1"/>
          </p:cNvPicPr>
          <p:nvPr/>
        </p:nvPicPr>
        <p:blipFill>
          <a:blip>
            <a:extLst>
              <a:ext uri="{96DAC541-7B7A-43D3-8B79-37D633B846F1}">
                <asvg:svgBlip xmlns:asvg="http://schemas.microsoft.com/office/drawing/2016/SVG/main" r:embed="rId7"/>
              </a:ext>
            </a:extLst>
          </a:blip>
          <a:stretch/>
        </p:blipFill>
        <p:spPr>
          <a:xfrm>
            <a:off x="5219700" y="2409825"/>
            <a:ext cx="247650" cy="247650"/>
          </a:xfrm>
          <a:prstGeom prst="rect">
            <a:avLst/>
          </a:prstGeom>
        </p:spPr>
      </p:pic>
      <p:sp>
        <p:nvSpPr>
          <p:cNvPr id="49" name="Rectangle 48">
            <a:extLst>
              <a:ext uri="{FF2B5EF4-FFF2-40B4-BE49-F238E27FC236}">
                <a16:creationId xmlns:a16="http://schemas.microsoft.com/office/drawing/2014/main" id="{2399A555-1195-484A-A99F-B3E7ECA71883}"/>
              </a:ext>
            </a:extLst>
          </p:cNvPr>
          <p:cNvSpPr>
            <a:spLocks noGrp="1"/>
          </p:cNvSpPr>
          <p:nvPr/>
        </p:nvSpPr>
        <p:spPr>
          <a:xfrm>
            <a:off x="5581650" y="2417254"/>
            <a:ext cx="1390650" cy="171450"/>
          </a:xfrm>
          <a:prstGeom prst="rect">
            <a:avLst/>
          </a:prstGeom>
          <a:noFill/>
          <a:ln w="0">
            <a:noFill/>
            <a:prstDash val="solid"/>
          </a:ln>
        </p:spPr>
        <p:txBody>
          <a:bodyPr/>
          <a:lstStyle/>
          <a:p>
            <a:pPr algn="l">
              <a:defRPr sz="900" b="1" i="0">
                <a:solidFill>
                  <a:srgbClr val="FFFFFF"/>
                </a:solidFill>
              </a:defRPr>
            </a:pPr>
            <a:r>
              <a:rPr sz="1400" b="1" i="0" dirty="0">
                <a:solidFill>
                  <a:srgbClr val="FFFFFF"/>
                </a:solidFill>
              </a:rPr>
              <a:t>Increment 3</a:t>
            </a:r>
          </a:p>
        </p:txBody>
      </p:sp>
      <p:sp>
        <p:nvSpPr>
          <p:cNvPr id="51" name="Rectangle 50">
            <a:extLst>
              <a:ext uri="{FF2B5EF4-FFF2-40B4-BE49-F238E27FC236}">
                <a16:creationId xmlns:a16="http://schemas.microsoft.com/office/drawing/2014/main" id="{CA1030F0-C4C4-48C2-830C-9459D9F52CF2}"/>
              </a:ext>
            </a:extLst>
          </p:cNvPr>
          <p:cNvSpPr>
            <a:spLocks noGrp="1"/>
          </p:cNvSpPr>
          <p:nvPr/>
        </p:nvSpPr>
        <p:spPr>
          <a:xfrm>
            <a:off x="5219700" y="2971800"/>
            <a:ext cx="1752600" cy="523875"/>
          </a:xfrm>
          <a:prstGeom prst="rect">
            <a:avLst/>
          </a:prstGeom>
          <a:noFill/>
          <a:ln w="0">
            <a:noFill/>
            <a:prstDash val="solid"/>
          </a:ln>
        </p:spPr>
        <p:txBody>
          <a:bodyPr/>
          <a:lstStyle/>
          <a:p>
            <a:pPr algn="ctr">
              <a:defRPr sz="1238" b="1" i="0">
                <a:solidFill>
                  <a:srgbClr val="172554"/>
                </a:solidFill>
              </a:defRPr>
            </a:pPr>
            <a:r>
              <a:rPr sz="1238" b="1" i="0">
                <a:solidFill>
                  <a:srgbClr val="172554"/>
                </a:solidFill>
              </a:rPr>
              <a:t>Live updates and MVP release</a:t>
            </a:r>
          </a:p>
        </p:txBody>
      </p:sp>
      <p:sp>
        <p:nvSpPr>
          <p:cNvPr id="52" name="Rectangle 51">
            <a:extLst>
              <a:ext uri="{FF2B5EF4-FFF2-40B4-BE49-F238E27FC236}">
                <a16:creationId xmlns:a16="http://schemas.microsoft.com/office/drawing/2014/main" id="{0477CF4C-1819-4859-88AF-5A5733FC051C}"/>
              </a:ext>
            </a:extLst>
          </p:cNvPr>
          <p:cNvSpPr>
            <a:spLocks noGrp="1"/>
          </p:cNvSpPr>
          <p:nvPr/>
        </p:nvSpPr>
        <p:spPr>
          <a:xfrm>
            <a:off x="5257800" y="3629025"/>
            <a:ext cx="1676400" cy="142875"/>
          </a:xfrm>
          <a:prstGeom prst="rect">
            <a:avLst/>
          </a:prstGeom>
          <a:noFill/>
          <a:ln w="0">
            <a:noFill/>
            <a:prstDash val="solid"/>
          </a:ln>
        </p:spPr>
        <p:txBody>
          <a:bodyPr/>
          <a:lstStyle/>
          <a:p>
            <a:pPr algn="ctr">
              <a:defRPr sz="713" b="1" i="0">
                <a:solidFill>
                  <a:srgbClr val="EA580C"/>
                </a:solidFill>
              </a:defRPr>
            </a:pPr>
            <a:r>
              <a:rPr sz="713" b="1" i="0">
                <a:solidFill>
                  <a:srgbClr val="EA580C"/>
                </a:solidFill>
              </a:rPr>
              <a:t>INCREMENT CYCLE</a:t>
            </a:r>
          </a:p>
        </p:txBody>
      </p:sp>
      <p:sp>
        <p:nvSpPr>
          <p:cNvPr id="53" name="Rectangle: Rounded Corners 52">
            <a:extLst>
              <a:ext uri="{FF2B5EF4-FFF2-40B4-BE49-F238E27FC236}">
                <a16:creationId xmlns:a16="http://schemas.microsoft.com/office/drawing/2014/main" id="{DC4CEB7B-1AE0-4EA0-8527-E6AB758F31DB}"/>
              </a:ext>
            </a:extLst>
          </p:cNvPr>
          <p:cNvSpPr>
            <a:spLocks noGrp="1"/>
          </p:cNvSpPr>
          <p:nvPr/>
        </p:nvSpPr>
        <p:spPr>
          <a:xfrm>
            <a:off x="5295900" y="3857625"/>
            <a:ext cx="1600200" cy="200025"/>
          </a:xfrm>
          <a:prstGeom prst="roundRect">
            <a:avLst>
              <a:gd name="adj" fmla="val 33333"/>
            </a:avLst>
          </a:prstGeom>
          <a:solidFill>
            <a:srgbClr val="FFF7ED"/>
          </a:solidFill>
          <a:ln w="0">
            <a:noFill/>
            <a:prstDash val="solid"/>
          </a:ln>
        </p:spPr>
      </p:sp>
      <p:sp>
        <p:nvSpPr>
          <p:cNvPr id="54" name="Rectangle 53">
            <a:extLst>
              <a:ext uri="{FF2B5EF4-FFF2-40B4-BE49-F238E27FC236}">
                <a16:creationId xmlns:a16="http://schemas.microsoft.com/office/drawing/2014/main" id="{71D22D90-40E3-4EF3-B6D9-E75061376F8C}"/>
              </a:ext>
            </a:extLst>
          </p:cNvPr>
          <p:cNvSpPr>
            <a:spLocks noGrp="1"/>
          </p:cNvSpPr>
          <p:nvPr/>
        </p:nvSpPr>
        <p:spPr>
          <a:xfrm>
            <a:off x="5391150" y="3895725"/>
            <a:ext cx="1409700" cy="123825"/>
          </a:xfrm>
          <a:prstGeom prst="rect">
            <a:avLst/>
          </a:prstGeom>
          <a:noFill/>
          <a:ln w="0">
            <a:noFill/>
            <a:prstDash val="solid"/>
          </a:ln>
        </p:spPr>
        <p:txBody>
          <a:bodyPr/>
          <a:lstStyle/>
          <a:p>
            <a:pPr algn="ctr">
              <a:defRPr sz="788" b="1" i="0">
                <a:solidFill>
                  <a:srgbClr val="EA580C"/>
                </a:solidFill>
              </a:defRPr>
            </a:pPr>
            <a:r>
              <a:rPr sz="788" b="1" i="0">
                <a:solidFill>
                  <a:srgbClr val="EA580C"/>
                </a:solidFill>
              </a:rPr>
              <a:t>Communication</a:t>
            </a:r>
          </a:p>
        </p:txBody>
      </p:sp>
      <p:sp>
        <p:nvSpPr>
          <p:cNvPr id="55" name="Rectangle: Rounded Corners 54">
            <a:extLst>
              <a:ext uri="{FF2B5EF4-FFF2-40B4-BE49-F238E27FC236}">
                <a16:creationId xmlns:a16="http://schemas.microsoft.com/office/drawing/2014/main" id="{1D676CA7-0877-488D-B449-809A6BA7CFF0}"/>
              </a:ext>
            </a:extLst>
          </p:cNvPr>
          <p:cNvSpPr>
            <a:spLocks noGrp="1"/>
          </p:cNvSpPr>
          <p:nvPr/>
        </p:nvSpPr>
        <p:spPr>
          <a:xfrm>
            <a:off x="5295900" y="4114800"/>
            <a:ext cx="1600200" cy="200025"/>
          </a:xfrm>
          <a:prstGeom prst="roundRect">
            <a:avLst>
              <a:gd name="adj" fmla="val 33333"/>
            </a:avLst>
          </a:prstGeom>
          <a:solidFill>
            <a:srgbClr val="FFF7ED"/>
          </a:solidFill>
          <a:ln w="0">
            <a:noFill/>
            <a:prstDash val="solid"/>
          </a:ln>
        </p:spPr>
      </p:sp>
      <p:sp>
        <p:nvSpPr>
          <p:cNvPr id="56" name="Rectangle 55">
            <a:extLst>
              <a:ext uri="{FF2B5EF4-FFF2-40B4-BE49-F238E27FC236}">
                <a16:creationId xmlns:a16="http://schemas.microsoft.com/office/drawing/2014/main" id="{ECEB2FAB-91C1-4F31-9D40-AE465CBEF8ED}"/>
              </a:ext>
            </a:extLst>
          </p:cNvPr>
          <p:cNvSpPr>
            <a:spLocks noGrp="1"/>
          </p:cNvSpPr>
          <p:nvPr/>
        </p:nvSpPr>
        <p:spPr>
          <a:xfrm>
            <a:off x="5391150" y="4152900"/>
            <a:ext cx="1409700" cy="123825"/>
          </a:xfrm>
          <a:prstGeom prst="rect">
            <a:avLst/>
          </a:prstGeom>
          <a:noFill/>
          <a:ln w="0">
            <a:noFill/>
            <a:prstDash val="solid"/>
          </a:ln>
        </p:spPr>
        <p:txBody>
          <a:bodyPr/>
          <a:lstStyle/>
          <a:p>
            <a:pPr algn="ctr">
              <a:defRPr sz="788" b="1" i="0">
                <a:solidFill>
                  <a:srgbClr val="EA580C"/>
                </a:solidFill>
              </a:defRPr>
            </a:pPr>
            <a:r>
              <a:rPr sz="788" b="1" i="0">
                <a:solidFill>
                  <a:srgbClr val="EA580C"/>
                </a:solidFill>
              </a:rPr>
              <a:t>Planning</a:t>
            </a:r>
          </a:p>
        </p:txBody>
      </p:sp>
      <p:sp>
        <p:nvSpPr>
          <p:cNvPr id="57" name="Rectangle: Rounded Corners 56">
            <a:extLst>
              <a:ext uri="{FF2B5EF4-FFF2-40B4-BE49-F238E27FC236}">
                <a16:creationId xmlns:a16="http://schemas.microsoft.com/office/drawing/2014/main" id="{0B8E1D7E-A549-44A5-8008-99EB50E97BDF}"/>
              </a:ext>
            </a:extLst>
          </p:cNvPr>
          <p:cNvSpPr>
            <a:spLocks noGrp="1"/>
          </p:cNvSpPr>
          <p:nvPr/>
        </p:nvSpPr>
        <p:spPr>
          <a:xfrm>
            <a:off x="5295900" y="4371975"/>
            <a:ext cx="1600200" cy="200025"/>
          </a:xfrm>
          <a:prstGeom prst="roundRect">
            <a:avLst>
              <a:gd name="adj" fmla="val 33333"/>
            </a:avLst>
          </a:prstGeom>
          <a:solidFill>
            <a:srgbClr val="FFF7ED"/>
          </a:solidFill>
          <a:ln w="0">
            <a:noFill/>
            <a:prstDash val="solid"/>
          </a:ln>
        </p:spPr>
      </p:sp>
      <p:sp>
        <p:nvSpPr>
          <p:cNvPr id="58" name="Rectangle 57">
            <a:extLst>
              <a:ext uri="{FF2B5EF4-FFF2-40B4-BE49-F238E27FC236}">
                <a16:creationId xmlns:a16="http://schemas.microsoft.com/office/drawing/2014/main" id="{DB50DABD-A73E-48E9-973A-F4F95A9B7EFD}"/>
              </a:ext>
            </a:extLst>
          </p:cNvPr>
          <p:cNvSpPr>
            <a:spLocks noGrp="1"/>
          </p:cNvSpPr>
          <p:nvPr/>
        </p:nvSpPr>
        <p:spPr>
          <a:xfrm>
            <a:off x="5391150" y="4410075"/>
            <a:ext cx="1409700" cy="123825"/>
          </a:xfrm>
          <a:prstGeom prst="rect">
            <a:avLst/>
          </a:prstGeom>
          <a:noFill/>
          <a:ln w="0">
            <a:noFill/>
            <a:prstDash val="solid"/>
          </a:ln>
        </p:spPr>
        <p:txBody>
          <a:bodyPr/>
          <a:lstStyle/>
          <a:p>
            <a:pPr algn="ctr">
              <a:defRPr sz="788" b="1" i="0">
                <a:solidFill>
                  <a:srgbClr val="EA580C"/>
                </a:solidFill>
              </a:defRPr>
            </a:pPr>
            <a:r>
              <a:rPr sz="788" b="1" i="0">
                <a:solidFill>
                  <a:srgbClr val="EA580C"/>
                </a:solidFill>
              </a:rPr>
              <a:t>Modeling</a:t>
            </a:r>
          </a:p>
        </p:txBody>
      </p:sp>
      <p:sp>
        <p:nvSpPr>
          <p:cNvPr id="59" name="Rectangle: Rounded Corners 58">
            <a:extLst>
              <a:ext uri="{FF2B5EF4-FFF2-40B4-BE49-F238E27FC236}">
                <a16:creationId xmlns:a16="http://schemas.microsoft.com/office/drawing/2014/main" id="{33D57B71-002F-4146-BAD5-B530FEC408C1}"/>
              </a:ext>
            </a:extLst>
          </p:cNvPr>
          <p:cNvSpPr>
            <a:spLocks noGrp="1"/>
          </p:cNvSpPr>
          <p:nvPr/>
        </p:nvSpPr>
        <p:spPr>
          <a:xfrm>
            <a:off x="5295900" y="4629150"/>
            <a:ext cx="1600200" cy="200025"/>
          </a:xfrm>
          <a:prstGeom prst="roundRect">
            <a:avLst>
              <a:gd name="adj" fmla="val 33333"/>
            </a:avLst>
          </a:prstGeom>
          <a:solidFill>
            <a:srgbClr val="FFF7ED"/>
          </a:solidFill>
          <a:ln w="0">
            <a:noFill/>
            <a:prstDash val="solid"/>
          </a:ln>
        </p:spPr>
      </p:sp>
      <p:sp>
        <p:nvSpPr>
          <p:cNvPr id="60" name="Rectangle 59">
            <a:extLst>
              <a:ext uri="{FF2B5EF4-FFF2-40B4-BE49-F238E27FC236}">
                <a16:creationId xmlns:a16="http://schemas.microsoft.com/office/drawing/2014/main" id="{1FE89402-88BA-4D22-A622-2152D9FA4B27}"/>
              </a:ext>
            </a:extLst>
          </p:cNvPr>
          <p:cNvSpPr>
            <a:spLocks noGrp="1"/>
          </p:cNvSpPr>
          <p:nvPr/>
        </p:nvSpPr>
        <p:spPr>
          <a:xfrm>
            <a:off x="5391150" y="4667250"/>
            <a:ext cx="1409700" cy="123825"/>
          </a:xfrm>
          <a:prstGeom prst="rect">
            <a:avLst/>
          </a:prstGeom>
          <a:noFill/>
          <a:ln w="0">
            <a:noFill/>
            <a:prstDash val="solid"/>
          </a:ln>
        </p:spPr>
        <p:txBody>
          <a:bodyPr/>
          <a:lstStyle/>
          <a:p>
            <a:pPr algn="ctr">
              <a:defRPr sz="788" b="1" i="0">
                <a:solidFill>
                  <a:srgbClr val="EA580C"/>
                </a:solidFill>
              </a:defRPr>
            </a:pPr>
            <a:r>
              <a:rPr sz="788" b="1" i="0">
                <a:solidFill>
                  <a:srgbClr val="EA580C"/>
                </a:solidFill>
              </a:rPr>
              <a:t>Construction</a:t>
            </a:r>
          </a:p>
        </p:txBody>
      </p:sp>
      <p:sp>
        <p:nvSpPr>
          <p:cNvPr id="61" name="Rectangle: Rounded Corners 60">
            <a:extLst>
              <a:ext uri="{FF2B5EF4-FFF2-40B4-BE49-F238E27FC236}">
                <a16:creationId xmlns:a16="http://schemas.microsoft.com/office/drawing/2014/main" id="{F493CFE3-9EAA-42F6-8405-D74BA90BC756}"/>
              </a:ext>
            </a:extLst>
          </p:cNvPr>
          <p:cNvSpPr>
            <a:spLocks noGrp="1"/>
          </p:cNvSpPr>
          <p:nvPr/>
        </p:nvSpPr>
        <p:spPr>
          <a:xfrm>
            <a:off x="5295900" y="4886325"/>
            <a:ext cx="1600200" cy="200025"/>
          </a:xfrm>
          <a:prstGeom prst="roundRect">
            <a:avLst>
              <a:gd name="adj" fmla="val 33333"/>
            </a:avLst>
          </a:prstGeom>
          <a:solidFill>
            <a:srgbClr val="FFF7ED"/>
          </a:solidFill>
          <a:ln w="0">
            <a:noFill/>
            <a:prstDash val="solid"/>
          </a:ln>
        </p:spPr>
      </p:sp>
      <p:sp>
        <p:nvSpPr>
          <p:cNvPr id="62" name="Rectangle 61">
            <a:extLst>
              <a:ext uri="{FF2B5EF4-FFF2-40B4-BE49-F238E27FC236}">
                <a16:creationId xmlns:a16="http://schemas.microsoft.com/office/drawing/2014/main" id="{063EB833-5114-4EEA-957A-9676FDD5A288}"/>
              </a:ext>
            </a:extLst>
          </p:cNvPr>
          <p:cNvSpPr>
            <a:spLocks noGrp="1"/>
          </p:cNvSpPr>
          <p:nvPr/>
        </p:nvSpPr>
        <p:spPr>
          <a:xfrm>
            <a:off x="5391150" y="4924425"/>
            <a:ext cx="1409700" cy="123825"/>
          </a:xfrm>
          <a:prstGeom prst="rect">
            <a:avLst/>
          </a:prstGeom>
          <a:noFill/>
          <a:ln w="0">
            <a:noFill/>
            <a:prstDash val="solid"/>
          </a:ln>
        </p:spPr>
        <p:txBody>
          <a:bodyPr/>
          <a:lstStyle/>
          <a:p>
            <a:pPr algn="ctr">
              <a:defRPr sz="788" b="1" i="0">
                <a:solidFill>
                  <a:srgbClr val="EA580C"/>
                </a:solidFill>
              </a:defRPr>
            </a:pPr>
            <a:r>
              <a:rPr sz="788" b="1" i="0">
                <a:solidFill>
                  <a:srgbClr val="EA580C"/>
                </a:solidFill>
              </a:rPr>
              <a:t>Deployment</a:t>
            </a:r>
          </a:p>
        </p:txBody>
      </p:sp>
      <p:sp>
        <p:nvSpPr>
          <p:cNvPr id="63" name="Rectangle: Rounded Corners 62">
            <a:extLst>
              <a:ext uri="{FF2B5EF4-FFF2-40B4-BE49-F238E27FC236}">
                <a16:creationId xmlns:a16="http://schemas.microsoft.com/office/drawing/2014/main" id="{C14500D0-E2C7-42BF-8CFA-622FEAC525B2}"/>
              </a:ext>
            </a:extLst>
          </p:cNvPr>
          <p:cNvSpPr>
            <a:spLocks noGrp="1"/>
          </p:cNvSpPr>
          <p:nvPr/>
        </p:nvSpPr>
        <p:spPr>
          <a:xfrm>
            <a:off x="7400925" y="2257425"/>
            <a:ext cx="2057400" cy="3086100"/>
          </a:xfrm>
          <a:prstGeom prst="roundRect">
            <a:avLst>
              <a:gd name="adj" fmla="val 6481"/>
            </a:avLst>
          </a:prstGeom>
          <a:solidFill>
            <a:srgbClr val="FFFFFF"/>
          </a:solidFill>
          <a:ln w="9525">
            <a:solidFill>
              <a:srgbClr val="D1D5DB"/>
            </a:solidFill>
            <a:prstDash val="solid"/>
          </a:ln>
        </p:spPr>
      </p:sp>
      <p:sp>
        <p:nvSpPr>
          <p:cNvPr id="64" name="Rectangle: Rounded Corners 63">
            <a:extLst>
              <a:ext uri="{FF2B5EF4-FFF2-40B4-BE49-F238E27FC236}">
                <a16:creationId xmlns:a16="http://schemas.microsoft.com/office/drawing/2014/main" id="{EFAD35F4-AC8A-4037-A301-57650C5C0100}"/>
              </a:ext>
            </a:extLst>
          </p:cNvPr>
          <p:cNvSpPr>
            <a:spLocks noGrp="1"/>
          </p:cNvSpPr>
          <p:nvPr/>
        </p:nvSpPr>
        <p:spPr>
          <a:xfrm>
            <a:off x="7400925" y="2257425"/>
            <a:ext cx="2057400" cy="552450"/>
          </a:xfrm>
          <a:prstGeom prst="roundRect">
            <a:avLst>
              <a:gd name="adj" fmla="val 24138"/>
            </a:avLst>
          </a:prstGeom>
          <a:solidFill>
            <a:srgbClr val="0F766E"/>
          </a:solidFill>
          <a:ln w="0">
            <a:noFill/>
            <a:prstDash val="solid"/>
          </a:ln>
        </p:spPr>
      </p:sp>
      <p:pic>
        <p:nvPicPr>
          <p:cNvPr id="168" name="Graphic 167"/>
          <p:cNvPicPr>
            <a:picLocks noChangeAspect="1"/>
          </p:cNvPicPr>
          <p:nvPr/>
        </p:nvPicPr>
        <p:blipFill>
          <a:blip>
            <a:extLst>
              <a:ext uri="{96DAC541-7B7A-43D3-8B79-37D633B846F1}">
                <asvg:svgBlip xmlns:asvg="http://schemas.microsoft.com/office/drawing/2016/SVG/main" r:embed="rId8"/>
              </a:ext>
            </a:extLst>
          </a:blip>
          <a:stretch/>
        </p:blipFill>
        <p:spPr>
          <a:xfrm>
            <a:off x="7553325" y="2409825"/>
            <a:ext cx="247650" cy="247650"/>
          </a:xfrm>
          <a:prstGeom prst="rect">
            <a:avLst/>
          </a:prstGeom>
        </p:spPr>
      </p:pic>
      <p:sp>
        <p:nvSpPr>
          <p:cNvPr id="66" name="Rectangle 65">
            <a:extLst>
              <a:ext uri="{FF2B5EF4-FFF2-40B4-BE49-F238E27FC236}">
                <a16:creationId xmlns:a16="http://schemas.microsoft.com/office/drawing/2014/main" id="{7154345F-0C76-469A-B14D-43F8A3CF0AF8}"/>
              </a:ext>
            </a:extLst>
          </p:cNvPr>
          <p:cNvSpPr>
            <a:spLocks noGrp="1"/>
          </p:cNvSpPr>
          <p:nvPr/>
        </p:nvSpPr>
        <p:spPr>
          <a:xfrm>
            <a:off x="7915275" y="2405062"/>
            <a:ext cx="1390650" cy="171450"/>
          </a:xfrm>
          <a:prstGeom prst="rect">
            <a:avLst/>
          </a:prstGeom>
          <a:noFill/>
          <a:ln w="0">
            <a:noFill/>
            <a:prstDash val="solid"/>
          </a:ln>
        </p:spPr>
        <p:txBody>
          <a:bodyPr/>
          <a:lstStyle/>
          <a:p>
            <a:pPr algn="l">
              <a:defRPr sz="900" b="1" i="0">
                <a:solidFill>
                  <a:srgbClr val="FFFFFF"/>
                </a:solidFill>
              </a:defRPr>
            </a:pPr>
            <a:r>
              <a:rPr sz="1400" b="1" i="0" dirty="0">
                <a:solidFill>
                  <a:srgbClr val="FFFFFF"/>
                </a:solidFill>
              </a:rPr>
              <a:t>Increment 4</a:t>
            </a:r>
          </a:p>
        </p:txBody>
      </p:sp>
      <p:sp>
        <p:nvSpPr>
          <p:cNvPr id="68" name="Rectangle 67">
            <a:extLst>
              <a:ext uri="{FF2B5EF4-FFF2-40B4-BE49-F238E27FC236}">
                <a16:creationId xmlns:a16="http://schemas.microsoft.com/office/drawing/2014/main" id="{5DCF5878-5CA4-4A88-AEFC-2DD589675151}"/>
              </a:ext>
            </a:extLst>
          </p:cNvPr>
          <p:cNvSpPr>
            <a:spLocks noGrp="1"/>
          </p:cNvSpPr>
          <p:nvPr/>
        </p:nvSpPr>
        <p:spPr>
          <a:xfrm>
            <a:off x="7553325" y="2971800"/>
            <a:ext cx="1752600" cy="523875"/>
          </a:xfrm>
          <a:prstGeom prst="rect">
            <a:avLst/>
          </a:prstGeom>
          <a:noFill/>
          <a:ln w="0">
            <a:noFill/>
            <a:prstDash val="solid"/>
          </a:ln>
        </p:spPr>
        <p:txBody>
          <a:bodyPr/>
          <a:lstStyle/>
          <a:p>
            <a:pPr algn="ctr">
              <a:defRPr sz="1238" b="1" i="0">
                <a:solidFill>
                  <a:srgbClr val="172554"/>
                </a:solidFill>
              </a:defRPr>
            </a:pPr>
            <a:r>
              <a:rPr sz="1238" b="1" i="0">
                <a:solidFill>
                  <a:srgbClr val="172554"/>
                </a:solidFill>
              </a:rPr>
              <a:t>Notifications, multilingual, voice, SOS, dashboard</a:t>
            </a:r>
          </a:p>
        </p:txBody>
      </p:sp>
      <p:sp>
        <p:nvSpPr>
          <p:cNvPr id="69" name="Rectangle 68">
            <a:extLst>
              <a:ext uri="{FF2B5EF4-FFF2-40B4-BE49-F238E27FC236}">
                <a16:creationId xmlns:a16="http://schemas.microsoft.com/office/drawing/2014/main" id="{83511397-C7D5-4A60-BA0E-5C725DC02E06}"/>
              </a:ext>
            </a:extLst>
          </p:cNvPr>
          <p:cNvSpPr>
            <a:spLocks noGrp="1"/>
          </p:cNvSpPr>
          <p:nvPr/>
        </p:nvSpPr>
        <p:spPr>
          <a:xfrm>
            <a:off x="7591425" y="3629025"/>
            <a:ext cx="1676400" cy="142875"/>
          </a:xfrm>
          <a:prstGeom prst="rect">
            <a:avLst/>
          </a:prstGeom>
          <a:noFill/>
          <a:ln w="0">
            <a:noFill/>
            <a:prstDash val="solid"/>
          </a:ln>
        </p:spPr>
        <p:txBody>
          <a:bodyPr/>
          <a:lstStyle/>
          <a:p>
            <a:pPr algn="ctr">
              <a:defRPr sz="713" b="1" i="0">
                <a:solidFill>
                  <a:srgbClr val="0F766E"/>
                </a:solidFill>
              </a:defRPr>
            </a:pPr>
            <a:r>
              <a:rPr sz="713" b="1" i="0">
                <a:solidFill>
                  <a:srgbClr val="0F766E"/>
                </a:solidFill>
              </a:rPr>
              <a:t>INCREMENT CYCLE</a:t>
            </a:r>
          </a:p>
        </p:txBody>
      </p:sp>
      <p:sp>
        <p:nvSpPr>
          <p:cNvPr id="70" name="Rectangle: Rounded Corners 69">
            <a:extLst>
              <a:ext uri="{FF2B5EF4-FFF2-40B4-BE49-F238E27FC236}">
                <a16:creationId xmlns:a16="http://schemas.microsoft.com/office/drawing/2014/main" id="{4FCC1A75-8181-4B1F-8288-E8E9F22806F8}"/>
              </a:ext>
            </a:extLst>
          </p:cNvPr>
          <p:cNvSpPr>
            <a:spLocks noGrp="1"/>
          </p:cNvSpPr>
          <p:nvPr/>
        </p:nvSpPr>
        <p:spPr>
          <a:xfrm>
            <a:off x="7629525" y="3857625"/>
            <a:ext cx="1600200" cy="200025"/>
          </a:xfrm>
          <a:prstGeom prst="roundRect">
            <a:avLst>
              <a:gd name="adj" fmla="val 33333"/>
            </a:avLst>
          </a:prstGeom>
          <a:solidFill>
            <a:srgbClr val="ECFDF5"/>
          </a:solidFill>
          <a:ln w="0">
            <a:noFill/>
            <a:prstDash val="solid"/>
          </a:ln>
        </p:spPr>
      </p:sp>
      <p:sp>
        <p:nvSpPr>
          <p:cNvPr id="71" name="Rectangle 70">
            <a:extLst>
              <a:ext uri="{FF2B5EF4-FFF2-40B4-BE49-F238E27FC236}">
                <a16:creationId xmlns:a16="http://schemas.microsoft.com/office/drawing/2014/main" id="{C2C1B05E-A574-4DAF-A3BC-62CAB96871E8}"/>
              </a:ext>
            </a:extLst>
          </p:cNvPr>
          <p:cNvSpPr>
            <a:spLocks noGrp="1"/>
          </p:cNvSpPr>
          <p:nvPr/>
        </p:nvSpPr>
        <p:spPr>
          <a:xfrm>
            <a:off x="7724775" y="3895725"/>
            <a:ext cx="1409700" cy="123825"/>
          </a:xfrm>
          <a:prstGeom prst="rect">
            <a:avLst/>
          </a:prstGeom>
          <a:noFill/>
          <a:ln w="0">
            <a:noFill/>
            <a:prstDash val="solid"/>
          </a:ln>
        </p:spPr>
        <p:txBody>
          <a:bodyPr/>
          <a:lstStyle/>
          <a:p>
            <a:pPr algn="ctr">
              <a:defRPr sz="788" b="1" i="0">
                <a:solidFill>
                  <a:srgbClr val="0F766E"/>
                </a:solidFill>
              </a:defRPr>
            </a:pPr>
            <a:r>
              <a:rPr sz="788" b="1" i="0">
                <a:solidFill>
                  <a:srgbClr val="0F766E"/>
                </a:solidFill>
              </a:rPr>
              <a:t>Communication</a:t>
            </a:r>
          </a:p>
        </p:txBody>
      </p:sp>
      <p:sp>
        <p:nvSpPr>
          <p:cNvPr id="72" name="Rectangle: Rounded Corners 71">
            <a:extLst>
              <a:ext uri="{FF2B5EF4-FFF2-40B4-BE49-F238E27FC236}">
                <a16:creationId xmlns:a16="http://schemas.microsoft.com/office/drawing/2014/main" id="{B1E8B2C8-DDBF-4BC6-9429-E7DC44902273}"/>
              </a:ext>
            </a:extLst>
          </p:cNvPr>
          <p:cNvSpPr>
            <a:spLocks noGrp="1"/>
          </p:cNvSpPr>
          <p:nvPr/>
        </p:nvSpPr>
        <p:spPr>
          <a:xfrm>
            <a:off x="7629525" y="4114800"/>
            <a:ext cx="1600200" cy="200025"/>
          </a:xfrm>
          <a:prstGeom prst="roundRect">
            <a:avLst>
              <a:gd name="adj" fmla="val 33333"/>
            </a:avLst>
          </a:prstGeom>
          <a:solidFill>
            <a:srgbClr val="ECFDF5"/>
          </a:solidFill>
          <a:ln w="0">
            <a:noFill/>
            <a:prstDash val="solid"/>
          </a:ln>
        </p:spPr>
      </p:sp>
      <p:sp>
        <p:nvSpPr>
          <p:cNvPr id="73" name="Rectangle 72">
            <a:extLst>
              <a:ext uri="{FF2B5EF4-FFF2-40B4-BE49-F238E27FC236}">
                <a16:creationId xmlns:a16="http://schemas.microsoft.com/office/drawing/2014/main" id="{CDF13409-1B58-4630-86BB-D9EDC2D2D9D3}"/>
              </a:ext>
            </a:extLst>
          </p:cNvPr>
          <p:cNvSpPr>
            <a:spLocks noGrp="1"/>
          </p:cNvSpPr>
          <p:nvPr/>
        </p:nvSpPr>
        <p:spPr>
          <a:xfrm>
            <a:off x="7724775" y="4152900"/>
            <a:ext cx="1409700" cy="123825"/>
          </a:xfrm>
          <a:prstGeom prst="rect">
            <a:avLst/>
          </a:prstGeom>
          <a:noFill/>
          <a:ln w="0">
            <a:noFill/>
            <a:prstDash val="solid"/>
          </a:ln>
        </p:spPr>
        <p:txBody>
          <a:bodyPr/>
          <a:lstStyle/>
          <a:p>
            <a:pPr algn="ctr">
              <a:defRPr sz="788" b="1" i="0">
                <a:solidFill>
                  <a:srgbClr val="0F766E"/>
                </a:solidFill>
              </a:defRPr>
            </a:pPr>
            <a:r>
              <a:rPr sz="788" b="1" i="0">
                <a:solidFill>
                  <a:srgbClr val="0F766E"/>
                </a:solidFill>
              </a:rPr>
              <a:t>Planning</a:t>
            </a:r>
          </a:p>
        </p:txBody>
      </p:sp>
      <p:sp>
        <p:nvSpPr>
          <p:cNvPr id="74" name="Rectangle: Rounded Corners 73">
            <a:extLst>
              <a:ext uri="{FF2B5EF4-FFF2-40B4-BE49-F238E27FC236}">
                <a16:creationId xmlns:a16="http://schemas.microsoft.com/office/drawing/2014/main" id="{88A4CED5-ECDD-4E8B-9FA4-9D702AF18B4E}"/>
              </a:ext>
            </a:extLst>
          </p:cNvPr>
          <p:cNvSpPr>
            <a:spLocks noGrp="1"/>
          </p:cNvSpPr>
          <p:nvPr/>
        </p:nvSpPr>
        <p:spPr>
          <a:xfrm>
            <a:off x="7629525" y="4371975"/>
            <a:ext cx="1600200" cy="200025"/>
          </a:xfrm>
          <a:prstGeom prst="roundRect">
            <a:avLst>
              <a:gd name="adj" fmla="val 33333"/>
            </a:avLst>
          </a:prstGeom>
          <a:solidFill>
            <a:srgbClr val="ECFDF5"/>
          </a:solidFill>
          <a:ln w="0">
            <a:noFill/>
            <a:prstDash val="solid"/>
          </a:ln>
        </p:spPr>
      </p:sp>
      <p:sp>
        <p:nvSpPr>
          <p:cNvPr id="75" name="Rectangle 74">
            <a:extLst>
              <a:ext uri="{FF2B5EF4-FFF2-40B4-BE49-F238E27FC236}">
                <a16:creationId xmlns:a16="http://schemas.microsoft.com/office/drawing/2014/main" id="{1A2FC52C-B753-445A-B660-DAE328A5CFB3}"/>
              </a:ext>
            </a:extLst>
          </p:cNvPr>
          <p:cNvSpPr>
            <a:spLocks noGrp="1"/>
          </p:cNvSpPr>
          <p:nvPr/>
        </p:nvSpPr>
        <p:spPr>
          <a:xfrm>
            <a:off x="7724775" y="4410075"/>
            <a:ext cx="1409700" cy="123825"/>
          </a:xfrm>
          <a:prstGeom prst="rect">
            <a:avLst/>
          </a:prstGeom>
          <a:noFill/>
          <a:ln w="0">
            <a:noFill/>
            <a:prstDash val="solid"/>
          </a:ln>
        </p:spPr>
        <p:txBody>
          <a:bodyPr/>
          <a:lstStyle/>
          <a:p>
            <a:pPr algn="ctr">
              <a:defRPr sz="788" b="1" i="0">
                <a:solidFill>
                  <a:srgbClr val="0F766E"/>
                </a:solidFill>
              </a:defRPr>
            </a:pPr>
            <a:r>
              <a:rPr sz="788" b="1" i="0">
                <a:solidFill>
                  <a:srgbClr val="0F766E"/>
                </a:solidFill>
              </a:rPr>
              <a:t>Modeling</a:t>
            </a:r>
          </a:p>
        </p:txBody>
      </p:sp>
      <p:sp>
        <p:nvSpPr>
          <p:cNvPr id="76" name="Rectangle: Rounded Corners 75">
            <a:extLst>
              <a:ext uri="{FF2B5EF4-FFF2-40B4-BE49-F238E27FC236}">
                <a16:creationId xmlns:a16="http://schemas.microsoft.com/office/drawing/2014/main" id="{5E8BB82E-ECD0-4E01-8510-77EB02003068}"/>
              </a:ext>
            </a:extLst>
          </p:cNvPr>
          <p:cNvSpPr>
            <a:spLocks noGrp="1"/>
          </p:cNvSpPr>
          <p:nvPr/>
        </p:nvSpPr>
        <p:spPr>
          <a:xfrm>
            <a:off x="7629525" y="4629150"/>
            <a:ext cx="1600200" cy="200025"/>
          </a:xfrm>
          <a:prstGeom prst="roundRect">
            <a:avLst>
              <a:gd name="adj" fmla="val 33333"/>
            </a:avLst>
          </a:prstGeom>
          <a:solidFill>
            <a:srgbClr val="ECFDF5"/>
          </a:solidFill>
          <a:ln w="0">
            <a:noFill/>
            <a:prstDash val="solid"/>
          </a:ln>
        </p:spPr>
      </p:sp>
      <p:sp>
        <p:nvSpPr>
          <p:cNvPr id="77" name="Rectangle 76">
            <a:extLst>
              <a:ext uri="{FF2B5EF4-FFF2-40B4-BE49-F238E27FC236}">
                <a16:creationId xmlns:a16="http://schemas.microsoft.com/office/drawing/2014/main" id="{0DAF855E-3C41-491D-A35E-67D039F1A731}"/>
              </a:ext>
            </a:extLst>
          </p:cNvPr>
          <p:cNvSpPr>
            <a:spLocks noGrp="1"/>
          </p:cNvSpPr>
          <p:nvPr/>
        </p:nvSpPr>
        <p:spPr>
          <a:xfrm>
            <a:off x="7724775" y="4667250"/>
            <a:ext cx="1409700" cy="123825"/>
          </a:xfrm>
          <a:prstGeom prst="rect">
            <a:avLst/>
          </a:prstGeom>
          <a:noFill/>
          <a:ln w="0">
            <a:noFill/>
            <a:prstDash val="solid"/>
          </a:ln>
        </p:spPr>
        <p:txBody>
          <a:bodyPr/>
          <a:lstStyle/>
          <a:p>
            <a:pPr algn="ctr">
              <a:defRPr sz="788" b="1" i="0">
                <a:solidFill>
                  <a:srgbClr val="0F766E"/>
                </a:solidFill>
              </a:defRPr>
            </a:pPr>
            <a:r>
              <a:rPr sz="788" b="1" i="0">
                <a:solidFill>
                  <a:srgbClr val="0F766E"/>
                </a:solidFill>
              </a:rPr>
              <a:t>Construction</a:t>
            </a:r>
          </a:p>
        </p:txBody>
      </p:sp>
      <p:sp>
        <p:nvSpPr>
          <p:cNvPr id="78" name="Rectangle: Rounded Corners 77">
            <a:extLst>
              <a:ext uri="{FF2B5EF4-FFF2-40B4-BE49-F238E27FC236}">
                <a16:creationId xmlns:a16="http://schemas.microsoft.com/office/drawing/2014/main" id="{6E7FA398-37B0-42DF-A77A-51A8E84BB3F9}"/>
              </a:ext>
            </a:extLst>
          </p:cNvPr>
          <p:cNvSpPr>
            <a:spLocks noGrp="1"/>
          </p:cNvSpPr>
          <p:nvPr/>
        </p:nvSpPr>
        <p:spPr>
          <a:xfrm>
            <a:off x="7629525" y="4886325"/>
            <a:ext cx="1600200" cy="200025"/>
          </a:xfrm>
          <a:prstGeom prst="roundRect">
            <a:avLst>
              <a:gd name="adj" fmla="val 33333"/>
            </a:avLst>
          </a:prstGeom>
          <a:solidFill>
            <a:srgbClr val="ECFDF5"/>
          </a:solidFill>
          <a:ln w="0">
            <a:noFill/>
            <a:prstDash val="solid"/>
          </a:ln>
        </p:spPr>
      </p:sp>
      <p:sp>
        <p:nvSpPr>
          <p:cNvPr id="79" name="Rectangle 78">
            <a:extLst>
              <a:ext uri="{FF2B5EF4-FFF2-40B4-BE49-F238E27FC236}">
                <a16:creationId xmlns:a16="http://schemas.microsoft.com/office/drawing/2014/main" id="{7E3F94DD-A10B-4718-B47A-1264018DD805}"/>
              </a:ext>
            </a:extLst>
          </p:cNvPr>
          <p:cNvSpPr>
            <a:spLocks noGrp="1"/>
          </p:cNvSpPr>
          <p:nvPr/>
        </p:nvSpPr>
        <p:spPr>
          <a:xfrm>
            <a:off x="7724775" y="4924425"/>
            <a:ext cx="1409700" cy="123825"/>
          </a:xfrm>
          <a:prstGeom prst="rect">
            <a:avLst/>
          </a:prstGeom>
          <a:noFill/>
          <a:ln w="0">
            <a:noFill/>
            <a:prstDash val="solid"/>
          </a:ln>
        </p:spPr>
        <p:txBody>
          <a:bodyPr/>
          <a:lstStyle/>
          <a:p>
            <a:pPr algn="ctr">
              <a:defRPr sz="788" b="1" i="0">
                <a:solidFill>
                  <a:srgbClr val="0F766E"/>
                </a:solidFill>
              </a:defRPr>
            </a:pPr>
            <a:r>
              <a:rPr sz="788" b="1" i="0">
                <a:solidFill>
                  <a:srgbClr val="0F766E"/>
                </a:solidFill>
              </a:rPr>
              <a:t>Deployment</a:t>
            </a:r>
          </a:p>
        </p:txBody>
      </p:sp>
      <p:sp>
        <p:nvSpPr>
          <p:cNvPr id="80" name="Rectangle: Rounded Corners 79">
            <a:extLst>
              <a:ext uri="{FF2B5EF4-FFF2-40B4-BE49-F238E27FC236}">
                <a16:creationId xmlns:a16="http://schemas.microsoft.com/office/drawing/2014/main" id="{4CEB192A-A035-4043-97E6-8934CD6D77FB}"/>
              </a:ext>
            </a:extLst>
          </p:cNvPr>
          <p:cNvSpPr>
            <a:spLocks noGrp="1"/>
          </p:cNvSpPr>
          <p:nvPr/>
        </p:nvSpPr>
        <p:spPr>
          <a:xfrm>
            <a:off x="9734550" y="2257425"/>
            <a:ext cx="2057400" cy="3086100"/>
          </a:xfrm>
          <a:prstGeom prst="roundRect">
            <a:avLst>
              <a:gd name="adj" fmla="val 6481"/>
            </a:avLst>
          </a:prstGeom>
          <a:solidFill>
            <a:srgbClr val="FFFFFF"/>
          </a:solidFill>
          <a:ln w="9525">
            <a:solidFill>
              <a:srgbClr val="D1D5DB"/>
            </a:solidFill>
            <a:prstDash val="solid"/>
          </a:ln>
        </p:spPr>
      </p:sp>
      <p:sp>
        <p:nvSpPr>
          <p:cNvPr id="81" name="Rectangle: Rounded Corners 80">
            <a:extLst>
              <a:ext uri="{FF2B5EF4-FFF2-40B4-BE49-F238E27FC236}">
                <a16:creationId xmlns:a16="http://schemas.microsoft.com/office/drawing/2014/main" id="{28779321-A4D2-40C1-97A6-68808052829F}"/>
              </a:ext>
            </a:extLst>
          </p:cNvPr>
          <p:cNvSpPr>
            <a:spLocks noGrp="1"/>
          </p:cNvSpPr>
          <p:nvPr/>
        </p:nvSpPr>
        <p:spPr>
          <a:xfrm>
            <a:off x="9734550" y="2257425"/>
            <a:ext cx="2057400" cy="552450"/>
          </a:xfrm>
          <a:prstGeom prst="roundRect">
            <a:avLst>
              <a:gd name="adj" fmla="val 24138"/>
            </a:avLst>
          </a:prstGeom>
          <a:solidFill>
            <a:srgbClr val="1E3A8A"/>
          </a:solidFill>
          <a:ln w="0">
            <a:noFill/>
            <a:prstDash val="solid"/>
          </a:ln>
        </p:spPr>
      </p:sp>
      <p:pic>
        <p:nvPicPr>
          <p:cNvPr id="185" name="Graphic 184"/>
          <p:cNvPicPr>
            <a:picLocks noChangeAspect="1"/>
          </p:cNvPicPr>
          <p:nvPr/>
        </p:nvPicPr>
        <p:blipFill>
          <a:blip>
            <a:extLst>
              <a:ext uri="{96DAC541-7B7A-43D3-8B79-37D633B846F1}">
                <asvg:svgBlip xmlns:asvg="http://schemas.microsoft.com/office/drawing/2016/SVG/main" r:embed="rId9"/>
              </a:ext>
            </a:extLst>
          </a:blip>
          <a:stretch/>
        </p:blipFill>
        <p:spPr>
          <a:xfrm>
            <a:off x="9886950" y="2409825"/>
            <a:ext cx="247650" cy="247650"/>
          </a:xfrm>
          <a:prstGeom prst="rect">
            <a:avLst/>
          </a:prstGeom>
        </p:spPr>
      </p:pic>
      <p:sp>
        <p:nvSpPr>
          <p:cNvPr id="83" name="Rectangle 82">
            <a:extLst>
              <a:ext uri="{FF2B5EF4-FFF2-40B4-BE49-F238E27FC236}">
                <a16:creationId xmlns:a16="http://schemas.microsoft.com/office/drawing/2014/main" id="{77BDB6FA-1043-41FB-8A15-77F11FCA5A90}"/>
              </a:ext>
            </a:extLst>
          </p:cNvPr>
          <p:cNvSpPr>
            <a:spLocks noGrp="1"/>
          </p:cNvSpPr>
          <p:nvPr/>
        </p:nvSpPr>
        <p:spPr>
          <a:xfrm>
            <a:off x="10229850" y="2405062"/>
            <a:ext cx="1390650" cy="171450"/>
          </a:xfrm>
          <a:prstGeom prst="rect">
            <a:avLst/>
          </a:prstGeom>
          <a:noFill/>
          <a:ln w="0">
            <a:noFill/>
            <a:prstDash val="solid"/>
          </a:ln>
        </p:spPr>
        <p:txBody>
          <a:bodyPr/>
          <a:lstStyle/>
          <a:p>
            <a:pPr algn="l">
              <a:defRPr sz="900" b="1" i="0">
                <a:solidFill>
                  <a:srgbClr val="FFFFFF"/>
                </a:solidFill>
              </a:defRPr>
            </a:pPr>
            <a:r>
              <a:rPr sz="1400" b="1" i="0" dirty="0">
                <a:solidFill>
                  <a:srgbClr val="FFFFFF"/>
                </a:solidFill>
              </a:rPr>
              <a:t>Increment 5</a:t>
            </a:r>
          </a:p>
        </p:txBody>
      </p:sp>
      <p:sp>
        <p:nvSpPr>
          <p:cNvPr id="85" name="Rectangle 84">
            <a:extLst>
              <a:ext uri="{FF2B5EF4-FFF2-40B4-BE49-F238E27FC236}">
                <a16:creationId xmlns:a16="http://schemas.microsoft.com/office/drawing/2014/main" id="{BEC0B6C5-FCF9-44CD-A98C-B433EBDEFB7D}"/>
              </a:ext>
            </a:extLst>
          </p:cNvPr>
          <p:cNvSpPr>
            <a:spLocks noGrp="1"/>
          </p:cNvSpPr>
          <p:nvPr/>
        </p:nvSpPr>
        <p:spPr>
          <a:xfrm>
            <a:off x="9886950" y="2971800"/>
            <a:ext cx="1752600" cy="523875"/>
          </a:xfrm>
          <a:prstGeom prst="rect">
            <a:avLst/>
          </a:prstGeom>
          <a:noFill/>
          <a:ln w="0">
            <a:noFill/>
            <a:prstDash val="solid"/>
          </a:ln>
        </p:spPr>
        <p:txBody>
          <a:bodyPr/>
          <a:lstStyle/>
          <a:p>
            <a:pPr algn="ctr">
              <a:defRPr sz="1238" b="1" i="0">
                <a:solidFill>
                  <a:srgbClr val="172554"/>
                </a:solidFill>
              </a:defRPr>
            </a:pPr>
            <a:r>
              <a:rPr sz="1238" b="1" i="0">
                <a:solidFill>
                  <a:srgbClr val="172554"/>
                </a:solidFill>
              </a:rPr>
              <a:t>Refinement, testing, deployment</a:t>
            </a:r>
          </a:p>
        </p:txBody>
      </p:sp>
      <p:sp>
        <p:nvSpPr>
          <p:cNvPr id="86" name="Rectangle 85">
            <a:extLst>
              <a:ext uri="{FF2B5EF4-FFF2-40B4-BE49-F238E27FC236}">
                <a16:creationId xmlns:a16="http://schemas.microsoft.com/office/drawing/2014/main" id="{FAEB0F1A-1681-4696-B440-FF634FF424E4}"/>
              </a:ext>
            </a:extLst>
          </p:cNvPr>
          <p:cNvSpPr>
            <a:spLocks noGrp="1"/>
          </p:cNvSpPr>
          <p:nvPr/>
        </p:nvSpPr>
        <p:spPr>
          <a:xfrm>
            <a:off x="9925050" y="3629025"/>
            <a:ext cx="1676400" cy="142875"/>
          </a:xfrm>
          <a:prstGeom prst="rect">
            <a:avLst/>
          </a:prstGeom>
          <a:noFill/>
          <a:ln w="0">
            <a:noFill/>
            <a:prstDash val="solid"/>
          </a:ln>
        </p:spPr>
        <p:txBody>
          <a:bodyPr/>
          <a:lstStyle/>
          <a:p>
            <a:pPr algn="ctr">
              <a:defRPr sz="713" b="1" i="0">
                <a:solidFill>
                  <a:srgbClr val="1E3A8A"/>
                </a:solidFill>
              </a:defRPr>
            </a:pPr>
            <a:r>
              <a:rPr sz="713" b="1" i="0">
                <a:solidFill>
                  <a:srgbClr val="1E3A8A"/>
                </a:solidFill>
              </a:rPr>
              <a:t>INCREMENT CYCLE</a:t>
            </a:r>
          </a:p>
        </p:txBody>
      </p:sp>
      <p:sp>
        <p:nvSpPr>
          <p:cNvPr id="87" name="Rectangle: Rounded Corners 86">
            <a:extLst>
              <a:ext uri="{FF2B5EF4-FFF2-40B4-BE49-F238E27FC236}">
                <a16:creationId xmlns:a16="http://schemas.microsoft.com/office/drawing/2014/main" id="{D134E082-4756-4DDA-89E8-7451257E929C}"/>
              </a:ext>
            </a:extLst>
          </p:cNvPr>
          <p:cNvSpPr>
            <a:spLocks noGrp="1"/>
          </p:cNvSpPr>
          <p:nvPr/>
        </p:nvSpPr>
        <p:spPr>
          <a:xfrm>
            <a:off x="9963150" y="3857625"/>
            <a:ext cx="1600200" cy="200025"/>
          </a:xfrm>
          <a:prstGeom prst="roundRect">
            <a:avLst>
              <a:gd name="adj" fmla="val 33333"/>
            </a:avLst>
          </a:prstGeom>
          <a:solidFill>
            <a:srgbClr val="EEF2FF"/>
          </a:solidFill>
          <a:ln w="0">
            <a:noFill/>
            <a:prstDash val="solid"/>
          </a:ln>
        </p:spPr>
      </p:sp>
      <p:sp>
        <p:nvSpPr>
          <p:cNvPr id="88" name="Rectangle 87">
            <a:extLst>
              <a:ext uri="{FF2B5EF4-FFF2-40B4-BE49-F238E27FC236}">
                <a16:creationId xmlns:a16="http://schemas.microsoft.com/office/drawing/2014/main" id="{16B6675D-6E5D-4311-B9CB-FC1B8B7BD0A9}"/>
              </a:ext>
            </a:extLst>
          </p:cNvPr>
          <p:cNvSpPr>
            <a:spLocks noGrp="1"/>
          </p:cNvSpPr>
          <p:nvPr/>
        </p:nvSpPr>
        <p:spPr>
          <a:xfrm>
            <a:off x="10058400" y="3895725"/>
            <a:ext cx="1409700" cy="123825"/>
          </a:xfrm>
          <a:prstGeom prst="rect">
            <a:avLst/>
          </a:prstGeom>
          <a:noFill/>
          <a:ln w="0">
            <a:noFill/>
            <a:prstDash val="solid"/>
          </a:ln>
        </p:spPr>
        <p:txBody>
          <a:bodyPr/>
          <a:lstStyle/>
          <a:p>
            <a:pPr algn="ctr">
              <a:defRPr sz="788" b="1" i="0">
                <a:solidFill>
                  <a:srgbClr val="1E3A8A"/>
                </a:solidFill>
              </a:defRPr>
            </a:pPr>
            <a:r>
              <a:rPr sz="788" b="1" i="0">
                <a:solidFill>
                  <a:srgbClr val="1E3A8A"/>
                </a:solidFill>
              </a:rPr>
              <a:t>Communication</a:t>
            </a:r>
          </a:p>
        </p:txBody>
      </p:sp>
      <p:sp>
        <p:nvSpPr>
          <p:cNvPr id="89" name="Rectangle: Rounded Corners 88">
            <a:extLst>
              <a:ext uri="{FF2B5EF4-FFF2-40B4-BE49-F238E27FC236}">
                <a16:creationId xmlns:a16="http://schemas.microsoft.com/office/drawing/2014/main" id="{BB9248A9-13A8-440C-9B45-C9A4539CB049}"/>
              </a:ext>
            </a:extLst>
          </p:cNvPr>
          <p:cNvSpPr>
            <a:spLocks noGrp="1"/>
          </p:cNvSpPr>
          <p:nvPr/>
        </p:nvSpPr>
        <p:spPr>
          <a:xfrm>
            <a:off x="9963150" y="4114800"/>
            <a:ext cx="1600200" cy="200025"/>
          </a:xfrm>
          <a:prstGeom prst="roundRect">
            <a:avLst>
              <a:gd name="adj" fmla="val 33333"/>
            </a:avLst>
          </a:prstGeom>
          <a:solidFill>
            <a:srgbClr val="EEF2FF"/>
          </a:solidFill>
          <a:ln w="0">
            <a:noFill/>
            <a:prstDash val="solid"/>
          </a:ln>
        </p:spPr>
      </p:sp>
      <p:sp>
        <p:nvSpPr>
          <p:cNvPr id="90" name="Rectangle 89">
            <a:extLst>
              <a:ext uri="{FF2B5EF4-FFF2-40B4-BE49-F238E27FC236}">
                <a16:creationId xmlns:a16="http://schemas.microsoft.com/office/drawing/2014/main" id="{6FD7649B-378E-4330-B5FE-8C1F1A25CF80}"/>
              </a:ext>
            </a:extLst>
          </p:cNvPr>
          <p:cNvSpPr>
            <a:spLocks noGrp="1"/>
          </p:cNvSpPr>
          <p:nvPr/>
        </p:nvSpPr>
        <p:spPr>
          <a:xfrm>
            <a:off x="10058400" y="4152900"/>
            <a:ext cx="1409700" cy="123825"/>
          </a:xfrm>
          <a:prstGeom prst="rect">
            <a:avLst/>
          </a:prstGeom>
          <a:noFill/>
          <a:ln w="0">
            <a:noFill/>
            <a:prstDash val="solid"/>
          </a:ln>
        </p:spPr>
        <p:txBody>
          <a:bodyPr/>
          <a:lstStyle/>
          <a:p>
            <a:pPr algn="ctr">
              <a:defRPr sz="788" b="1" i="0">
                <a:solidFill>
                  <a:srgbClr val="1E3A8A"/>
                </a:solidFill>
              </a:defRPr>
            </a:pPr>
            <a:r>
              <a:rPr sz="788" b="1" i="0">
                <a:solidFill>
                  <a:srgbClr val="1E3A8A"/>
                </a:solidFill>
              </a:rPr>
              <a:t>Planning</a:t>
            </a:r>
          </a:p>
        </p:txBody>
      </p:sp>
      <p:sp>
        <p:nvSpPr>
          <p:cNvPr id="91" name="Rectangle: Rounded Corners 90">
            <a:extLst>
              <a:ext uri="{FF2B5EF4-FFF2-40B4-BE49-F238E27FC236}">
                <a16:creationId xmlns:a16="http://schemas.microsoft.com/office/drawing/2014/main" id="{E8D02281-F6B0-4AFE-B3CF-12CF1EF91957}"/>
              </a:ext>
            </a:extLst>
          </p:cNvPr>
          <p:cNvSpPr>
            <a:spLocks noGrp="1"/>
          </p:cNvSpPr>
          <p:nvPr/>
        </p:nvSpPr>
        <p:spPr>
          <a:xfrm>
            <a:off x="9963150" y="4371975"/>
            <a:ext cx="1600200" cy="200025"/>
          </a:xfrm>
          <a:prstGeom prst="roundRect">
            <a:avLst>
              <a:gd name="adj" fmla="val 33333"/>
            </a:avLst>
          </a:prstGeom>
          <a:solidFill>
            <a:srgbClr val="EEF2FF"/>
          </a:solidFill>
          <a:ln w="0">
            <a:noFill/>
            <a:prstDash val="solid"/>
          </a:ln>
        </p:spPr>
      </p:sp>
      <p:sp>
        <p:nvSpPr>
          <p:cNvPr id="92" name="Rectangle 91">
            <a:extLst>
              <a:ext uri="{FF2B5EF4-FFF2-40B4-BE49-F238E27FC236}">
                <a16:creationId xmlns:a16="http://schemas.microsoft.com/office/drawing/2014/main" id="{2862C4FC-4012-4403-B3B3-A8AA2F04018E}"/>
              </a:ext>
            </a:extLst>
          </p:cNvPr>
          <p:cNvSpPr>
            <a:spLocks noGrp="1"/>
          </p:cNvSpPr>
          <p:nvPr/>
        </p:nvSpPr>
        <p:spPr>
          <a:xfrm>
            <a:off x="10058400" y="4410075"/>
            <a:ext cx="1409700" cy="123825"/>
          </a:xfrm>
          <a:prstGeom prst="rect">
            <a:avLst/>
          </a:prstGeom>
          <a:noFill/>
          <a:ln w="0">
            <a:noFill/>
            <a:prstDash val="solid"/>
          </a:ln>
        </p:spPr>
        <p:txBody>
          <a:bodyPr/>
          <a:lstStyle/>
          <a:p>
            <a:pPr algn="ctr">
              <a:defRPr sz="788" b="1" i="0">
                <a:solidFill>
                  <a:srgbClr val="1E3A8A"/>
                </a:solidFill>
              </a:defRPr>
            </a:pPr>
            <a:r>
              <a:rPr sz="788" b="1" i="0">
                <a:solidFill>
                  <a:srgbClr val="1E3A8A"/>
                </a:solidFill>
              </a:rPr>
              <a:t>Modeling</a:t>
            </a:r>
          </a:p>
        </p:txBody>
      </p:sp>
      <p:sp>
        <p:nvSpPr>
          <p:cNvPr id="93" name="Rectangle: Rounded Corners 92">
            <a:extLst>
              <a:ext uri="{FF2B5EF4-FFF2-40B4-BE49-F238E27FC236}">
                <a16:creationId xmlns:a16="http://schemas.microsoft.com/office/drawing/2014/main" id="{55579818-7176-4D9D-800E-3743D27C54C6}"/>
              </a:ext>
            </a:extLst>
          </p:cNvPr>
          <p:cNvSpPr>
            <a:spLocks noGrp="1"/>
          </p:cNvSpPr>
          <p:nvPr/>
        </p:nvSpPr>
        <p:spPr>
          <a:xfrm>
            <a:off x="9963150" y="4629150"/>
            <a:ext cx="1600200" cy="200025"/>
          </a:xfrm>
          <a:prstGeom prst="roundRect">
            <a:avLst>
              <a:gd name="adj" fmla="val 33333"/>
            </a:avLst>
          </a:prstGeom>
          <a:solidFill>
            <a:srgbClr val="EEF2FF"/>
          </a:solidFill>
          <a:ln w="0">
            <a:noFill/>
            <a:prstDash val="solid"/>
          </a:ln>
        </p:spPr>
      </p:sp>
      <p:sp>
        <p:nvSpPr>
          <p:cNvPr id="94" name="Rectangle 93">
            <a:extLst>
              <a:ext uri="{FF2B5EF4-FFF2-40B4-BE49-F238E27FC236}">
                <a16:creationId xmlns:a16="http://schemas.microsoft.com/office/drawing/2014/main" id="{438ABAEC-B47F-4E6C-9E4D-050920006625}"/>
              </a:ext>
            </a:extLst>
          </p:cNvPr>
          <p:cNvSpPr>
            <a:spLocks noGrp="1"/>
          </p:cNvSpPr>
          <p:nvPr/>
        </p:nvSpPr>
        <p:spPr>
          <a:xfrm>
            <a:off x="10058400" y="4667250"/>
            <a:ext cx="1409700" cy="123825"/>
          </a:xfrm>
          <a:prstGeom prst="rect">
            <a:avLst/>
          </a:prstGeom>
          <a:noFill/>
          <a:ln w="0">
            <a:noFill/>
            <a:prstDash val="solid"/>
          </a:ln>
        </p:spPr>
        <p:txBody>
          <a:bodyPr/>
          <a:lstStyle/>
          <a:p>
            <a:pPr algn="ctr">
              <a:defRPr sz="788" b="1" i="0">
                <a:solidFill>
                  <a:srgbClr val="1E3A8A"/>
                </a:solidFill>
              </a:defRPr>
            </a:pPr>
            <a:r>
              <a:rPr sz="788" b="1" i="0">
                <a:solidFill>
                  <a:srgbClr val="1E3A8A"/>
                </a:solidFill>
              </a:rPr>
              <a:t>Construction</a:t>
            </a:r>
          </a:p>
        </p:txBody>
      </p:sp>
      <p:sp>
        <p:nvSpPr>
          <p:cNvPr id="95" name="Rectangle: Rounded Corners 94">
            <a:extLst>
              <a:ext uri="{FF2B5EF4-FFF2-40B4-BE49-F238E27FC236}">
                <a16:creationId xmlns:a16="http://schemas.microsoft.com/office/drawing/2014/main" id="{ACF7D51F-7939-4F65-8301-8BBD9F397B5D}"/>
              </a:ext>
            </a:extLst>
          </p:cNvPr>
          <p:cNvSpPr>
            <a:spLocks noGrp="1"/>
          </p:cNvSpPr>
          <p:nvPr/>
        </p:nvSpPr>
        <p:spPr>
          <a:xfrm>
            <a:off x="9963150" y="4886325"/>
            <a:ext cx="1600200" cy="200025"/>
          </a:xfrm>
          <a:prstGeom prst="roundRect">
            <a:avLst>
              <a:gd name="adj" fmla="val 33333"/>
            </a:avLst>
          </a:prstGeom>
          <a:solidFill>
            <a:srgbClr val="EEF2FF"/>
          </a:solidFill>
          <a:ln w="0">
            <a:noFill/>
            <a:prstDash val="solid"/>
          </a:ln>
        </p:spPr>
      </p:sp>
      <p:sp>
        <p:nvSpPr>
          <p:cNvPr id="96" name="Rectangle 95">
            <a:extLst>
              <a:ext uri="{FF2B5EF4-FFF2-40B4-BE49-F238E27FC236}">
                <a16:creationId xmlns:a16="http://schemas.microsoft.com/office/drawing/2014/main" id="{9EC0A6E0-E820-4BE2-B985-5E122221BE0F}"/>
              </a:ext>
            </a:extLst>
          </p:cNvPr>
          <p:cNvSpPr>
            <a:spLocks noGrp="1"/>
          </p:cNvSpPr>
          <p:nvPr/>
        </p:nvSpPr>
        <p:spPr>
          <a:xfrm>
            <a:off x="10058400" y="4924425"/>
            <a:ext cx="1409700" cy="123825"/>
          </a:xfrm>
          <a:prstGeom prst="rect">
            <a:avLst/>
          </a:prstGeom>
          <a:noFill/>
          <a:ln w="0">
            <a:noFill/>
            <a:prstDash val="solid"/>
          </a:ln>
        </p:spPr>
        <p:txBody>
          <a:bodyPr/>
          <a:lstStyle/>
          <a:p>
            <a:pPr algn="ctr">
              <a:defRPr sz="788" b="1" i="0">
                <a:solidFill>
                  <a:srgbClr val="1E3A8A"/>
                </a:solidFill>
              </a:defRPr>
            </a:pPr>
            <a:r>
              <a:rPr sz="788" b="1" i="0">
                <a:solidFill>
                  <a:srgbClr val="1E3A8A"/>
                </a:solidFill>
              </a:rPr>
              <a:t>Deployment</a:t>
            </a:r>
          </a:p>
        </p:txBody>
      </p:sp>
      <p:cxnSp>
        <p:nvCxnSpPr>
          <p:cNvPr id="200" name="Straight Arrow Connector 199"/>
          <p:cNvCxnSpPr>
            <a:stCxn id="12" idx="3"/>
            <a:endCxn id="29" idx="1"/>
          </p:cNvCxnSpPr>
          <p:nvPr/>
        </p:nvCxnSpPr>
        <p:spPr>
          <a:xfrm>
            <a:off x="2457450" y="3800475"/>
            <a:ext cx="276225" cy="0"/>
          </a:xfrm>
          <a:prstGeom prst="straightConnector1">
            <a:avLst/>
          </a:prstGeom>
          <a:ln w="17145">
            <a:solidFill>
              <a:srgbClr val="9CA3AF"/>
            </a:solidFill>
            <a:prstDash val="solid"/>
            <a:tailEnd type="triangle" w="sm" len="sm"/>
          </a:ln>
        </p:spPr>
      </p:cxnSp>
      <p:cxnSp>
        <p:nvCxnSpPr>
          <p:cNvPr id="201" name="Straight Arrow Connector 200"/>
          <p:cNvCxnSpPr>
            <a:stCxn id="29" idx="3"/>
            <a:endCxn id="46" idx="1"/>
          </p:cNvCxnSpPr>
          <p:nvPr/>
        </p:nvCxnSpPr>
        <p:spPr>
          <a:xfrm>
            <a:off x="4791075" y="3800475"/>
            <a:ext cx="276225" cy="0"/>
          </a:xfrm>
          <a:prstGeom prst="straightConnector1">
            <a:avLst/>
          </a:prstGeom>
          <a:ln w="17145">
            <a:solidFill>
              <a:srgbClr val="9CA3AF"/>
            </a:solidFill>
            <a:prstDash val="solid"/>
            <a:tailEnd type="triangle" w="sm" len="sm"/>
          </a:ln>
        </p:spPr>
      </p:cxnSp>
      <p:cxnSp>
        <p:nvCxnSpPr>
          <p:cNvPr id="202" name="Straight Arrow Connector 201"/>
          <p:cNvCxnSpPr>
            <a:stCxn id="46" idx="3"/>
            <a:endCxn id="63" idx="1"/>
          </p:cNvCxnSpPr>
          <p:nvPr/>
        </p:nvCxnSpPr>
        <p:spPr>
          <a:xfrm>
            <a:off x="7124700" y="3800475"/>
            <a:ext cx="276225" cy="0"/>
          </a:xfrm>
          <a:prstGeom prst="straightConnector1">
            <a:avLst/>
          </a:prstGeom>
          <a:ln w="17145">
            <a:solidFill>
              <a:srgbClr val="9CA3AF"/>
            </a:solidFill>
            <a:prstDash val="solid"/>
            <a:tailEnd type="triangle" w="sm" len="sm"/>
          </a:ln>
        </p:spPr>
      </p:cxnSp>
      <p:cxnSp>
        <p:nvCxnSpPr>
          <p:cNvPr id="203" name="Straight Arrow Connector 202"/>
          <p:cNvCxnSpPr>
            <a:stCxn id="63" idx="3"/>
            <a:endCxn id="80" idx="1"/>
          </p:cNvCxnSpPr>
          <p:nvPr/>
        </p:nvCxnSpPr>
        <p:spPr>
          <a:xfrm>
            <a:off x="9458325" y="3800475"/>
            <a:ext cx="276225" cy="0"/>
          </a:xfrm>
          <a:prstGeom prst="straightConnector1">
            <a:avLst/>
          </a:prstGeom>
          <a:ln w="17145">
            <a:solidFill>
              <a:srgbClr val="9CA3AF"/>
            </a:solidFill>
            <a:prstDash val="solid"/>
            <a:tailEnd type="triangle" w="sm" len="sm"/>
          </a:ln>
        </p:spPr>
      </p:cxnSp>
      <p:pic>
        <p:nvPicPr>
          <p:cNvPr id="205" name="Graphic 204"/>
          <p:cNvPicPr>
            <a:picLocks noChangeAspect="1"/>
          </p:cNvPicPr>
          <p:nvPr/>
        </p:nvPicPr>
        <p:blipFill>
          <a:blip>
            <a:extLst>
              <a:ext uri="{96DAC541-7B7A-43D3-8B79-37D633B846F1}">
                <asvg:svgBlip xmlns:asvg="http://schemas.microsoft.com/office/drawing/2016/SVG/main" r:embed="rId10"/>
              </a:ext>
            </a:extLst>
          </a:blip>
          <a:stretch/>
        </p:blipFill>
        <p:spPr>
          <a:xfrm>
            <a:off x="5314950" y="5638800"/>
            <a:ext cx="228600" cy="228600"/>
          </a:xfrm>
          <a:prstGeom prst="rect">
            <a:avLst/>
          </a:prstGeom>
        </p:spPr>
      </p:pic>
      <p:sp>
        <p:nvSpPr>
          <p:cNvPr id="103" name="Rectangle 102">
            <a:extLst>
              <a:ext uri="{FF2B5EF4-FFF2-40B4-BE49-F238E27FC236}">
                <a16:creationId xmlns:a16="http://schemas.microsoft.com/office/drawing/2014/main" id="{97F23E69-A9EE-4CF8-BED8-3E64952CDA9B}"/>
              </a:ext>
            </a:extLst>
          </p:cNvPr>
          <p:cNvSpPr>
            <a:spLocks noGrp="1"/>
          </p:cNvSpPr>
          <p:nvPr/>
        </p:nvSpPr>
        <p:spPr>
          <a:xfrm>
            <a:off x="5619750" y="5581650"/>
            <a:ext cx="1276350" cy="361950"/>
          </a:xfrm>
          <a:prstGeom prst="rect">
            <a:avLst/>
          </a:prstGeom>
          <a:noFill/>
          <a:ln w="0">
            <a:noFill/>
            <a:prstDash val="solid"/>
          </a:ln>
        </p:spPr>
        <p:txBody>
          <a:bodyPr/>
          <a:lstStyle/>
          <a:p>
            <a:pPr algn="ctr">
              <a:defRPr sz="788" b="1" i="0">
                <a:solidFill>
                  <a:srgbClr val="FFFFFF"/>
                </a:solidFill>
              </a:defRPr>
            </a:pPr>
            <a:r>
              <a:rPr sz="788" b="1" i="0" dirty="0">
                <a:solidFill>
                  <a:srgbClr val="FFFFFF"/>
                </a:solidFill>
              </a:rPr>
              <a:t>WORKING SYSTEM</a:t>
            </a:r>
          </a:p>
          <a:p>
            <a:pPr algn="ctr">
              <a:defRPr sz="788" b="1" i="0">
                <a:solidFill>
                  <a:srgbClr val="FFFFFF"/>
                </a:solidFill>
              </a:defRPr>
            </a:pPr>
            <a:r>
              <a:rPr sz="788" b="1" i="0" dirty="0">
                <a:solidFill>
                  <a:srgbClr val="FFFFFF"/>
                </a:solidFill>
              </a:rPr>
              <a:t>MVP AT WEEK 8</a:t>
            </a:r>
          </a:p>
        </p:txBody>
      </p:sp>
    </p:spTree>
    <p:extLst>
      <p:ext uri="{BB962C8B-B14F-4D97-AF65-F5344CB8AC3E}">
        <p14:creationId xmlns:p14="http://schemas.microsoft.com/office/powerpoint/2010/main" val="1444506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 name="Rectangle: Rounded Corners 73">
            <a:extLst>
              <a:ext uri="{FF2B5EF4-FFF2-40B4-BE49-F238E27FC236}">
                <a16:creationId xmlns:a16="http://schemas.microsoft.com/office/drawing/2014/main" id="{09DE0329-9829-4AE5-936E-30261F134EF3}"/>
              </a:ext>
            </a:extLst>
          </p:cNvPr>
          <p:cNvSpPr>
            <a:spLocks noGrp="1"/>
          </p:cNvSpPr>
          <p:nvPr/>
        </p:nvSpPr>
        <p:spPr>
          <a:xfrm>
            <a:off x="514350" y="323850"/>
            <a:ext cx="76200" cy="552450"/>
          </a:xfrm>
          <a:prstGeom prst="roundRect">
            <a:avLst>
              <a:gd name="adj" fmla="val 50000"/>
            </a:avLst>
          </a:prstGeom>
          <a:solidFill>
            <a:srgbClr val="EA580C"/>
          </a:solidFill>
          <a:ln w="0">
            <a:noFill/>
            <a:prstDash val="solid"/>
          </a:ln>
        </p:spPr>
      </p:sp>
      <p:sp>
        <p:nvSpPr>
          <p:cNvPr id="2" name="Oval 1">
            <a:extLst>
              <a:ext uri="{FF2B5EF4-FFF2-40B4-BE49-F238E27FC236}">
                <a16:creationId xmlns:a16="http://schemas.microsoft.com/office/drawing/2014/main" id="{4C2C9F5B-79F1-4838-AD28-077A80531355}"/>
              </a:ext>
            </a:extLst>
          </p:cNvPr>
          <p:cNvSpPr>
            <a:spLocks noGrp="1"/>
          </p:cNvSpPr>
          <p:nvPr/>
        </p:nvSpPr>
        <p:spPr>
          <a:xfrm>
            <a:off x="742950" y="361950"/>
            <a:ext cx="457200" cy="457200"/>
          </a:xfrm>
          <a:prstGeom prst="ellipse">
            <a:avLst/>
          </a:prstGeom>
          <a:solidFill>
            <a:srgbClr val="EEF2FF"/>
          </a:solidFill>
          <a:ln w="0">
            <a:noFill/>
            <a:prstDash val="solid"/>
          </a:ln>
        </p:spPr>
      </p:sp>
      <p:pic>
        <p:nvPicPr>
          <p:cNvPr id="76" name="Graphic 75"/>
          <p:cNvPicPr>
            <a:picLocks noChangeAspect="1"/>
          </p:cNvPicPr>
          <p:nvPr/>
        </p:nvPicPr>
        <p:blipFill>
          <a:blip>
            <a:extLst>
              <a:ext uri="{96DAC541-7B7A-43D3-8B79-37D633B846F1}">
                <asvg:svgBlip xmlns:asvg="http://schemas.microsoft.com/office/drawing/2016/SVG/main" r:embed="rId3"/>
              </a:ext>
            </a:extLst>
          </a:blip>
          <a:stretch/>
        </p:blipFill>
        <p:spPr>
          <a:xfrm>
            <a:off x="848106" y="467106"/>
            <a:ext cx="246888" cy="246888"/>
          </a:xfrm>
          <a:prstGeom prst="rect">
            <a:avLst/>
          </a:prstGeom>
        </p:spPr>
      </p:pic>
      <p:sp>
        <p:nvSpPr>
          <p:cNvPr id="4" name="Rectangle 3">
            <a:extLst>
              <a:ext uri="{FF2B5EF4-FFF2-40B4-BE49-F238E27FC236}">
                <a16:creationId xmlns:a16="http://schemas.microsoft.com/office/drawing/2014/main" id="{FF9591EA-82BB-40C9-A8D4-A3FB1876CB2F}"/>
              </a:ext>
            </a:extLst>
          </p:cNvPr>
          <p:cNvSpPr>
            <a:spLocks noGrp="1"/>
          </p:cNvSpPr>
          <p:nvPr/>
        </p:nvSpPr>
        <p:spPr>
          <a:xfrm>
            <a:off x="1352550" y="361950"/>
            <a:ext cx="4762500" cy="171450"/>
          </a:xfrm>
          <a:prstGeom prst="rect">
            <a:avLst/>
          </a:prstGeom>
          <a:noFill/>
          <a:ln w="0">
            <a:noFill/>
            <a:prstDash val="solid"/>
          </a:ln>
        </p:spPr>
        <p:txBody>
          <a:bodyPr/>
          <a:lstStyle/>
          <a:p>
            <a:pPr algn="l">
              <a:defRPr sz="825" b="1" i="0">
                <a:solidFill>
                  <a:srgbClr val="0F766E"/>
                </a:solidFill>
              </a:defRPr>
            </a:pPr>
            <a:r>
              <a:rPr sz="825" b="1" i="0">
                <a:solidFill>
                  <a:srgbClr val="0F766E"/>
                </a:solidFill>
              </a:rPr>
              <a:t>TECHNICAL DESIGN</a:t>
            </a:r>
          </a:p>
        </p:txBody>
      </p:sp>
      <p:sp>
        <p:nvSpPr>
          <p:cNvPr id="5" name="Rectangle 4">
            <a:extLst>
              <a:ext uri="{FF2B5EF4-FFF2-40B4-BE49-F238E27FC236}">
                <a16:creationId xmlns:a16="http://schemas.microsoft.com/office/drawing/2014/main" id="{6F6829F0-8BF3-4FDA-9DC2-FFA95DB822E6}"/>
              </a:ext>
            </a:extLst>
          </p:cNvPr>
          <p:cNvSpPr>
            <a:spLocks noGrp="1"/>
          </p:cNvSpPr>
          <p:nvPr/>
        </p:nvSpPr>
        <p:spPr>
          <a:xfrm>
            <a:off x="1352550" y="552450"/>
            <a:ext cx="9906000" cy="409575"/>
          </a:xfrm>
          <a:prstGeom prst="rect">
            <a:avLst/>
          </a:prstGeom>
          <a:noFill/>
          <a:ln w="0">
            <a:noFill/>
            <a:prstDash val="solid"/>
          </a:ln>
        </p:spPr>
        <p:txBody>
          <a:bodyPr/>
          <a:lstStyle/>
          <a:p>
            <a:pPr algn="l">
              <a:defRPr sz="2700" b="1" i="0">
                <a:solidFill>
                  <a:srgbClr val="172554"/>
                </a:solidFill>
              </a:defRPr>
            </a:pPr>
            <a:r>
              <a:rPr sz="2700" b="1" i="0">
                <a:solidFill>
                  <a:srgbClr val="172554"/>
                </a:solidFill>
              </a:rPr>
              <a:t>System Architecture</a:t>
            </a:r>
          </a:p>
        </p:txBody>
      </p:sp>
      <p:sp>
        <p:nvSpPr>
          <p:cNvPr id="6" name="Straight Connector 5">
            <a:extLst>
              <a:ext uri="{FF2B5EF4-FFF2-40B4-BE49-F238E27FC236}">
                <a16:creationId xmlns:a16="http://schemas.microsoft.com/office/drawing/2014/main" id="{2ECAF6EE-ADF7-47B7-BF49-99003002A6A6}"/>
              </a:ext>
            </a:extLst>
          </p:cNvPr>
          <p:cNvSpPr>
            <a:spLocks noGrp="1"/>
          </p:cNvSpPr>
          <p:nvPr/>
        </p:nvSpPr>
        <p:spPr>
          <a:xfrm>
            <a:off x="514350" y="6419850"/>
            <a:ext cx="11163300" cy="0"/>
          </a:xfrm>
          <a:prstGeom prst="line">
            <a:avLst/>
          </a:prstGeom>
          <a:noFill/>
          <a:ln w="9525">
            <a:solidFill>
              <a:srgbClr val="D1D5DB"/>
            </a:solidFill>
            <a:prstDash val="solid"/>
          </a:ln>
        </p:spPr>
      </p:sp>
      <p:sp>
        <p:nvSpPr>
          <p:cNvPr id="7" name="Rectangle 6">
            <a:extLst>
              <a:ext uri="{FF2B5EF4-FFF2-40B4-BE49-F238E27FC236}">
                <a16:creationId xmlns:a16="http://schemas.microsoft.com/office/drawing/2014/main" id="{313142BC-B1C1-483A-ACF1-CAF6916E9644}"/>
              </a:ext>
            </a:extLst>
          </p:cNvPr>
          <p:cNvSpPr>
            <a:spLocks noGrp="1"/>
          </p:cNvSpPr>
          <p:nvPr/>
        </p:nvSpPr>
        <p:spPr>
          <a:xfrm>
            <a:off x="571500" y="6515100"/>
            <a:ext cx="6858000" cy="171450"/>
          </a:xfrm>
          <a:prstGeom prst="rect">
            <a:avLst/>
          </a:prstGeom>
          <a:noFill/>
          <a:ln w="0">
            <a:noFill/>
            <a:prstDash val="solid"/>
          </a:ln>
        </p:spPr>
        <p:txBody>
          <a:bodyPr/>
          <a:lstStyle/>
          <a:p>
            <a:pPr algn="l">
              <a:defRPr sz="825" b="1" i="0">
                <a:solidFill>
                  <a:srgbClr val="4B5563"/>
                </a:solidFill>
              </a:defRPr>
            </a:pPr>
            <a:r>
              <a:rPr sz="825" b="1" i="0" dirty="0">
                <a:solidFill>
                  <a:srgbClr val="4B5563"/>
                </a:solidFill>
              </a:rPr>
              <a:t>Smart Public Bus Management System </a:t>
            </a:r>
          </a:p>
        </p:txBody>
      </p:sp>
      <p:sp>
        <p:nvSpPr>
          <p:cNvPr id="8" name="Rectangle 7">
            <a:extLst>
              <a:ext uri="{FF2B5EF4-FFF2-40B4-BE49-F238E27FC236}">
                <a16:creationId xmlns:a16="http://schemas.microsoft.com/office/drawing/2014/main" id="{79CDCEB5-D3B8-4CD5-B64D-49167631302E}"/>
              </a:ext>
            </a:extLst>
          </p:cNvPr>
          <p:cNvSpPr>
            <a:spLocks noGrp="1"/>
          </p:cNvSpPr>
          <p:nvPr/>
        </p:nvSpPr>
        <p:spPr>
          <a:xfrm>
            <a:off x="11049000" y="6505575"/>
            <a:ext cx="571500" cy="171450"/>
          </a:xfrm>
          <a:prstGeom prst="rect">
            <a:avLst/>
          </a:prstGeom>
          <a:noFill/>
          <a:ln w="0">
            <a:noFill/>
            <a:prstDash val="solid"/>
          </a:ln>
        </p:spPr>
        <p:txBody>
          <a:bodyPr/>
          <a:lstStyle/>
          <a:p>
            <a:pPr algn="r">
              <a:defRPr sz="825" b="1" i="0">
                <a:solidFill>
                  <a:srgbClr val="1E3A8A"/>
                </a:solidFill>
              </a:defRPr>
            </a:pPr>
            <a:r>
              <a:rPr sz="825" b="1" i="0">
                <a:solidFill>
                  <a:srgbClr val="1E3A8A"/>
                </a:solidFill>
              </a:rPr>
              <a:t>07</a:t>
            </a:r>
          </a:p>
        </p:txBody>
      </p:sp>
      <p:sp>
        <p:nvSpPr>
          <p:cNvPr id="9" name="Rectangle 8">
            <a:extLst>
              <a:ext uri="{FF2B5EF4-FFF2-40B4-BE49-F238E27FC236}">
                <a16:creationId xmlns:a16="http://schemas.microsoft.com/office/drawing/2014/main" id="{8FF5FA37-F5BE-45FC-8A1D-DC3A36FCBFCC}"/>
              </a:ext>
            </a:extLst>
          </p:cNvPr>
          <p:cNvSpPr>
            <a:spLocks noGrp="1"/>
          </p:cNvSpPr>
          <p:nvPr/>
        </p:nvSpPr>
        <p:spPr>
          <a:xfrm>
            <a:off x="609600" y="1114425"/>
            <a:ext cx="1524000" cy="152400"/>
          </a:xfrm>
          <a:prstGeom prst="rect">
            <a:avLst/>
          </a:prstGeom>
          <a:noFill/>
          <a:ln w="0">
            <a:noFill/>
            <a:prstDash val="solid"/>
          </a:ln>
        </p:spPr>
        <p:txBody>
          <a:bodyPr/>
          <a:lstStyle/>
          <a:p>
            <a:pPr algn="l">
              <a:defRPr sz="788" b="1" i="0">
                <a:solidFill>
                  <a:srgbClr val="0F766E"/>
                </a:solidFill>
              </a:defRPr>
            </a:pPr>
            <a:r>
              <a:rPr sz="788" b="1" i="0">
                <a:solidFill>
                  <a:srgbClr val="0F766E"/>
                </a:solidFill>
              </a:rPr>
              <a:t>USER INTERFACES</a:t>
            </a:r>
          </a:p>
        </p:txBody>
      </p:sp>
      <p:sp>
        <p:nvSpPr>
          <p:cNvPr id="10" name="Rectangle: Rounded Corners 9">
            <a:extLst>
              <a:ext uri="{FF2B5EF4-FFF2-40B4-BE49-F238E27FC236}">
                <a16:creationId xmlns:a16="http://schemas.microsoft.com/office/drawing/2014/main" id="{72E07223-7636-4709-A1DE-48C3C5BC91E5}"/>
              </a:ext>
            </a:extLst>
          </p:cNvPr>
          <p:cNvSpPr>
            <a:spLocks noGrp="1"/>
          </p:cNvSpPr>
          <p:nvPr/>
        </p:nvSpPr>
        <p:spPr>
          <a:xfrm>
            <a:off x="1257300" y="1314450"/>
            <a:ext cx="2857500" cy="723900"/>
          </a:xfrm>
          <a:prstGeom prst="roundRect">
            <a:avLst>
              <a:gd name="adj" fmla="val 15789"/>
            </a:avLst>
          </a:prstGeom>
          <a:solidFill>
            <a:srgbClr val="EEF2FF"/>
          </a:solidFill>
          <a:ln w="9525">
            <a:solidFill>
              <a:srgbClr val="D1D5DB"/>
            </a:solidFill>
            <a:prstDash val="solid"/>
          </a:ln>
        </p:spPr>
      </p:sp>
      <p:sp>
        <p:nvSpPr>
          <p:cNvPr id="11" name="Oval 10">
            <a:extLst>
              <a:ext uri="{FF2B5EF4-FFF2-40B4-BE49-F238E27FC236}">
                <a16:creationId xmlns:a16="http://schemas.microsoft.com/office/drawing/2014/main" id="{6A51D54B-CC8E-492A-AB9D-369405472B4E}"/>
              </a:ext>
            </a:extLst>
          </p:cNvPr>
          <p:cNvSpPr>
            <a:spLocks noGrp="1"/>
          </p:cNvSpPr>
          <p:nvPr/>
        </p:nvSpPr>
        <p:spPr>
          <a:xfrm>
            <a:off x="1390650" y="1466850"/>
            <a:ext cx="381000" cy="381000"/>
          </a:xfrm>
          <a:prstGeom prst="ellipse">
            <a:avLst/>
          </a:prstGeom>
          <a:solidFill>
            <a:srgbClr val="FFFFFF"/>
          </a:solidFill>
          <a:ln w="0">
            <a:noFill/>
            <a:prstDash val="solid"/>
          </a:ln>
        </p:spPr>
      </p:sp>
      <p:pic>
        <p:nvPicPr>
          <p:cNvPr id="85" name="Graphic 84"/>
          <p:cNvPicPr>
            <a:picLocks noChangeAspect="1"/>
          </p:cNvPicPr>
          <p:nvPr/>
        </p:nvPicPr>
        <p:blipFill>
          <a:blip>
            <a:extLst>
              <a:ext uri="{96DAC541-7B7A-43D3-8B79-37D633B846F1}">
                <asvg:svgBlip xmlns:asvg="http://schemas.microsoft.com/office/drawing/2016/SVG/main" r:embed="rId4"/>
              </a:ext>
            </a:extLst>
          </a:blip>
          <a:stretch/>
        </p:blipFill>
        <p:spPr>
          <a:xfrm>
            <a:off x="1478280" y="1554480"/>
            <a:ext cx="205740" cy="205740"/>
          </a:xfrm>
          <a:prstGeom prst="rect">
            <a:avLst/>
          </a:prstGeom>
        </p:spPr>
      </p:pic>
      <p:sp>
        <p:nvSpPr>
          <p:cNvPr id="13" name="Rectangle 12">
            <a:extLst>
              <a:ext uri="{FF2B5EF4-FFF2-40B4-BE49-F238E27FC236}">
                <a16:creationId xmlns:a16="http://schemas.microsoft.com/office/drawing/2014/main" id="{CD5A90C6-BF20-4611-9819-8EB012A75683}"/>
              </a:ext>
            </a:extLst>
          </p:cNvPr>
          <p:cNvSpPr>
            <a:spLocks noGrp="1"/>
          </p:cNvSpPr>
          <p:nvPr/>
        </p:nvSpPr>
        <p:spPr>
          <a:xfrm>
            <a:off x="1876425" y="1447800"/>
            <a:ext cx="2114550" cy="228600"/>
          </a:xfrm>
          <a:prstGeom prst="rect">
            <a:avLst/>
          </a:prstGeom>
          <a:noFill/>
          <a:ln w="0">
            <a:noFill/>
            <a:prstDash val="solid"/>
          </a:ln>
        </p:spPr>
        <p:txBody>
          <a:bodyPr/>
          <a:lstStyle/>
          <a:p>
            <a:pPr algn="l">
              <a:defRPr sz="1238" b="1" i="0">
                <a:solidFill>
                  <a:srgbClr val="172554"/>
                </a:solidFill>
              </a:defRPr>
            </a:pPr>
            <a:r>
              <a:rPr sz="1238" b="1" i="0" dirty="0">
                <a:solidFill>
                  <a:srgbClr val="172554"/>
                </a:solidFill>
              </a:rPr>
              <a:t>Passenger </a:t>
            </a:r>
            <a:r>
              <a:rPr lang="en-IN" sz="1238" b="1" dirty="0">
                <a:solidFill>
                  <a:srgbClr val="172554"/>
                </a:solidFill>
              </a:rPr>
              <a:t>App</a:t>
            </a:r>
            <a:endParaRPr sz="1238" b="1" i="0" dirty="0">
              <a:solidFill>
                <a:srgbClr val="172554"/>
              </a:solidFill>
            </a:endParaRPr>
          </a:p>
        </p:txBody>
      </p:sp>
      <p:sp>
        <p:nvSpPr>
          <p:cNvPr id="14" name="Rectangle 13">
            <a:extLst>
              <a:ext uri="{FF2B5EF4-FFF2-40B4-BE49-F238E27FC236}">
                <a16:creationId xmlns:a16="http://schemas.microsoft.com/office/drawing/2014/main" id="{43D4AC77-D3E4-4EA1-BE60-A6CB26BE12C3}"/>
              </a:ext>
            </a:extLst>
          </p:cNvPr>
          <p:cNvSpPr>
            <a:spLocks noGrp="1"/>
          </p:cNvSpPr>
          <p:nvPr/>
        </p:nvSpPr>
        <p:spPr>
          <a:xfrm>
            <a:off x="1876425" y="1685925"/>
            <a:ext cx="2114550" cy="295275"/>
          </a:xfrm>
          <a:prstGeom prst="rect">
            <a:avLst/>
          </a:prstGeom>
          <a:noFill/>
          <a:ln w="0">
            <a:noFill/>
            <a:prstDash val="solid"/>
          </a:ln>
        </p:spPr>
        <p:txBody>
          <a:bodyPr/>
          <a:lstStyle/>
          <a:p>
            <a:pPr algn="l">
              <a:defRPr sz="938" b="0" i="0">
                <a:solidFill>
                  <a:srgbClr val="4B5563"/>
                </a:solidFill>
              </a:defRPr>
            </a:pPr>
            <a:r>
              <a:rPr sz="938" b="0" i="0">
                <a:solidFill>
                  <a:srgbClr val="4B5563"/>
                </a:solidFill>
              </a:rPr>
              <a:t>Search, map, ETA, alerts</a:t>
            </a:r>
          </a:p>
        </p:txBody>
      </p:sp>
      <p:sp>
        <p:nvSpPr>
          <p:cNvPr id="15" name="Rectangle: Rounded Corners 14">
            <a:extLst>
              <a:ext uri="{FF2B5EF4-FFF2-40B4-BE49-F238E27FC236}">
                <a16:creationId xmlns:a16="http://schemas.microsoft.com/office/drawing/2014/main" id="{F3987403-9E6E-4659-BE0B-95FA24B1C18C}"/>
              </a:ext>
            </a:extLst>
          </p:cNvPr>
          <p:cNvSpPr>
            <a:spLocks noGrp="1"/>
          </p:cNvSpPr>
          <p:nvPr/>
        </p:nvSpPr>
        <p:spPr>
          <a:xfrm>
            <a:off x="4667250" y="1314450"/>
            <a:ext cx="2857500" cy="723900"/>
          </a:xfrm>
          <a:prstGeom prst="roundRect">
            <a:avLst>
              <a:gd name="adj" fmla="val 15789"/>
            </a:avLst>
          </a:prstGeom>
          <a:solidFill>
            <a:srgbClr val="ECFDF5"/>
          </a:solidFill>
          <a:ln w="9525">
            <a:solidFill>
              <a:srgbClr val="D1D5DB"/>
            </a:solidFill>
            <a:prstDash val="solid"/>
          </a:ln>
        </p:spPr>
      </p:sp>
      <p:sp>
        <p:nvSpPr>
          <p:cNvPr id="16" name="Oval 15">
            <a:extLst>
              <a:ext uri="{FF2B5EF4-FFF2-40B4-BE49-F238E27FC236}">
                <a16:creationId xmlns:a16="http://schemas.microsoft.com/office/drawing/2014/main" id="{492AD4D2-B87F-4AED-952C-52F56082A865}"/>
              </a:ext>
            </a:extLst>
          </p:cNvPr>
          <p:cNvSpPr>
            <a:spLocks noGrp="1"/>
          </p:cNvSpPr>
          <p:nvPr/>
        </p:nvSpPr>
        <p:spPr>
          <a:xfrm>
            <a:off x="4800600" y="1466850"/>
            <a:ext cx="381000" cy="381000"/>
          </a:xfrm>
          <a:prstGeom prst="ellipse">
            <a:avLst/>
          </a:prstGeom>
          <a:solidFill>
            <a:srgbClr val="FFFFFF"/>
          </a:solidFill>
          <a:ln w="0">
            <a:noFill/>
            <a:prstDash val="solid"/>
          </a:ln>
        </p:spPr>
      </p:sp>
      <p:pic>
        <p:nvPicPr>
          <p:cNvPr id="90" name="Graphic 89"/>
          <p:cNvPicPr>
            <a:picLocks noChangeAspect="1"/>
          </p:cNvPicPr>
          <p:nvPr/>
        </p:nvPicPr>
        <p:blipFill>
          <a:blip>
            <a:extLst>
              <a:ext uri="{96DAC541-7B7A-43D3-8B79-37D633B846F1}">
                <asvg:svgBlip xmlns:asvg="http://schemas.microsoft.com/office/drawing/2016/SVG/main" r:embed="rId5"/>
              </a:ext>
            </a:extLst>
          </a:blip>
          <a:stretch/>
        </p:blipFill>
        <p:spPr>
          <a:xfrm>
            <a:off x="4888230" y="1554480"/>
            <a:ext cx="205740" cy="205740"/>
          </a:xfrm>
          <a:prstGeom prst="rect">
            <a:avLst/>
          </a:prstGeom>
        </p:spPr>
      </p:pic>
      <p:sp>
        <p:nvSpPr>
          <p:cNvPr id="18" name="Rectangle 17">
            <a:extLst>
              <a:ext uri="{FF2B5EF4-FFF2-40B4-BE49-F238E27FC236}">
                <a16:creationId xmlns:a16="http://schemas.microsoft.com/office/drawing/2014/main" id="{DB552AFC-47A2-4336-B960-03684804AC40}"/>
              </a:ext>
            </a:extLst>
          </p:cNvPr>
          <p:cNvSpPr>
            <a:spLocks noGrp="1"/>
          </p:cNvSpPr>
          <p:nvPr/>
        </p:nvSpPr>
        <p:spPr>
          <a:xfrm>
            <a:off x="5286375" y="1447800"/>
            <a:ext cx="2114550" cy="228600"/>
          </a:xfrm>
          <a:prstGeom prst="rect">
            <a:avLst/>
          </a:prstGeom>
          <a:noFill/>
          <a:ln w="0">
            <a:noFill/>
            <a:prstDash val="solid"/>
          </a:ln>
        </p:spPr>
        <p:txBody>
          <a:bodyPr/>
          <a:lstStyle/>
          <a:p>
            <a:pPr algn="l">
              <a:defRPr sz="1238" b="1" i="0">
                <a:solidFill>
                  <a:srgbClr val="172554"/>
                </a:solidFill>
              </a:defRPr>
            </a:pPr>
            <a:r>
              <a:rPr sz="1238" b="1" i="0" dirty="0">
                <a:solidFill>
                  <a:srgbClr val="172554"/>
                </a:solidFill>
              </a:rPr>
              <a:t>Driver </a:t>
            </a:r>
            <a:r>
              <a:rPr lang="en-IN" sz="1238" b="1" dirty="0">
                <a:solidFill>
                  <a:srgbClr val="172554"/>
                </a:solidFill>
              </a:rPr>
              <a:t>App</a:t>
            </a:r>
            <a:endParaRPr sz="1238" b="1" i="0" dirty="0">
              <a:solidFill>
                <a:srgbClr val="172554"/>
              </a:solidFill>
            </a:endParaRPr>
          </a:p>
        </p:txBody>
      </p:sp>
      <p:sp>
        <p:nvSpPr>
          <p:cNvPr id="19" name="Rectangle 18">
            <a:extLst>
              <a:ext uri="{FF2B5EF4-FFF2-40B4-BE49-F238E27FC236}">
                <a16:creationId xmlns:a16="http://schemas.microsoft.com/office/drawing/2014/main" id="{214B78D4-5502-43E4-A7A3-10F774F9DD42}"/>
              </a:ext>
            </a:extLst>
          </p:cNvPr>
          <p:cNvSpPr>
            <a:spLocks noGrp="1"/>
          </p:cNvSpPr>
          <p:nvPr/>
        </p:nvSpPr>
        <p:spPr>
          <a:xfrm>
            <a:off x="5286375" y="1685925"/>
            <a:ext cx="2114550" cy="295275"/>
          </a:xfrm>
          <a:prstGeom prst="rect">
            <a:avLst/>
          </a:prstGeom>
          <a:noFill/>
          <a:ln w="0">
            <a:noFill/>
            <a:prstDash val="solid"/>
          </a:ln>
        </p:spPr>
        <p:txBody>
          <a:bodyPr/>
          <a:lstStyle/>
          <a:p>
            <a:pPr algn="l">
              <a:defRPr sz="938" b="0" i="0">
                <a:solidFill>
                  <a:srgbClr val="4B5563"/>
                </a:solidFill>
              </a:defRPr>
            </a:pPr>
            <a:r>
              <a:rPr sz="938" b="0" i="0">
                <a:solidFill>
                  <a:srgbClr val="4B5563"/>
                </a:solidFill>
              </a:rPr>
              <a:t>Start trip, share location, report issue</a:t>
            </a:r>
          </a:p>
        </p:txBody>
      </p:sp>
      <p:sp>
        <p:nvSpPr>
          <p:cNvPr id="20" name="Rectangle: Rounded Corners 19">
            <a:extLst>
              <a:ext uri="{FF2B5EF4-FFF2-40B4-BE49-F238E27FC236}">
                <a16:creationId xmlns:a16="http://schemas.microsoft.com/office/drawing/2014/main" id="{362BAE80-9651-4497-8E10-F7A9A048753E}"/>
              </a:ext>
            </a:extLst>
          </p:cNvPr>
          <p:cNvSpPr>
            <a:spLocks noGrp="1"/>
          </p:cNvSpPr>
          <p:nvPr/>
        </p:nvSpPr>
        <p:spPr>
          <a:xfrm>
            <a:off x="8077200" y="1314450"/>
            <a:ext cx="2857500" cy="723900"/>
          </a:xfrm>
          <a:prstGeom prst="roundRect">
            <a:avLst>
              <a:gd name="adj" fmla="val 15789"/>
            </a:avLst>
          </a:prstGeom>
          <a:solidFill>
            <a:srgbClr val="FFF7ED"/>
          </a:solidFill>
          <a:ln w="9525">
            <a:solidFill>
              <a:srgbClr val="D1D5DB"/>
            </a:solidFill>
            <a:prstDash val="solid"/>
          </a:ln>
        </p:spPr>
      </p:sp>
      <p:sp>
        <p:nvSpPr>
          <p:cNvPr id="21" name="Oval 20">
            <a:extLst>
              <a:ext uri="{FF2B5EF4-FFF2-40B4-BE49-F238E27FC236}">
                <a16:creationId xmlns:a16="http://schemas.microsoft.com/office/drawing/2014/main" id="{F444F3E5-5FAC-4C67-8EE6-CC0B22A1BD1B}"/>
              </a:ext>
            </a:extLst>
          </p:cNvPr>
          <p:cNvSpPr>
            <a:spLocks noGrp="1"/>
          </p:cNvSpPr>
          <p:nvPr/>
        </p:nvSpPr>
        <p:spPr>
          <a:xfrm>
            <a:off x="8210550" y="1466850"/>
            <a:ext cx="381000" cy="381000"/>
          </a:xfrm>
          <a:prstGeom prst="ellipse">
            <a:avLst/>
          </a:prstGeom>
          <a:solidFill>
            <a:srgbClr val="FFFFFF"/>
          </a:solidFill>
          <a:ln w="0">
            <a:noFill/>
            <a:prstDash val="solid"/>
          </a:ln>
        </p:spPr>
      </p:sp>
      <p:pic>
        <p:nvPicPr>
          <p:cNvPr id="95" name="Graphic 94"/>
          <p:cNvPicPr>
            <a:picLocks noChangeAspect="1"/>
          </p:cNvPicPr>
          <p:nvPr/>
        </p:nvPicPr>
        <p:blipFill>
          <a:blip>
            <a:extLst>
              <a:ext uri="{96DAC541-7B7A-43D3-8B79-37D633B846F1}">
                <asvg:svgBlip xmlns:asvg="http://schemas.microsoft.com/office/drawing/2016/SVG/main" r:embed="rId6"/>
              </a:ext>
            </a:extLst>
          </a:blip>
          <a:stretch/>
        </p:blipFill>
        <p:spPr>
          <a:xfrm>
            <a:off x="8298180" y="1554480"/>
            <a:ext cx="205740" cy="205740"/>
          </a:xfrm>
          <a:prstGeom prst="rect">
            <a:avLst/>
          </a:prstGeom>
        </p:spPr>
      </p:pic>
      <p:sp>
        <p:nvSpPr>
          <p:cNvPr id="23" name="Rectangle 22">
            <a:extLst>
              <a:ext uri="{FF2B5EF4-FFF2-40B4-BE49-F238E27FC236}">
                <a16:creationId xmlns:a16="http://schemas.microsoft.com/office/drawing/2014/main" id="{F1EFAEFB-DC1C-4B57-A2D5-CF85B66EE2D5}"/>
              </a:ext>
            </a:extLst>
          </p:cNvPr>
          <p:cNvSpPr>
            <a:spLocks noGrp="1"/>
          </p:cNvSpPr>
          <p:nvPr/>
        </p:nvSpPr>
        <p:spPr>
          <a:xfrm>
            <a:off x="8696325" y="1447800"/>
            <a:ext cx="2114550" cy="228600"/>
          </a:xfrm>
          <a:prstGeom prst="rect">
            <a:avLst/>
          </a:prstGeom>
          <a:noFill/>
          <a:ln w="0">
            <a:noFill/>
            <a:prstDash val="solid"/>
          </a:ln>
        </p:spPr>
        <p:txBody>
          <a:bodyPr/>
          <a:lstStyle/>
          <a:p>
            <a:pPr algn="l">
              <a:defRPr sz="1238" b="1" i="0">
                <a:solidFill>
                  <a:srgbClr val="172554"/>
                </a:solidFill>
              </a:defRPr>
            </a:pPr>
            <a:r>
              <a:rPr sz="1238" b="1" i="0">
                <a:solidFill>
                  <a:srgbClr val="172554"/>
                </a:solidFill>
              </a:rPr>
              <a:t>Admin Dashboard</a:t>
            </a:r>
          </a:p>
        </p:txBody>
      </p:sp>
      <p:sp>
        <p:nvSpPr>
          <p:cNvPr id="24" name="Rectangle 23">
            <a:extLst>
              <a:ext uri="{FF2B5EF4-FFF2-40B4-BE49-F238E27FC236}">
                <a16:creationId xmlns:a16="http://schemas.microsoft.com/office/drawing/2014/main" id="{8D82B974-F876-4250-A7B9-A9D57323DF28}"/>
              </a:ext>
            </a:extLst>
          </p:cNvPr>
          <p:cNvSpPr>
            <a:spLocks noGrp="1"/>
          </p:cNvSpPr>
          <p:nvPr/>
        </p:nvSpPr>
        <p:spPr>
          <a:xfrm>
            <a:off x="8696325" y="1685925"/>
            <a:ext cx="2114550" cy="295275"/>
          </a:xfrm>
          <a:prstGeom prst="rect">
            <a:avLst/>
          </a:prstGeom>
          <a:noFill/>
          <a:ln w="0">
            <a:noFill/>
            <a:prstDash val="solid"/>
          </a:ln>
        </p:spPr>
        <p:txBody>
          <a:bodyPr/>
          <a:lstStyle/>
          <a:p>
            <a:pPr algn="l">
              <a:defRPr sz="938" b="0" i="0">
                <a:solidFill>
                  <a:srgbClr val="4B5563"/>
                </a:solidFill>
              </a:defRPr>
            </a:pPr>
            <a:r>
              <a:rPr sz="938" b="0" i="0">
                <a:solidFill>
                  <a:srgbClr val="4B5563"/>
                </a:solidFill>
              </a:rPr>
              <a:t>Monitor, manage, analytics</a:t>
            </a:r>
          </a:p>
        </p:txBody>
      </p:sp>
      <p:sp>
        <p:nvSpPr>
          <p:cNvPr id="25" name="Rectangle 24">
            <a:extLst>
              <a:ext uri="{FF2B5EF4-FFF2-40B4-BE49-F238E27FC236}">
                <a16:creationId xmlns:a16="http://schemas.microsoft.com/office/drawing/2014/main" id="{9EB407B9-B6A2-4866-8229-8F3A6B251A56}"/>
              </a:ext>
            </a:extLst>
          </p:cNvPr>
          <p:cNvSpPr>
            <a:spLocks noGrp="1"/>
          </p:cNvSpPr>
          <p:nvPr/>
        </p:nvSpPr>
        <p:spPr>
          <a:xfrm>
            <a:off x="609600" y="2247900"/>
            <a:ext cx="1524000" cy="152400"/>
          </a:xfrm>
          <a:prstGeom prst="rect">
            <a:avLst/>
          </a:prstGeom>
          <a:noFill/>
          <a:ln w="0">
            <a:noFill/>
            <a:prstDash val="solid"/>
          </a:ln>
        </p:spPr>
        <p:txBody>
          <a:bodyPr/>
          <a:lstStyle/>
          <a:p>
            <a:pPr algn="l">
              <a:defRPr sz="788" b="1" i="0">
                <a:solidFill>
                  <a:srgbClr val="0F766E"/>
                </a:solidFill>
              </a:defRPr>
            </a:pPr>
            <a:r>
              <a:rPr sz="788" b="1" i="0">
                <a:solidFill>
                  <a:srgbClr val="0F766E"/>
                </a:solidFill>
              </a:rPr>
              <a:t>CORE SERVICES</a:t>
            </a:r>
          </a:p>
        </p:txBody>
      </p:sp>
      <p:sp>
        <p:nvSpPr>
          <p:cNvPr id="26" name="Rectangle: Rounded Corners 25">
            <a:extLst>
              <a:ext uri="{FF2B5EF4-FFF2-40B4-BE49-F238E27FC236}">
                <a16:creationId xmlns:a16="http://schemas.microsoft.com/office/drawing/2014/main" id="{6D0232D5-DAD7-4282-BFD4-5517DFD9217D}"/>
              </a:ext>
            </a:extLst>
          </p:cNvPr>
          <p:cNvSpPr>
            <a:spLocks noGrp="1"/>
          </p:cNvSpPr>
          <p:nvPr/>
        </p:nvSpPr>
        <p:spPr>
          <a:xfrm>
            <a:off x="2476500" y="2447925"/>
            <a:ext cx="3143250" cy="790575"/>
          </a:xfrm>
          <a:prstGeom prst="roundRect">
            <a:avLst>
              <a:gd name="adj" fmla="val 14458"/>
            </a:avLst>
          </a:prstGeom>
          <a:solidFill>
            <a:srgbClr val="1E3A8A"/>
          </a:solidFill>
          <a:ln w="9525">
            <a:solidFill>
              <a:srgbClr val="D1D5DB"/>
            </a:solidFill>
            <a:prstDash val="solid"/>
          </a:ln>
        </p:spPr>
      </p:sp>
      <p:sp>
        <p:nvSpPr>
          <p:cNvPr id="27" name="Oval 26">
            <a:extLst>
              <a:ext uri="{FF2B5EF4-FFF2-40B4-BE49-F238E27FC236}">
                <a16:creationId xmlns:a16="http://schemas.microsoft.com/office/drawing/2014/main" id="{5EBCC0B9-1711-49CA-881C-8438F0611311}"/>
              </a:ext>
            </a:extLst>
          </p:cNvPr>
          <p:cNvSpPr>
            <a:spLocks noGrp="1"/>
          </p:cNvSpPr>
          <p:nvPr/>
        </p:nvSpPr>
        <p:spPr>
          <a:xfrm>
            <a:off x="2609850" y="2600325"/>
            <a:ext cx="381000" cy="381000"/>
          </a:xfrm>
          <a:prstGeom prst="ellipse">
            <a:avLst/>
          </a:prstGeom>
          <a:solidFill>
            <a:srgbClr val="FFFFFF"/>
          </a:solidFill>
          <a:ln w="0">
            <a:noFill/>
            <a:prstDash val="solid"/>
          </a:ln>
        </p:spPr>
      </p:sp>
      <p:pic>
        <p:nvPicPr>
          <p:cNvPr id="101" name="Graphic 100"/>
          <p:cNvPicPr>
            <a:picLocks noChangeAspect="1"/>
          </p:cNvPicPr>
          <p:nvPr/>
        </p:nvPicPr>
        <p:blipFill>
          <a:blip>
            <a:extLst>
              <a:ext uri="{96DAC541-7B7A-43D3-8B79-37D633B846F1}">
                <asvg:svgBlip xmlns:asvg="http://schemas.microsoft.com/office/drawing/2016/SVG/main" r:embed="rId7"/>
              </a:ext>
            </a:extLst>
          </a:blip>
          <a:stretch/>
        </p:blipFill>
        <p:spPr>
          <a:xfrm>
            <a:off x="2697480" y="2687955"/>
            <a:ext cx="205740" cy="205740"/>
          </a:xfrm>
          <a:prstGeom prst="rect">
            <a:avLst/>
          </a:prstGeom>
        </p:spPr>
      </p:pic>
      <p:sp>
        <p:nvSpPr>
          <p:cNvPr id="29" name="Rectangle 28">
            <a:extLst>
              <a:ext uri="{FF2B5EF4-FFF2-40B4-BE49-F238E27FC236}">
                <a16:creationId xmlns:a16="http://schemas.microsoft.com/office/drawing/2014/main" id="{2BEF9F95-B24F-4FCC-8C8C-FE4F0C23CDB5}"/>
              </a:ext>
            </a:extLst>
          </p:cNvPr>
          <p:cNvSpPr>
            <a:spLocks noGrp="1"/>
          </p:cNvSpPr>
          <p:nvPr/>
        </p:nvSpPr>
        <p:spPr>
          <a:xfrm>
            <a:off x="3095625" y="2581275"/>
            <a:ext cx="2400300" cy="228600"/>
          </a:xfrm>
          <a:prstGeom prst="rect">
            <a:avLst/>
          </a:prstGeom>
          <a:noFill/>
          <a:ln w="0">
            <a:noFill/>
            <a:prstDash val="solid"/>
          </a:ln>
        </p:spPr>
        <p:txBody>
          <a:bodyPr/>
          <a:lstStyle/>
          <a:p>
            <a:pPr algn="l">
              <a:defRPr sz="1238" b="1" i="0">
                <a:solidFill>
                  <a:srgbClr val="FFFFFF"/>
                </a:solidFill>
              </a:defRPr>
            </a:pPr>
            <a:r>
              <a:rPr sz="1238" b="1" i="0">
                <a:solidFill>
                  <a:srgbClr val="FFFFFF"/>
                </a:solidFill>
              </a:rPr>
              <a:t>Backend API</a:t>
            </a:r>
          </a:p>
        </p:txBody>
      </p:sp>
      <p:sp>
        <p:nvSpPr>
          <p:cNvPr id="30" name="Rectangle 29">
            <a:extLst>
              <a:ext uri="{FF2B5EF4-FFF2-40B4-BE49-F238E27FC236}">
                <a16:creationId xmlns:a16="http://schemas.microsoft.com/office/drawing/2014/main" id="{BB5A6C5A-E4AB-4466-9D46-6F9A909A34F8}"/>
              </a:ext>
            </a:extLst>
          </p:cNvPr>
          <p:cNvSpPr>
            <a:spLocks noGrp="1"/>
          </p:cNvSpPr>
          <p:nvPr/>
        </p:nvSpPr>
        <p:spPr>
          <a:xfrm>
            <a:off x="3095625" y="2819400"/>
            <a:ext cx="2400300" cy="361950"/>
          </a:xfrm>
          <a:prstGeom prst="rect">
            <a:avLst/>
          </a:prstGeom>
          <a:noFill/>
          <a:ln w="0">
            <a:noFill/>
            <a:prstDash val="solid"/>
          </a:ln>
        </p:spPr>
        <p:txBody>
          <a:bodyPr/>
          <a:lstStyle/>
          <a:p>
            <a:pPr algn="l">
              <a:defRPr sz="938" b="0" i="0">
                <a:solidFill>
                  <a:srgbClr val="DBEAFE"/>
                </a:solidFill>
              </a:defRPr>
            </a:pPr>
            <a:r>
              <a:rPr sz="938" b="0" i="0">
                <a:solidFill>
                  <a:srgbClr val="DBEAFE"/>
                </a:solidFill>
              </a:rPr>
              <a:t>Accounts, registry, trips, incidents</a:t>
            </a:r>
          </a:p>
        </p:txBody>
      </p:sp>
      <p:sp>
        <p:nvSpPr>
          <p:cNvPr id="31" name="Rectangle: Rounded Corners 30">
            <a:extLst>
              <a:ext uri="{FF2B5EF4-FFF2-40B4-BE49-F238E27FC236}">
                <a16:creationId xmlns:a16="http://schemas.microsoft.com/office/drawing/2014/main" id="{40D8D24D-E2C2-4157-A4B7-9E907AB3D39D}"/>
              </a:ext>
            </a:extLst>
          </p:cNvPr>
          <p:cNvSpPr>
            <a:spLocks noGrp="1"/>
          </p:cNvSpPr>
          <p:nvPr/>
        </p:nvSpPr>
        <p:spPr>
          <a:xfrm>
            <a:off x="6572250" y="2447925"/>
            <a:ext cx="3143250" cy="790575"/>
          </a:xfrm>
          <a:prstGeom prst="roundRect">
            <a:avLst>
              <a:gd name="adj" fmla="val 14458"/>
            </a:avLst>
          </a:prstGeom>
          <a:solidFill>
            <a:srgbClr val="0F766E"/>
          </a:solidFill>
          <a:ln w="9525">
            <a:solidFill>
              <a:srgbClr val="D1D5DB"/>
            </a:solidFill>
            <a:prstDash val="solid"/>
          </a:ln>
        </p:spPr>
      </p:sp>
      <p:sp>
        <p:nvSpPr>
          <p:cNvPr id="32" name="Oval 31">
            <a:extLst>
              <a:ext uri="{FF2B5EF4-FFF2-40B4-BE49-F238E27FC236}">
                <a16:creationId xmlns:a16="http://schemas.microsoft.com/office/drawing/2014/main" id="{86ADC27A-5B92-4F7B-8E1C-25DFAA613F33}"/>
              </a:ext>
            </a:extLst>
          </p:cNvPr>
          <p:cNvSpPr>
            <a:spLocks noGrp="1"/>
          </p:cNvSpPr>
          <p:nvPr/>
        </p:nvSpPr>
        <p:spPr>
          <a:xfrm>
            <a:off x="6705600" y="2600325"/>
            <a:ext cx="381000" cy="381000"/>
          </a:xfrm>
          <a:prstGeom prst="ellipse">
            <a:avLst/>
          </a:prstGeom>
          <a:solidFill>
            <a:srgbClr val="FFFFFF"/>
          </a:solidFill>
          <a:ln w="0">
            <a:noFill/>
            <a:prstDash val="solid"/>
          </a:ln>
        </p:spPr>
      </p:sp>
      <p:pic>
        <p:nvPicPr>
          <p:cNvPr id="106" name="Graphic 105"/>
          <p:cNvPicPr>
            <a:picLocks noChangeAspect="1"/>
          </p:cNvPicPr>
          <p:nvPr/>
        </p:nvPicPr>
        <p:blipFill>
          <a:blip>
            <a:extLst>
              <a:ext uri="{96DAC541-7B7A-43D3-8B79-37D633B846F1}">
                <asvg:svgBlip xmlns:asvg="http://schemas.microsoft.com/office/drawing/2016/SVG/main" r:embed="rId8"/>
              </a:ext>
            </a:extLst>
          </a:blip>
          <a:stretch/>
        </p:blipFill>
        <p:spPr>
          <a:xfrm>
            <a:off x="6793230" y="2687955"/>
            <a:ext cx="205740" cy="205740"/>
          </a:xfrm>
          <a:prstGeom prst="rect">
            <a:avLst/>
          </a:prstGeom>
        </p:spPr>
      </p:pic>
      <p:sp>
        <p:nvSpPr>
          <p:cNvPr id="34" name="Rectangle 33">
            <a:extLst>
              <a:ext uri="{FF2B5EF4-FFF2-40B4-BE49-F238E27FC236}">
                <a16:creationId xmlns:a16="http://schemas.microsoft.com/office/drawing/2014/main" id="{376C6878-65A3-4318-B62A-6030309E4FB5}"/>
              </a:ext>
            </a:extLst>
          </p:cNvPr>
          <p:cNvSpPr>
            <a:spLocks noGrp="1"/>
          </p:cNvSpPr>
          <p:nvPr/>
        </p:nvSpPr>
        <p:spPr>
          <a:xfrm>
            <a:off x="7191375" y="2581275"/>
            <a:ext cx="2400300" cy="228600"/>
          </a:xfrm>
          <a:prstGeom prst="rect">
            <a:avLst/>
          </a:prstGeom>
          <a:noFill/>
          <a:ln w="0">
            <a:noFill/>
            <a:prstDash val="solid"/>
          </a:ln>
        </p:spPr>
        <p:txBody>
          <a:bodyPr/>
          <a:lstStyle/>
          <a:p>
            <a:pPr algn="l">
              <a:defRPr sz="1238" b="1" i="0">
                <a:solidFill>
                  <a:srgbClr val="FFFFFF"/>
                </a:solidFill>
              </a:defRPr>
            </a:pPr>
            <a:r>
              <a:rPr sz="1238" b="1" i="0">
                <a:solidFill>
                  <a:srgbClr val="FFFFFF"/>
                </a:solidFill>
              </a:rPr>
              <a:t>Live Updates Service</a:t>
            </a:r>
          </a:p>
        </p:txBody>
      </p:sp>
      <p:sp>
        <p:nvSpPr>
          <p:cNvPr id="35" name="Rectangle 34">
            <a:extLst>
              <a:ext uri="{FF2B5EF4-FFF2-40B4-BE49-F238E27FC236}">
                <a16:creationId xmlns:a16="http://schemas.microsoft.com/office/drawing/2014/main" id="{7A665212-B3B3-4CF7-B912-4D9FC5D0892C}"/>
              </a:ext>
            </a:extLst>
          </p:cNvPr>
          <p:cNvSpPr>
            <a:spLocks noGrp="1"/>
          </p:cNvSpPr>
          <p:nvPr/>
        </p:nvSpPr>
        <p:spPr>
          <a:xfrm>
            <a:off x="7191375" y="2819400"/>
            <a:ext cx="2400300" cy="361950"/>
          </a:xfrm>
          <a:prstGeom prst="rect">
            <a:avLst/>
          </a:prstGeom>
          <a:noFill/>
          <a:ln w="0">
            <a:noFill/>
            <a:prstDash val="solid"/>
          </a:ln>
        </p:spPr>
        <p:txBody>
          <a:bodyPr/>
          <a:lstStyle/>
          <a:p>
            <a:pPr algn="l">
              <a:defRPr sz="938" b="0" i="0">
                <a:solidFill>
                  <a:srgbClr val="D1FAE5"/>
                </a:solidFill>
              </a:defRPr>
            </a:pPr>
            <a:r>
              <a:rPr sz="938" b="0" i="0">
                <a:solidFill>
                  <a:srgbClr val="D1FAE5"/>
                </a:solidFill>
              </a:rPr>
              <a:t>WebSocket connections, instant push</a:t>
            </a:r>
          </a:p>
        </p:txBody>
      </p:sp>
      <p:sp>
        <p:nvSpPr>
          <p:cNvPr id="36" name="Rectangle 35">
            <a:extLst>
              <a:ext uri="{FF2B5EF4-FFF2-40B4-BE49-F238E27FC236}">
                <a16:creationId xmlns:a16="http://schemas.microsoft.com/office/drawing/2014/main" id="{D2BC1541-1D1B-4DC5-890E-16C99E894107}"/>
              </a:ext>
            </a:extLst>
          </p:cNvPr>
          <p:cNvSpPr>
            <a:spLocks noGrp="1"/>
          </p:cNvSpPr>
          <p:nvPr/>
        </p:nvSpPr>
        <p:spPr>
          <a:xfrm>
            <a:off x="609600" y="3438525"/>
            <a:ext cx="1809750" cy="152400"/>
          </a:xfrm>
          <a:prstGeom prst="rect">
            <a:avLst/>
          </a:prstGeom>
          <a:noFill/>
          <a:ln w="0">
            <a:noFill/>
            <a:prstDash val="solid"/>
          </a:ln>
        </p:spPr>
        <p:txBody>
          <a:bodyPr/>
          <a:lstStyle/>
          <a:p>
            <a:pPr algn="l">
              <a:defRPr sz="788" b="1" i="0">
                <a:solidFill>
                  <a:srgbClr val="0F766E"/>
                </a:solidFill>
              </a:defRPr>
            </a:pPr>
            <a:r>
              <a:rPr sz="788" b="1" i="0">
                <a:solidFill>
                  <a:srgbClr val="0F766E"/>
                </a:solidFill>
              </a:rPr>
              <a:t>PROCESSING ENGINES</a:t>
            </a:r>
          </a:p>
        </p:txBody>
      </p:sp>
      <p:sp>
        <p:nvSpPr>
          <p:cNvPr id="37" name="Rectangle: Rounded Corners 36">
            <a:extLst>
              <a:ext uri="{FF2B5EF4-FFF2-40B4-BE49-F238E27FC236}">
                <a16:creationId xmlns:a16="http://schemas.microsoft.com/office/drawing/2014/main" id="{A2CC96C9-02EF-4741-A92D-41327B314802}"/>
              </a:ext>
            </a:extLst>
          </p:cNvPr>
          <p:cNvSpPr>
            <a:spLocks noGrp="1"/>
          </p:cNvSpPr>
          <p:nvPr/>
        </p:nvSpPr>
        <p:spPr>
          <a:xfrm>
            <a:off x="857250" y="3638550"/>
            <a:ext cx="10477500" cy="828675"/>
          </a:xfrm>
          <a:prstGeom prst="roundRect">
            <a:avLst>
              <a:gd name="adj" fmla="val 14943"/>
            </a:avLst>
          </a:prstGeom>
          <a:solidFill>
            <a:srgbClr val="F3F4F6"/>
          </a:solidFill>
          <a:ln w="0">
            <a:noFill/>
            <a:prstDash val="solid"/>
          </a:ln>
        </p:spPr>
      </p:sp>
      <p:sp>
        <p:nvSpPr>
          <p:cNvPr id="38" name="Rectangle: Rounded Corners 37">
            <a:extLst>
              <a:ext uri="{FF2B5EF4-FFF2-40B4-BE49-F238E27FC236}">
                <a16:creationId xmlns:a16="http://schemas.microsoft.com/office/drawing/2014/main" id="{4846298C-43DB-4F91-BDC6-EDF2F944FBEC}"/>
              </a:ext>
            </a:extLst>
          </p:cNvPr>
          <p:cNvSpPr>
            <a:spLocks noGrp="1"/>
          </p:cNvSpPr>
          <p:nvPr/>
        </p:nvSpPr>
        <p:spPr>
          <a:xfrm>
            <a:off x="1190625" y="3810000"/>
            <a:ext cx="2238375" cy="495300"/>
          </a:xfrm>
          <a:prstGeom prst="roundRect">
            <a:avLst>
              <a:gd name="adj" fmla="val 25000"/>
            </a:avLst>
          </a:prstGeom>
          <a:solidFill>
            <a:srgbClr val="FFFFFF"/>
          </a:solidFill>
          <a:ln w="14288">
            <a:solidFill>
              <a:srgbClr val="1E3A8A"/>
            </a:solidFill>
            <a:prstDash val="solid"/>
          </a:ln>
        </p:spPr>
      </p:sp>
      <p:pic>
        <p:nvPicPr>
          <p:cNvPr id="112" name="Graphic 111"/>
          <p:cNvPicPr>
            <a:picLocks noChangeAspect="1"/>
          </p:cNvPicPr>
          <p:nvPr/>
        </p:nvPicPr>
        <p:blipFill>
          <a:blip>
            <a:extLst>
              <a:ext uri="{96DAC541-7B7A-43D3-8B79-37D633B846F1}">
                <asvg:svgBlip xmlns:asvg="http://schemas.microsoft.com/office/drawing/2016/SVG/main" r:embed="rId9"/>
              </a:ext>
            </a:extLst>
          </a:blip>
          <a:stretch/>
        </p:blipFill>
        <p:spPr>
          <a:xfrm>
            <a:off x="1343025" y="3933825"/>
            <a:ext cx="247650" cy="247650"/>
          </a:xfrm>
          <a:prstGeom prst="rect">
            <a:avLst/>
          </a:prstGeom>
        </p:spPr>
      </p:pic>
      <p:sp>
        <p:nvSpPr>
          <p:cNvPr id="40" name="Rectangle 39">
            <a:extLst>
              <a:ext uri="{FF2B5EF4-FFF2-40B4-BE49-F238E27FC236}">
                <a16:creationId xmlns:a16="http://schemas.microsoft.com/office/drawing/2014/main" id="{E58E24A4-8695-4A7A-AB5C-B1E82EFAF3AC}"/>
              </a:ext>
            </a:extLst>
          </p:cNvPr>
          <p:cNvSpPr>
            <a:spLocks noGrp="1"/>
          </p:cNvSpPr>
          <p:nvPr/>
        </p:nvSpPr>
        <p:spPr>
          <a:xfrm>
            <a:off x="1685925" y="3914775"/>
            <a:ext cx="1609725" cy="323850"/>
          </a:xfrm>
          <a:prstGeom prst="rect">
            <a:avLst/>
          </a:prstGeom>
          <a:noFill/>
          <a:ln w="0">
            <a:noFill/>
            <a:prstDash val="solid"/>
          </a:ln>
        </p:spPr>
        <p:txBody>
          <a:bodyPr/>
          <a:lstStyle/>
          <a:p>
            <a:pPr algn="ctr">
              <a:defRPr sz="1088" b="1" i="0">
                <a:solidFill>
                  <a:srgbClr val="172554"/>
                </a:solidFill>
              </a:defRPr>
            </a:pPr>
            <a:r>
              <a:rPr sz="1088" b="1" i="0">
                <a:solidFill>
                  <a:srgbClr val="172554"/>
                </a:solidFill>
              </a:rPr>
              <a:t>Location Processing</a:t>
            </a:r>
          </a:p>
        </p:txBody>
      </p:sp>
      <p:sp>
        <p:nvSpPr>
          <p:cNvPr id="41" name="Rectangle: Rounded Corners 40">
            <a:extLst>
              <a:ext uri="{FF2B5EF4-FFF2-40B4-BE49-F238E27FC236}">
                <a16:creationId xmlns:a16="http://schemas.microsoft.com/office/drawing/2014/main" id="{3C3681E2-EC7D-43AF-8BA2-42E86DEF2AD4}"/>
              </a:ext>
            </a:extLst>
          </p:cNvPr>
          <p:cNvSpPr>
            <a:spLocks noGrp="1"/>
          </p:cNvSpPr>
          <p:nvPr/>
        </p:nvSpPr>
        <p:spPr>
          <a:xfrm>
            <a:off x="3714750" y="3810000"/>
            <a:ext cx="2238375" cy="495300"/>
          </a:xfrm>
          <a:prstGeom prst="roundRect">
            <a:avLst>
              <a:gd name="adj" fmla="val 25000"/>
            </a:avLst>
          </a:prstGeom>
          <a:solidFill>
            <a:srgbClr val="FFFFFF"/>
          </a:solidFill>
          <a:ln w="14288">
            <a:solidFill>
              <a:srgbClr val="0F766E"/>
            </a:solidFill>
            <a:prstDash val="solid"/>
          </a:ln>
        </p:spPr>
      </p:sp>
      <p:pic>
        <p:nvPicPr>
          <p:cNvPr id="115" name="Graphic 114"/>
          <p:cNvPicPr>
            <a:picLocks noChangeAspect="1"/>
          </p:cNvPicPr>
          <p:nvPr/>
        </p:nvPicPr>
        <p:blipFill>
          <a:blip>
            <a:extLst>
              <a:ext uri="{96DAC541-7B7A-43D3-8B79-37D633B846F1}">
                <asvg:svgBlip xmlns:asvg="http://schemas.microsoft.com/office/drawing/2016/SVG/main" r:embed="rId10"/>
              </a:ext>
            </a:extLst>
          </a:blip>
          <a:stretch/>
        </p:blipFill>
        <p:spPr>
          <a:xfrm>
            <a:off x="3867150" y="3933825"/>
            <a:ext cx="247650" cy="247650"/>
          </a:xfrm>
          <a:prstGeom prst="rect">
            <a:avLst/>
          </a:prstGeom>
        </p:spPr>
      </p:pic>
      <p:sp>
        <p:nvSpPr>
          <p:cNvPr id="43" name="Rectangle 42">
            <a:extLst>
              <a:ext uri="{FF2B5EF4-FFF2-40B4-BE49-F238E27FC236}">
                <a16:creationId xmlns:a16="http://schemas.microsoft.com/office/drawing/2014/main" id="{9BD8146A-5754-4ABF-A9C6-4693B5C681F2}"/>
              </a:ext>
            </a:extLst>
          </p:cNvPr>
          <p:cNvSpPr>
            <a:spLocks noGrp="1"/>
          </p:cNvSpPr>
          <p:nvPr/>
        </p:nvSpPr>
        <p:spPr>
          <a:xfrm>
            <a:off x="4210050" y="3914775"/>
            <a:ext cx="1609725" cy="323850"/>
          </a:xfrm>
          <a:prstGeom prst="rect">
            <a:avLst/>
          </a:prstGeom>
          <a:noFill/>
          <a:ln w="0">
            <a:noFill/>
            <a:prstDash val="solid"/>
          </a:ln>
        </p:spPr>
        <p:txBody>
          <a:bodyPr/>
          <a:lstStyle/>
          <a:p>
            <a:pPr algn="ctr">
              <a:defRPr sz="1088" b="1" i="0">
                <a:solidFill>
                  <a:srgbClr val="172554"/>
                </a:solidFill>
              </a:defRPr>
            </a:pPr>
            <a:r>
              <a:rPr sz="1088" b="1" i="0">
                <a:solidFill>
                  <a:srgbClr val="172554"/>
                </a:solidFill>
              </a:rPr>
              <a:t>Geofencing</a:t>
            </a:r>
          </a:p>
        </p:txBody>
      </p:sp>
      <p:sp>
        <p:nvSpPr>
          <p:cNvPr id="44" name="Rectangle: Rounded Corners 43">
            <a:extLst>
              <a:ext uri="{FF2B5EF4-FFF2-40B4-BE49-F238E27FC236}">
                <a16:creationId xmlns:a16="http://schemas.microsoft.com/office/drawing/2014/main" id="{D8E632B7-ABDA-43EF-AA59-F060754D3B63}"/>
              </a:ext>
            </a:extLst>
          </p:cNvPr>
          <p:cNvSpPr>
            <a:spLocks noGrp="1"/>
          </p:cNvSpPr>
          <p:nvPr/>
        </p:nvSpPr>
        <p:spPr>
          <a:xfrm>
            <a:off x="6238875" y="3810000"/>
            <a:ext cx="2238375" cy="495300"/>
          </a:xfrm>
          <a:prstGeom prst="roundRect">
            <a:avLst>
              <a:gd name="adj" fmla="val 25000"/>
            </a:avLst>
          </a:prstGeom>
          <a:solidFill>
            <a:srgbClr val="FFFFFF"/>
          </a:solidFill>
          <a:ln w="14288">
            <a:solidFill>
              <a:srgbClr val="EA580C"/>
            </a:solidFill>
            <a:prstDash val="solid"/>
          </a:ln>
        </p:spPr>
      </p:sp>
      <p:pic>
        <p:nvPicPr>
          <p:cNvPr id="118" name="Graphic 117"/>
          <p:cNvPicPr>
            <a:picLocks noChangeAspect="1"/>
          </p:cNvPicPr>
          <p:nvPr/>
        </p:nvPicPr>
        <p:blipFill>
          <a:blip>
            <a:extLst>
              <a:ext uri="{96DAC541-7B7A-43D3-8B79-37D633B846F1}">
                <asvg:svgBlip xmlns:asvg="http://schemas.microsoft.com/office/drawing/2016/SVG/main" r:embed="rId11"/>
              </a:ext>
            </a:extLst>
          </a:blip>
          <a:stretch/>
        </p:blipFill>
        <p:spPr>
          <a:xfrm>
            <a:off x="6391275" y="3933825"/>
            <a:ext cx="247650" cy="247650"/>
          </a:xfrm>
          <a:prstGeom prst="rect">
            <a:avLst/>
          </a:prstGeom>
        </p:spPr>
      </p:pic>
      <p:sp>
        <p:nvSpPr>
          <p:cNvPr id="46" name="Rectangle 45">
            <a:extLst>
              <a:ext uri="{FF2B5EF4-FFF2-40B4-BE49-F238E27FC236}">
                <a16:creationId xmlns:a16="http://schemas.microsoft.com/office/drawing/2014/main" id="{99AC7F51-5124-44AD-9B9A-3E21030391B2}"/>
              </a:ext>
            </a:extLst>
          </p:cNvPr>
          <p:cNvSpPr>
            <a:spLocks noGrp="1"/>
          </p:cNvSpPr>
          <p:nvPr/>
        </p:nvSpPr>
        <p:spPr>
          <a:xfrm>
            <a:off x="6734175" y="3914775"/>
            <a:ext cx="1609725" cy="323850"/>
          </a:xfrm>
          <a:prstGeom prst="rect">
            <a:avLst/>
          </a:prstGeom>
          <a:noFill/>
          <a:ln w="0">
            <a:noFill/>
            <a:prstDash val="solid"/>
          </a:ln>
        </p:spPr>
        <p:txBody>
          <a:bodyPr/>
          <a:lstStyle/>
          <a:p>
            <a:pPr algn="ctr">
              <a:defRPr sz="1088" b="1" i="0">
                <a:solidFill>
                  <a:srgbClr val="172554"/>
                </a:solidFill>
              </a:defRPr>
            </a:pPr>
            <a:r>
              <a:rPr sz="1088" b="1" i="0">
                <a:solidFill>
                  <a:srgbClr val="172554"/>
                </a:solidFill>
              </a:rPr>
              <a:t>ETA Calculation</a:t>
            </a:r>
          </a:p>
        </p:txBody>
      </p:sp>
      <p:sp>
        <p:nvSpPr>
          <p:cNvPr id="47" name="Rectangle: Rounded Corners 46">
            <a:extLst>
              <a:ext uri="{FF2B5EF4-FFF2-40B4-BE49-F238E27FC236}">
                <a16:creationId xmlns:a16="http://schemas.microsoft.com/office/drawing/2014/main" id="{02CB53C2-3DC4-4E7C-BA9B-415B6F04B205}"/>
              </a:ext>
            </a:extLst>
          </p:cNvPr>
          <p:cNvSpPr>
            <a:spLocks noGrp="1"/>
          </p:cNvSpPr>
          <p:nvPr/>
        </p:nvSpPr>
        <p:spPr>
          <a:xfrm>
            <a:off x="8763000" y="3810000"/>
            <a:ext cx="2238375" cy="495300"/>
          </a:xfrm>
          <a:prstGeom prst="roundRect">
            <a:avLst>
              <a:gd name="adj" fmla="val 25000"/>
            </a:avLst>
          </a:prstGeom>
          <a:solidFill>
            <a:srgbClr val="FFFFFF"/>
          </a:solidFill>
          <a:ln w="14288">
            <a:solidFill>
              <a:srgbClr val="0F766E"/>
            </a:solidFill>
            <a:prstDash val="solid"/>
          </a:ln>
        </p:spPr>
      </p:sp>
      <p:pic>
        <p:nvPicPr>
          <p:cNvPr id="121" name="Graphic 120"/>
          <p:cNvPicPr>
            <a:picLocks noChangeAspect="1"/>
          </p:cNvPicPr>
          <p:nvPr/>
        </p:nvPicPr>
        <p:blipFill>
          <a:blip>
            <a:extLst>
              <a:ext uri="{96DAC541-7B7A-43D3-8B79-37D633B846F1}">
                <asvg:svgBlip xmlns:asvg="http://schemas.microsoft.com/office/drawing/2016/SVG/main" r:embed="rId12"/>
              </a:ext>
            </a:extLst>
          </a:blip>
          <a:stretch/>
        </p:blipFill>
        <p:spPr>
          <a:xfrm>
            <a:off x="8915400" y="3933825"/>
            <a:ext cx="247650" cy="247650"/>
          </a:xfrm>
          <a:prstGeom prst="rect">
            <a:avLst/>
          </a:prstGeom>
        </p:spPr>
      </p:pic>
      <p:sp>
        <p:nvSpPr>
          <p:cNvPr id="49" name="Rectangle 48">
            <a:extLst>
              <a:ext uri="{FF2B5EF4-FFF2-40B4-BE49-F238E27FC236}">
                <a16:creationId xmlns:a16="http://schemas.microsoft.com/office/drawing/2014/main" id="{E9A0D344-0343-4EFA-92B8-B2246C2B6D98}"/>
              </a:ext>
            </a:extLst>
          </p:cNvPr>
          <p:cNvSpPr>
            <a:spLocks noGrp="1"/>
          </p:cNvSpPr>
          <p:nvPr/>
        </p:nvSpPr>
        <p:spPr>
          <a:xfrm>
            <a:off x="9258300" y="3914775"/>
            <a:ext cx="1609725" cy="323850"/>
          </a:xfrm>
          <a:prstGeom prst="rect">
            <a:avLst/>
          </a:prstGeom>
          <a:noFill/>
          <a:ln w="0">
            <a:noFill/>
            <a:prstDash val="solid"/>
          </a:ln>
        </p:spPr>
        <p:txBody>
          <a:bodyPr/>
          <a:lstStyle/>
          <a:p>
            <a:pPr algn="ctr">
              <a:defRPr sz="1088" b="1" i="0">
                <a:solidFill>
                  <a:srgbClr val="172554"/>
                </a:solidFill>
              </a:defRPr>
            </a:pPr>
            <a:r>
              <a:rPr sz="1088" b="1" i="0">
                <a:solidFill>
                  <a:srgbClr val="172554"/>
                </a:solidFill>
              </a:rPr>
              <a:t>Notification</a:t>
            </a:r>
          </a:p>
        </p:txBody>
      </p:sp>
      <p:sp>
        <p:nvSpPr>
          <p:cNvPr id="50" name="Rectangle 49">
            <a:extLst>
              <a:ext uri="{FF2B5EF4-FFF2-40B4-BE49-F238E27FC236}">
                <a16:creationId xmlns:a16="http://schemas.microsoft.com/office/drawing/2014/main" id="{3760DD9E-597B-4611-852F-8C2203EB88BC}"/>
              </a:ext>
            </a:extLst>
          </p:cNvPr>
          <p:cNvSpPr>
            <a:spLocks noGrp="1"/>
          </p:cNvSpPr>
          <p:nvPr/>
        </p:nvSpPr>
        <p:spPr>
          <a:xfrm>
            <a:off x="609600" y="4676775"/>
            <a:ext cx="1524000" cy="152400"/>
          </a:xfrm>
          <a:prstGeom prst="rect">
            <a:avLst/>
          </a:prstGeom>
          <a:noFill/>
          <a:ln w="0">
            <a:noFill/>
            <a:prstDash val="solid"/>
          </a:ln>
        </p:spPr>
        <p:txBody>
          <a:bodyPr/>
          <a:lstStyle/>
          <a:p>
            <a:pPr algn="l">
              <a:defRPr sz="788" b="1" i="0">
                <a:solidFill>
                  <a:srgbClr val="0F766E"/>
                </a:solidFill>
              </a:defRPr>
            </a:pPr>
            <a:r>
              <a:rPr sz="788" b="1" i="0">
                <a:solidFill>
                  <a:srgbClr val="0F766E"/>
                </a:solidFill>
              </a:rPr>
              <a:t>DATA LAYER</a:t>
            </a:r>
          </a:p>
        </p:txBody>
      </p:sp>
      <p:sp>
        <p:nvSpPr>
          <p:cNvPr id="51" name="Rectangle: Rounded Corners 50">
            <a:extLst>
              <a:ext uri="{FF2B5EF4-FFF2-40B4-BE49-F238E27FC236}">
                <a16:creationId xmlns:a16="http://schemas.microsoft.com/office/drawing/2014/main" id="{728B94E6-C072-4A13-90E5-1ED4846179EA}"/>
              </a:ext>
            </a:extLst>
          </p:cNvPr>
          <p:cNvSpPr>
            <a:spLocks noGrp="1"/>
          </p:cNvSpPr>
          <p:nvPr/>
        </p:nvSpPr>
        <p:spPr>
          <a:xfrm>
            <a:off x="2476500" y="4876800"/>
            <a:ext cx="3143250" cy="695325"/>
          </a:xfrm>
          <a:prstGeom prst="roundRect">
            <a:avLst>
              <a:gd name="adj" fmla="val 16438"/>
            </a:avLst>
          </a:prstGeom>
          <a:solidFill>
            <a:srgbClr val="EEF2FF"/>
          </a:solidFill>
          <a:ln w="9525">
            <a:solidFill>
              <a:srgbClr val="D1D5DB"/>
            </a:solidFill>
            <a:prstDash val="solid"/>
          </a:ln>
        </p:spPr>
      </p:sp>
      <p:sp>
        <p:nvSpPr>
          <p:cNvPr id="52" name="Oval 51">
            <a:extLst>
              <a:ext uri="{FF2B5EF4-FFF2-40B4-BE49-F238E27FC236}">
                <a16:creationId xmlns:a16="http://schemas.microsoft.com/office/drawing/2014/main" id="{5780B2B5-CFB4-42FA-9611-A062717006E7}"/>
              </a:ext>
            </a:extLst>
          </p:cNvPr>
          <p:cNvSpPr>
            <a:spLocks noGrp="1"/>
          </p:cNvSpPr>
          <p:nvPr/>
        </p:nvSpPr>
        <p:spPr>
          <a:xfrm>
            <a:off x="2609850" y="5029200"/>
            <a:ext cx="381000" cy="381000"/>
          </a:xfrm>
          <a:prstGeom prst="ellipse">
            <a:avLst/>
          </a:prstGeom>
          <a:solidFill>
            <a:srgbClr val="FFFFFF"/>
          </a:solidFill>
          <a:ln w="0">
            <a:noFill/>
            <a:prstDash val="solid"/>
          </a:ln>
        </p:spPr>
      </p:sp>
      <p:pic>
        <p:nvPicPr>
          <p:cNvPr id="126" name="Graphic 125"/>
          <p:cNvPicPr>
            <a:picLocks noChangeAspect="1"/>
          </p:cNvPicPr>
          <p:nvPr/>
        </p:nvPicPr>
        <p:blipFill>
          <a:blip>
            <a:extLst>
              <a:ext uri="{96DAC541-7B7A-43D3-8B79-37D633B846F1}">
                <asvg:svgBlip xmlns:asvg="http://schemas.microsoft.com/office/drawing/2016/SVG/main" r:embed="rId13"/>
              </a:ext>
            </a:extLst>
          </a:blip>
          <a:stretch/>
        </p:blipFill>
        <p:spPr>
          <a:xfrm>
            <a:off x="2697480" y="5116830"/>
            <a:ext cx="205740" cy="205740"/>
          </a:xfrm>
          <a:prstGeom prst="rect">
            <a:avLst/>
          </a:prstGeom>
        </p:spPr>
      </p:pic>
      <p:sp>
        <p:nvSpPr>
          <p:cNvPr id="54" name="Rectangle 53">
            <a:extLst>
              <a:ext uri="{FF2B5EF4-FFF2-40B4-BE49-F238E27FC236}">
                <a16:creationId xmlns:a16="http://schemas.microsoft.com/office/drawing/2014/main" id="{C29DF6BD-8513-4A1F-BC49-59EE0E69C656}"/>
              </a:ext>
            </a:extLst>
          </p:cNvPr>
          <p:cNvSpPr>
            <a:spLocks noGrp="1"/>
          </p:cNvSpPr>
          <p:nvPr/>
        </p:nvSpPr>
        <p:spPr>
          <a:xfrm>
            <a:off x="3095625" y="5010150"/>
            <a:ext cx="2400300" cy="228600"/>
          </a:xfrm>
          <a:prstGeom prst="rect">
            <a:avLst/>
          </a:prstGeom>
          <a:noFill/>
          <a:ln w="0">
            <a:noFill/>
            <a:prstDash val="solid"/>
          </a:ln>
        </p:spPr>
        <p:txBody>
          <a:bodyPr/>
          <a:lstStyle/>
          <a:p>
            <a:pPr algn="l">
              <a:defRPr sz="1238" b="1" i="0">
                <a:solidFill>
                  <a:srgbClr val="172554"/>
                </a:solidFill>
              </a:defRPr>
            </a:pPr>
            <a:r>
              <a:rPr sz="1238" b="1" i="0">
                <a:solidFill>
                  <a:srgbClr val="172554"/>
                </a:solidFill>
              </a:rPr>
              <a:t>PostgreSQL with PostGIS</a:t>
            </a:r>
          </a:p>
        </p:txBody>
      </p:sp>
      <p:sp>
        <p:nvSpPr>
          <p:cNvPr id="55" name="Rectangle 54">
            <a:extLst>
              <a:ext uri="{FF2B5EF4-FFF2-40B4-BE49-F238E27FC236}">
                <a16:creationId xmlns:a16="http://schemas.microsoft.com/office/drawing/2014/main" id="{72210258-0FCE-4FCF-A524-19A2DBB1C078}"/>
              </a:ext>
            </a:extLst>
          </p:cNvPr>
          <p:cNvSpPr>
            <a:spLocks noGrp="1"/>
          </p:cNvSpPr>
          <p:nvPr/>
        </p:nvSpPr>
        <p:spPr>
          <a:xfrm>
            <a:off x="3095625" y="5248275"/>
            <a:ext cx="2400300" cy="266700"/>
          </a:xfrm>
          <a:prstGeom prst="rect">
            <a:avLst/>
          </a:prstGeom>
          <a:noFill/>
          <a:ln w="0">
            <a:noFill/>
            <a:prstDash val="solid"/>
          </a:ln>
        </p:spPr>
        <p:txBody>
          <a:bodyPr/>
          <a:lstStyle/>
          <a:p>
            <a:pPr algn="l">
              <a:defRPr sz="938" b="0" i="0">
                <a:solidFill>
                  <a:srgbClr val="4B5563"/>
                </a:solidFill>
              </a:defRPr>
            </a:pPr>
            <a:r>
              <a:rPr sz="938" b="0" i="0">
                <a:solidFill>
                  <a:srgbClr val="4B5563"/>
                </a:solidFill>
              </a:rPr>
              <a:t>Permanent storage</a:t>
            </a:r>
          </a:p>
        </p:txBody>
      </p:sp>
      <p:sp>
        <p:nvSpPr>
          <p:cNvPr id="56" name="Rectangle: Rounded Corners 55">
            <a:extLst>
              <a:ext uri="{FF2B5EF4-FFF2-40B4-BE49-F238E27FC236}">
                <a16:creationId xmlns:a16="http://schemas.microsoft.com/office/drawing/2014/main" id="{BDFF703A-1446-4158-B656-D3DE13B321F7}"/>
              </a:ext>
            </a:extLst>
          </p:cNvPr>
          <p:cNvSpPr>
            <a:spLocks noGrp="1"/>
          </p:cNvSpPr>
          <p:nvPr/>
        </p:nvSpPr>
        <p:spPr>
          <a:xfrm>
            <a:off x="6572250" y="4876800"/>
            <a:ext cx="3143250" cy="695325"/>
          </a:xfrm>
          <a:prstGeom prst="roundRect">
            <a:avLst>
              <a:gd name="adj" fmla="val 16438"/>
            </a:avLst>
          </a:prstGeom>
          <a:solidFill>
            <a:srgbClr val="ECFDF5"/>
          </a:solidFill>
          <a:ln w="9525">
            <a:solidFill>
              <a:srgbClr val="D1D5DB"/>
            </a:solidFill>
            <a:prstDash val="solid"/>
          </a:ln>
        </p:spPr>
      </p:sp>
      <p:sp>
        <p:nvSpPr>
          <p:cNvPr id="57" name="Oval 56">
            <a:extLst>
              <a:ext uri="{FF2B5EF4-FFF2-40B4-BE49-F238E27FC236}">
                <a16:creationId xmlns:a16="http://schemas.microsoft.com/office/drawing/2014/main" id="{B42890F5-110A-4A1B-B47A-E7611333E12B}"/>
              </a:ext>
            </a:extLst>
          </p:cNvPr>
          <p:cNvSpPr>
            <a:spLocks noGrp="1"/>
          </p:cNvSpPr>
          <p:nvPr/>
        </p:nvSpPr>
        <p:spPr>
          <a:xfrm>
            <a:off x="6705600" y="5029200"/>
            <a:ext cx="381000" cy="381000"/>
          </a:xfrm>
          <a:prstGeom prst="ellipse">
            <a:avLst/>
          </a:prstGeom>
          <a:solidFill>
            <a:srgbClr val="FFFFFF"/>
          </a:solidFill>
          <a:ln w="0">
            <a:noFill/>
            <a:prstDash val="solid"/>
          </a:ln>
        </p:spPr>
      </p:sp>
      <p:pic>
        <p:nvPicPr>
          <p:cNvPr id="131" name="Graphic 130"/>
          <p:cNvPicPr>
            <a:picLocks noChangeAspect="1"/>
          </p:cNvPicPr>
          <p:nvPr/>
        </p:nvPicPr>
        <p:blipFill>
          <a:blip>
            <a:extLst>
              <a:ext uri="{96DAC541-7B7A-43D3-8B79-37D633B846F1}">
                <asvg:svgBlip xmlns:asvg="http://schemas.microsoft.com/office/drawing/2016/SVG/main" r:embed="rId14"/>
              </a:ext>
            </a:extLst>
          </a:blip>
          <a:stretch/>
        </p:blipFill>
        <p:spPr>
          <a:xfrm>
            <a:off x="6793230" y="5116830"/>
            <a:ext cx="205740" cy="205740"/>
          </a:xfrm>
          <a:prstGeom prst="rect">
            <a:avLst/>
          </a:prstGeom>
        </p:spPr>
      </p:pic>
      <p:sp>
        <p:nvSpPr>
          <p:cNvPr id="59" name="Rectangle 58">
            <a:extLst>
              <a:ext uri="{FF2B5EF4-FFF2-40B4-BE49-F238E27FC236}">
                <a16:creationId xmlns:a16="http://schemas.microsoft.com/office/drawing/2014/main" id="{4762C9D2-27D5-4D75-8679-7B51E671FCF8}"/>
              </a:ext>
            </a:extLst>
          </p:cNvPr>
          <p:cNvSpPr>
            <a:spLocks noGrp="1"/>
          </p:cNvSpPr>
          <p:nvPr/>
        </p:nvSpPr>
        <p:spPr>
          <a:xfrm>
            <a:off x="7191375" y="5010150"/>
            <a:ext cx="2400300" cy="228600"/>
          </a:xfrm>
          <a:prstGeom prst="rect">
            <a:avLst/>
          </a:prstGeom>
          <a:noFill/>
          <a:ln w="0">
            <a:noFill/>
            <a:prstDash val="solid"/>
          </a:ln>
        </p:spPr>
        <p:txBody>
          <a:bodyPr/>
          <a:lstStyle/>
          <a:p>
            <a:pPr algn="l">
              <a:defRPr sz="1238" b="1" i="0">
                <a:solidFill>
                  <a:srgbClr val="172554"/>
                </a:solidFill>
              </a:defRPr>
            </a:pPr>
            <a:r>
              <a:rPr sz="1238" b="1" i="0">
                <a:solidFill>
                  <a:srgbClr val="172554"/>
                </a:solidFill>
              </a:rPr>
              <a:t>Redis</a:t>
            </a:r>
          </a:p>
        </p:txBody>
      </p:sp>
      <p:sp>
        <p:nvSpPr>
          <p:cNvPr id="60" name="Rectangle 59">
            <a:extLst>
              <a:ext uri="{FF2B5EF4-FFF2-40B4-BE49-F238E27FC236}">
                <a16:creationId xmlns:a16="http://schemas.microsoft.com/office/drawing/2014/main" id="{4E367D3C-A731-4895-9700-C5AAEE769896}"/>
              </a:ext>
            </a:extLst>
          </p:cNvPr>
          <p:cNvSpPr>
            <a:spLocks noGrp="1"/>
          </p:cNvSpPr>
          <p:nvPr/>
        </p:nvSpPr>
        <p:spPr>
          <a:xfrm>
            <a:off x="7191375" y="5248275"/>
            <a:ext cx="2400300" cy="266700"/>
          </a:xfrm>
          <a:prstGeom prst="rect">
            <a:avLst/>
          </a:prstGeom>
          <a:noFill/>
          <a:ln w="0">
            <a:noFill/>
            <a:prstDash val="solid"/>
          </a:ln>
        </p:spPr>
        <p:txBody>
          <a:bodyPr/>
          <a:lstStyle/>
          <a:p>
            <a:pPr algn="l">
              <a:defRPr sz="938" b="0" i="0">
                <a:solidFill>
                  <a:srgbClr val="4B5563"/>
                </a:solidFill>
              </a:defRPr>
            </a:pPr>
            <a:r>
              <a:rPr sz="938" b="0" i="0">
                <a:solidFill>
                  <a:srgbClr val="4B5563"/>
                </a:solidFill>
              </a:rPr>
              <a:t>Live data and messaging</a:t>
            </a:r>
          </a:p>
        </p:txBody>
      </p:sp>
      <p:cxnSp>
        <p:nvCxnSpPr>
          <p:cNvPr id="134" name="Connector: Elbow 133"/>
          <p:cNvCxnSpPr>
            <a:stCxn id="10" idx="2"/>
            <a:endCxn id="26" idx="0"/>
          </p:cNvCxnSpPr>
          <p:nvPr/>
        </p:nvCxnSpPr>
        <p:spPr>
          <a:xfrm>
            <a:off x="2686050" y="2038350"/>
            <a:ext cx="1362075" cy="409575"/>
          </a:xfrm>
          <a:prstGeom prst="bentConnector4">
            <a:avLst>
              <a:gd name="adj1" fmla="val 0"/>
              <a:gd name="adj2" fmla="val 50000"/>
            </a:avLst>
          </a:prstGeom>
          <a:ln w="15240">
            <a:solidFill>
              <a:srgbClr val="9CA3AF"/>
            </a:solidFill>
            <a:prstDash val="solid"/>
            <a:tailEnd type="triangle" w="sm" len="sm"/>
          </a:ln>
        </p:spPr>
      </p:cxnSp>
      <p:cxnSp>
        <p:nvCxnSpPr>
          <p:cNvPr id="135" name="Connector: Elbow 134"/>
          <p:cNvCxnSpPr>
            <a:stCxn id="15" idx="2"/>
            <a:endCxn id="26" idx="0"/>
          </p:cNvCxnSpPr>
          <p:nvPr/>
        </p:nvCxnSpPr>
        <p:spPr>
          <a:xfrm flipH="1">
            <a:off x="4048125" y="2038350"/>
            <a:ext cx="2047875" cy="409575"/>
          </a:xfrm>
          <a:prstGeom prst="bentConnector4">
            <a:avLst>
              <a:gd name="adj1" fmla="val 0"/>
              <a:gd name="adj2" fmla="val 50000"/>
            </a:avLst>
          </a:prstGeom>
          <a:ln w="15240">
            <a:solidFill>
              <a:srgbClr val="9CA3AF"/>
            </a:solidFill>
            <a:prstDash val="solid"/>
            <a:tailEnd type="triangle" w="sm" len="sm"/>
          </a:ln>
        </p:spPr>
      </p:cxnSp>
      <p:cxnSp>
        <p:nvCxnSpPr>
          <p:cNvPr id="136" name="Connector: Elbow 135"/>
          <p:cNvCxnSpPr>
            <a:stCxn id="20" idx="2"/>
            <a:endCxn id="31" idx="0"/>
          </p:cNvCxnSpPr>
          <p:nvPr/>
        </p:nvCxnSpPr>
        <p:spPr>
          <a:xfrm flipH="1">
            <a:off x="8143875" y="2038350"/>
            <a:ext cx="1362075" cy="409575"/>
          </a:xfrm>
          <a:prstGeom prst="bentConnector4">
            <a:avLst>
              <a:gd name="adj1" fmla="val 0"/>
              <a:gd name="adj2" fmla="val 50000"/>
            </a:avLst>
          </a:prstGeom>
          <a:ln w="15240">
            <a:solidFill>
              <a:srgbClr val="9CA3AF"/>
            </a:solidFill>
            <a:prstDash val="solid"/>
            <a:tailEnd type="triangle" w="sm" len="sm"/>
          </a:ln>
        </p:spPr>
      </p:cxnSp>
      <p:cxnSp>
        <p:nvCxnSpPr>
          <p:cNvPr id="137" name="Connector: Elbow 136"/>
          <p:cNvCxnSpPr>
            <a:stCxn id="26" idx="2"/>
            <a:endCxn id="38" idx="0"/>
          </p:cNvCxnSpPr>
          <p:nvPr/>
        </p:nvCxnSpPr>
        <p:spPr>
          <a:xfrm flipH="1">
            <a:off x="2309813" y="3238500"/>
            <a:ext cx="1738313" cy="571500"/>
          </a:xfrm>
          <a:prstGeom prst="bentConnector4">
            <a:avLst>
              <a:gd name="adj1" fmla="val 0"/>
              <a:gd name="adj2" fmla="val 50000"/>
            </a:avLst>
          </a:prstGeom>
          <a:ln w="16193">
            <a:solidFill>
              <a:srgbClr val="1E3A8A"/>
            </a:solidFill>
            <a:prstDash val="solid"/>
            <a:tailEnd type="triangle" w="sm" len="sm"/>
          </a:ln>
        </p:spPr>
      </p:cxnSp>
      <p:cxnSp>
        <p:nvCxnSpPr>
          <p:cNvPr id="138" name="Connector: Elbow 137"/>
          <p:cNvCxnSpPr>
            <a:stCxn id="26" idx="2"/>
            <a:endCxn id="41" idx="0"/>
          </p:cNvCxnSpPr>
          <p:nvPr/>
        </p:nvCxnSpPr>
        <p:spPr>
          <a:xfrm>
            <a:off x="4048125" y="3238500"/>
            <a:ext cx="785813" cy="571500"/>
          </a:xfrm>
          <a:prstGeom prst="bentConnector4">
            <a:avLst>
              <a:gd name="adj1" fmla="val 0"/>
              <a:gd name="adj2" fmla="val 50000"/>
            </a:avLst>
          </a:prstGeom>
          <a:ln w="16193">
            <a:solidFill>
              <a:srgbClr val="1E3A8A"/>
            </a:solidFill>
            <a:prstDash val="solid"/>
            <a:tailEnd type="triangle" w="sm" len="sm"/>
          </a:ln>
        </p:spPr>
      </p:cxnSp>
      <p:cxnSp>
        <p:nvCxnSpPr>
          <p:cNvPr id="139" name="Connector: Elbow 138"/>
          <p:cNvCxnSpPr>
            <a:stCxn id="26" idx="2"/>
            <a:endCxn id="44" idx="0"/>
          </p:cNvCxnSpPr>
          <p:nvPr/>
        </p:nvCxnSpPr>
        <p:spPr>
          <a:xfrm>
            <a:off x="4048125" y="3238500"/>
            <a:ext cx="3309938" cy="571500"/>
          </a:xfrm>
          <a:prstGeom prst="bentConnector4">
            <a:avLst>
              <a:gd name="adj1" fmla="val 0"/>
              <a:gd name="adj2" fmla="val 50000"/>
            </a:avLst>
          </a:prstGeom>
          <a:ln w="16193">
            <a:solidFill>
              <a:srgbClr val="1E3A8A"/>
            </a:solidFill>
            <a:prstDash val="solid"/>
            <a:tailEnd type="triangle" w="sm" len="sm"/>
          </a:ln>
        </p:spPr>
      </p:cxnSp>
      <p:cxnSp>
        <p:nvCxnSpPr>
          <p:cNvPr id="140" name="Connector: Elbow 139"/>
          <p:cNvCxnSpPr>
            <a:stCxn id="31" idx="2"/>
            <a:endCxn id="47" idx="0"/>
          </p:cNvCxnSpPr>
          <p:nvPr/>
        </p:nvCxnSpPr>
        <p:spPr>
          <a:xfrm>
            <a:off x="8143875" y="3238500"/>
            <a:ext cx="1738313" cy="571500"/>
          </a:xfrm>
          <a:prstGeom prst="bentConnector4">
            <a:avLst>
              <a:gd name="adj1" fmla="val 0"/>
              <a:gd name="adj2" fmla="val 50000"/>
            </a:avLst>
          </a:prstGeom>
          <a:ln w="16193">
            <a:solidFill>
              <a:srgbClr val="0F766E"/>
            </a:solidFill>
            <a:prstDash val="solid"/>
            <a:tailEnd type="triangle" w="sm" len="sm"/>
          </a:ln>
        </p:spPr>
      </p:cxnSp>
      <p:cxnSp>
        <p:nvCxnSpPr>
          <p:cNvPr id="141" name="Connector: Elbow 140"/>
          <p:cNvCxnSpPr>
            <a:stCxn id="38" idx="2"/>
            <a:endCxn id="51" idx="0"/>
          </p:cNvCxnSpPr>
          <p:nvPr/>
        </p:nvCxnSpPr>
        <p:spPr>
          <a:xfrm>
            <a:off x="2309813" y="4305300"/>
            <a:ext cx="1738313" cy="571500"/>
          </a:xfrm>
          <a:prstGeom prst="bentConnector4">
            <a:avLst>
              <a:gd name="adj1" fmla="val 0"/>
              <a:gd name="adj2" fmla="val 50000"/>
            </a:avLst>
          </a:prstGeom>
          <a:ln w="15240">
            <a:solidFill>
              <a:srgbClr val="9CA3AF"/>
            </a:solidFill>
            <a:prstDash val="solid"/>
            <a:tailEnd type="triangle" w="sm" len="sm"/>
          </a:ln>
        </p:spPr>
      </p:cxnSp>
      <p:cxnSp>
        <p:nvCxnSpPr>
          <p:cNvPr id="142" name="Connector: Elbow 141"/>
          <p:cNvCxnSpPr>
            <a:stCxn id="41" idx="2"/>
            <a:endCxn id="51" idx="0"/>
          </p:cNvCxnSpPr>
          <p:nvPr/>
        </p:nvCxnSpPr>
        <p:spPr>
          <a:xfrm flipH="1">
            <a:off x="4048125" y="4305300"/>
            <a:ext cx="785813" cy="571500"/>
          </a:xfrm>
          <a:prstGeom prst="bentConnector4">
            <a:avLst>
              <a:gd name="adj1" fmla="val 0"/>
              <a:gd name="adj2" fmla="val 50000"/>
            </a:avLst>
          </a:prstGeom>
          <a:ln w="15240">
            <a:solidFill>
              <a:srgbClr val="9CA3AF"/>
            </a:solidFill>
            <a:prstDash val="solid"/>
            <a:tailEnd type="triangle" w="sm" len="sm"/>
          </a:ln>
        </p:spPr>
      </p:cxnSp>
      <p:cxnSp>
        <p:nvCxnSpPr>
          <p:cNvPr id="143" name="Connector: Elbow 142"/>
          <p:cNvCxnSpPr>
            <a:stCxn id="44" idx="2"/>
            <a:endCxn id="51" idx="0"/>
          </p:cNvCxnSpPr>
          <p:nvPr/>
        </p:nvCxnSpPr>
        <p:spPr>
          <a:xfrm flipH="1">
            <a:off x="4048125" y="4305300"/>
            <a:ext cx="3309938" cy="571500"/>
          </a:xfrm>
          <a:prstGeom prst="bentConnector4">
            <a:avLst>
              <a:gd name="adj1" fmla="val 0"/>
              <a:gd name="adj2" fmla="val 50000"/>
            </a:avLst>
          </a:prstGeom>
          <a:ln w="15240">
            <a:solidFill>
              <a:srgbClr val="9CA3AF"/>
            </a:solidFill>
            <a:prstDash val="solid"/>
            <a:tailEnd type="triangle" w="sm" len="sm"/>
          </a:ln>
        </p:spPr>
      </p:cxnSp>
      <p:cxnSp>
        <p:nvCxnSpPr>
          <p:cNvPr id="144" name="Connector: Elbow 143"/>
          <p:cNvCxnSpPr>
            <a:stCxn id="47" idx="2"/>
            <a:endCxn id="56" idx="0"/>
          </p:cNvCxnSpPr>
          <p:nvPr/>
        </p:nvCxnSpPr>
        <p:spPr>
          <a:xfrm flipH="1">
            <a:off x="8143875" y="4305300"/>
            <a:ext cx="1738313" cy="571500"/>
          </a:xfrm>
          <a:prstGeom prst="bentConnector4">
            <a:avLst>
              <a:gd name="adj1" fmla="val 0"/>
              <a:gd name="adj2" fmla="val 50000"/>
            </a:avLst>
          </a:prstGeom>
          <a:ln w="15240">
            <a:solidFill>
              <a:srgbClr val="9CA3AF"/>
            </a:solidFill>
            <a:prstDash val="solid"/>
            <a:tailEnd type="triangle" w="sm" len="sm"/>
          </a:ln>
        </p:spPr>
      </p:cxnSp>
      <p:sp>
        <p:nvSpPr>
          <p:cNvPr id="72" name="Rectangle: Rounded Corners 71">
            <a:extLst>
              <a:ext uri="{FF2B5EF4-FFF2-40B4-BE49-F238E27FC236}">
                <a16:creationId xmlns:a16="http://schemas.microsoft.com/office/drawing/2014/main" id="{0E8A6A51-8246-4181-9361-9CC1910915A4}"/>
              </a:ext>
            </a:extLst>
          </p:cNvPr>
          <p:cNvSpPr>
            <a:spLocks noGrp="1"/>
          </p:cNvSpPr>
          <p:nvPr/>
        </p:nvSpPr>
        <p:spPr>
          <a:xfrm>
            <a:off x="1200150" y="5810250"/>
            <a:ext cx="9791700" cy="409575"/>
          </a:xfrm>
          <a:prstGeom prst="roundRect">
            <a:avLst>
              <a:gd name="adj" fmla="val 25581"/>
            </a:avLst>
          </a:prstGeom>
          <a:solidFill>
            <a:srgbClr val="FFF7ED"/>
          </a:solidFill>
          <a:ln w="0">
            <a:noFill/>
            <a:prstDash val="solid"/>
          </a:ln>
        </p:spPr>
      </p:sp>
      <p:sp>
        <p:nvSpPr>
          <p:cNvPr id="73" name="Rectangle 72">
            <a:extLst>
              <a:ext uri="{FF2B5EF4-FFF2-40B4-BE49-F238E27FC236}">
                <a16:creationId xmlns:a16="http://schemas.microsoft.com/office/drawing/2014/main" id="{0253C559-57B5-4585-BE58-3E953601FFFE}"/>
              </a:ext>
            </a:extLst>
          </p:cNvPr>
          <p:cNvSpPr>
            <a:spLocks noGrp="1"/>
          </p:cNvSpPr>
          <p:nvPr/>
        </p:nvSpPr>
        <p:spPr>
          <a:xfrm>
            <a:off x="1428750" y="5895975"/>
            <a:ext cx="9334500" cy="238125"/>
          </a:xfrm>
          <a:prstGeom prst="rect">
            <a:avLst/>
          </a:prstGeom>
          <a:noFill/>
          <a:ln w="0">
            <a:noFill/>
            <a:prstDash val="solid"/>
          </a:ln>
        </p:spPr>
        <p:txBody>
          <a:bodyPr/>
          <a:lstStyle/>
          <a:p>
            <a:pPr algn="ctr">
              <a:defRPr sz="1065" b="1" i="0">
                <a:solidFill>
                  <a:srgbClr val="172554"/>
                </a:solidFill>
              </a:defRPr>
            </a:pPr>
            <a:r>
              <a:rPr sz="1065" b="1" i="0">
                <a:solidFill>
                  <a:srgbClr val="172554"/>
                </a:solidFill>
              </a:rPr>
              <a:t>The backend and the live updates service run separately, coordinating through the database and Redis, so either can restart without breaking the other.</a:t>
            </a:r>
          </a:p>
        </p:txBody>
      </p:sp>
    </p:spTree>
    <p:extLst>
      <p:ext uri="{BB962C8B-B14F-4D97-AF65-F5344CB8AC3E}">
        <p14:creationId xmlns:p14="http://schemas.microsoft.com/office/powerpoint/2010/main" val="219369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 name="Rectangle: Rounded Corners 63">
            <a:extLst>
              <a:ext uri="{FF2B5EF4-FFF2-40B4-BE49-F238E27FC236}">
                <a16:creationId xmlns:a16="http://schemas.microsoft.com/office/drawing/2014/main" id="{5FCCF2E6-5D3B-4703-9660-F326478D9CBA}"/>
              </a:ext>
            </a:extLst>
          </p:cNvPr>
          <p:cNvSpPr>
            <a:spLocks noGrp="1"/>
          </p:cNvSpPr>
          <p:nvPr/>
        </p:nvSpPr>
        <p:spPr>
          <a:xfrm>
            <a:off x="514350" y="323850"/>
            <a:ext cx="76200" cy="552450"/>
          </a:xfrm>
          <a:prstGeom prst="roundRect">
            <a:avLst>
              <a:gd name="adj" fmla="val 50000"/>
            </a:avLst>
          </a:prstGeom>
          <a:solidFill>
            <a:srgbClr val="EA580C"/>
          </a:solidFill>
          <a:ln w="0">
            <a:noFill/>
            <a:prstDash val="solid"/>
          </a:ln>
        </p:spPr>
      </p:sp>
      <p:sp>
        <p:nvSpPr>
          <p:cNvPr id="2" name="Oval 1">
            <a:extLst>
              <a:ext uri="{FF2B5EF4-FFF2-40B4-BE49-F238E27FC236}">
                <a16:creationId xmlns:a16="http://schemas.microsoft.com/office/drawing/2014/main" id="{50B21B2F-736B-4776-9020-4469984C7A81}"/>
              </a:ext>
            </a:extLst>
          </p:cNvPr>
          <p:cNvSpPr>
            <a:spLocks noGrp="1"/>
          </p:cNvSpPr>
          <p:nvPr/>
        </p:nvSpPr>
        <p:spPr>
          <a:xfrm>
            <a:off x="742950" y="361950"/>
            <a:ext cx="457200" cy="457200"/>
          </a:xfrm>
          <a:prstGeom prst="ellipse">
            <a:avLst/>
          </a:prstGeom>
          <a:solidFill>
            <a:srgbClr val="EEF2FF"/>
          </a:solidFill>
          <a:ln w="0">
            <a:noFill/>
            <a:prstDash val="solid"/>
          </a:ln>
        </p:spPr>
      </p:sp>
      <p:pic>
        <p:nvPicPr>
          <p:cNvPr id="66" name="Graphic 65"/>
          <p:cNvPicPr>
            <a:picLocks noChangeAspect="1"/>
          </p:cNvPicPr>
          <p:nvPr/>
        </p:nvPicPr>
        <p:blipFill>
          <a:blip>
            <a:extLst>
              <a:ext uri="{96DAC541-7B7A-43D3-8B79-37D633B846F1}">
                <asvg:svgBlip xmlns:asvg="http://schemas.microsoft.com/office/drawing/2016/SVG/main" r:embed="rId3"/>
              </a:ext>
            </a:extLst>
          </a:blip>
          <a:stretch/>
        </p:blipFill>
        <p:spPr>
          <a:xfrm>
            <a:off x="848106" y="467106"/>
            <a:ext cx="246888" cy="246888"/>
          </a:xfrm>
          <a:prstGeom prst="rect">
            <a:avLst/>
          </a:prstGeom>
        </p:spPr>
      </p:pic>
      <p:sp>
        <p:nvSpPr>
          <p:cNvPr id="4" name="Rectangle 3">
            <a:extLst>
              <a:ext uri="{FF2B5EF4-FFF2-40B4-BE49-F238E27FC236}">
                <a16:creationId xmlns:a16="http://schemas.microsoft.com/office/drawing/2014/main" id="{054A6895-AB64-4ED1-905B-2856B4870CF6}"/>
              </a:ext>
            </a:extLst>
          </p:cNvPr>
          <p:cNvSpPr>
            <a:spLocks noGrp="1"/>
          </p:cNvSpPr>
          <p:nvPr/>
        </p:nvSpPr>
        <p:spPr>
          <a:xfrm>
            <a:off x="1352550" y="361950"/>
            <a:ext cx="4762500" cy="171450"/>
          </a:xfrm>
          <a:prstGeom prst="rect">
            <a:avLst/>
          </a:prstGeom>
          <a:noFill/>
          <a:ln w="0">
            <a:noFill/>
            <a:prstDash val="solid"/>
          </a:ln>
        </p:spPr>
        <p:txBody>
          <a:bodyPr/>
          <a:lstStyle/>
          <a:p>
            <a:pPr algn="l">
              <a:defRPr sz="825" b="1" i="0">
                <a:solidFill>
                  <a:srgbClr val="0F766E"/>
                </a:solidFill>
              </a:defRPr>
            </a:pPr>
            <a:r>
              <a:rPr sz="825" b="1" i="0">
                <a:solidFill>
                  <a:srgbClr val="0F766E"/>
                </a:solidFill>
              </a:rPr>
              <a:t>END-TO-END OPERATION</a:t>
            </a:r>
          </a:p>
        </p:txBody>
      </p:sp>
      <p:sp>
        <p:nvSpPr>
          <p:cNvPr id="5" name="Rectangle 4">
            <a:extLst>
              <a:ext uri="{FF2B5EF4-FFF2-40B4-BE49-F238E27FC236}">
                <a16:creationId xmlns:a16="http://schemas.microsoft.com/office/drawing/2014/main" id="{31E1446F-F559-4EAC-8A48-7732E30520CC}"/>
              </a:ext>
            </a:extLst>
          </p:cNvPr>
          <p:cNvSpPr>
            <a:spLocks noGrp="1"/>
          </p:cNvSpPr>
          <p:nvPr/>
        </p:nvSpPr>
        <p:spPr>
          <a:xfrm>
            <a:off x="1352550" y="552450"/>
            <a:ext cx="9906000" cy="409575"/>
          </a:xfrm>
          <a:prstGeom prst="rect">
            <a:avLst/>
          </a:prstGeom>
          <a:noFill/>
          <a:ln w="0">
            <a:noFill/>
            <a:prstDash val="solid"/>
          </a:ln>
        </p:spPr>
        <p:txBody>
          <a:bodyPr/>
          <a:lstStyle/>
          <a:p>
            <a:pPr algn="l">
              <a:defRPr sz="2700" b="1" i="0">
                <a:solidFill>
                  <a:srgbClr val="172554"/>
                </a:solidFill>
              </a:defRPr>
            </a:pPr>
            <a:r>
              <a:rPr sz="2700" b="1" i="0">
                <a:solidFill>
                  <a:srgbClr val="172554"/>
                </a:solidFill>
              </a:rPr>
              <a:t>Working Flow of the System</a:t>
            </a:r>
          </a:p>
        </p:txBody>
      </p:sp>
      <p:sp>
        <p:nvSpPr>
          <p:cNvPr id="6" name="Straight Connector 5">
            <a:extLst>
              <a:ext uri="{FF2B5EF4-FFF2-40B4-BE49-F238E27FC236}">
                <a16:creationId xmlns:a16="http://schemas.microsoft.com/office/drawing/2014/main" id="{475CC948-B63F-4083-AD58-4DCF96D6D5ED}"/>
              </a:ext>
            </a:extLst>
          </p:cNvPr>
          <p:cNvSpPr>
            <a:spLocks noGrp="1"/>
          </p:cNvSpPr>
          <p:nvPr/>
        </p:nvSpPr>
        <p:spPr>
          <a:xfrm>
            <a:off x="514350" y="6419850"/>
            <a:ext cx="11163300" cy="0"/>
          </a:xfrm>
          <a:prstGeom prst="line">
            <a:avLst/>
          </a:prstGeom>
          <a:noFill/>
          <a:ln w="9525">
            <a:solidFill>
              <a:srgbClr val="D1D5DB"/>
            </a:solidFill>
            <a:prstDash val="solid"/>
          </a:ln>
        </p:spPr>
      </p:sp>
      <p:sp>
        <p:nvSpPr>
          <p:cNvPr id="7" name="Rectangle 6">
            <a:extLst>
              <a:ext uri="{FF2B5EF4-FFF2-40B4-BE49-F238E27FC236}">
                <a16:creationId xmlns:a16="http://schemas.microsoft.com/office/drawing/2014/main" id="{2CF3B2DA-07D0-45AA-BEDA-A94E44EF9B09}"/>
              </a:ext>
            </a:extLst>
          </p:cNvPr>
          <p:cNvSpPr>
            <a:spLocks noGrp="1"/>
          </p:cNvSpPr>
          <p:nvPr/>
        </p:nvSpPr>
        <p:spPr>
          <a:xfrm>
            <a:off x="571500" y="6515100"/>
            <a:ext cx="6858000" cy="171450"/>
          </a:xfrm>
          <a:prstGeom prst="rect">
            <a:avLst/>
          </a:prstGeom>
          <a:noFill/>
          <a:ln w="0">
            <a:noFill/>
            <a:prstDash val="solid"/>
          </a:ln>
        </p:spPr>
        <p:txBody>
          <a:bodyPr/>
          <a:lstStyle/>
          <a:p>
            <a:pPr algn="l">
              <a:defRPr sz="825" b="1" i="0">
                <a:solidFill>
                  <a:srgbClr val="4B5563"/>
                </a:solidFill>
              </a:defRPr>
            </a:pPr>
            <a:r>
              <a:rPr sz="825" b="1" i="0" dirty="0">
                <a:solidFill>
                  <a:srgbClr val="4B5563"/>
                </a:solidFill>
              </a:rPr>
              <a:t>Smart Public Bus Management System </a:t>
            </a:r>
          </a:p>
        </p:txBody>
      </p:sp>
      <p:sp>
        <p:nvSpPr>
          <p:cNvPr id="8" name="Rectangle 7">
            <a:extLst>
              <a:ext uri="{FF2B5EF4-FFF2-40B4-BE49-F238E27FC236}">
                <a16:creationId xmlns:a16="http://schemas.microsoft.com/office/drawing/2014/main" id="{8B138696-5BAB-4BB5-8C98-AF4717381BB0}"/>
              </a:ext>
            </a:extLst>
          </p:cNvPr>
          <p:cNvSpPr>
            <a:spLocks noGrp="1"/>
          </p:cNvSpPr>
          <p:nvPr/>
        </p:nvSpPr>
        <p:spPr>
          <a:xfrm>
            <a:off x="11049000" y="6505575"/>
            <a:ext cx="571500" cy="171450"/>
          </a:xfrm>
          <a:prstGeom prst="rect">
            <a:avLst/>
          </a:prstGeom>
          <a:noFill/>
          <a:ln w="0">
            <a:noFill/>
            <a:prstDash val="solid"/>
          </a:ln>
        </p:spPr>
        <p:txBody>
          <a:bodyPr/>
          <a:lstStyle/>
          <a:p>
            <a:pPr algn="r">
              <a:defRPr sz="825" b="1" i="0">
                <a:solidFill>
                  <a:srgbClr val="1E3A8A"/>
                </a:solidFill>
              </a:defRPr>
            </a:pPr>
            <a:r>
              <a:rPr sz="825" b="1" i="0">
                <a:solidFill>
                  <a:srgbClr val="1E3A8A"/>
                </a:solidFill>
              </a:rPr>
              <a:t>08</a:t>
            </a:r>
          </a:p>
        </p:txBody>
      </p:sp>
      <p:sp>
        <p:nvSpPr>
          <p:cNvPr id="9" name="Rectangle: Rounded Corners 8">
            <a:extLst>
              <a:ext uri="{FF2B5EF4-FFF2-40B4-BE49-F238E27FC236}">
                <a16:creationId xmlns:a16="http://schemas.microsoft.com/office/drawing/2014/main" id="{0AD8163A-DF03-4DC7-BF94-8F7C84B003FB}"/>
              </a:ext>
            </a:extLst>
          </p:cNvPr>
          <p:cNvSpPr>
            <a:spLocks noGrp="1"/>
          </p:cNvSpPr>
          <p:nvPr/>
        </p:nvSpPr>
        <p:spPr>
          <a:xfrm>
            <a:off x="419100" y="1524000"/>
            <a:ext cx="1676400" cy="2286000"/>
          </a:xfrm>
          <a:prstGeom prst="roundRect">
            <a:avLst>
              <a:gd name="adj" fmla="val 7955"/>
            </a:avLst>
          </a:prstGeom>
          <a:solidFill>
            <a:srgbClr val="FFFFFF"/>
          </a:solidFill>
          <a:ln w="9525">
            <a:solidFill>
              <a:srgbClr val="D1D5DB"/>
            </a:solidFill>
            <a:prstDash val="solid"/>
          </a:ln>
        </p:spPr>
      </p:sp>
      <p:sp>
        <p:nvSpPr>
          <p:cNvPr id="10" name="Oval 9">
            <a:extLst>
              <a:ext uri="{FF2B5EF4-FFF2-40B4-BE49-F238E27FC236}">
                <a16:creationId xmlns:a16="http://schemas.microsoft.com/office/drawing/2014/main" id="{DCDBDF81-DA28-4B6B-9F9F-858FB09524C3}"/>
              </a:ext>
            </a:extLst>
          </p:cNvPr>
          <p:cNvSpPr>
            <a:spLocks noGrp="1"/>
          </p:cNvSpPr>
          <p:nvPr/>
        </p:nvSpPr>
        <p:spPr>
          <a:xfrm>
            <a:off x="971550" y="1695450"/>
            <a:ext cx="571500" cy="571500"/>
          </a:xfrm>
          <a:prstGeom prst="ellipse">
            <a:avLst/>
          </a:prstGeom>
          <a:solidFill>
            <a:srgbClr val="EEF2FF"/>
          </a:solidFill>
          <a:ln w="0">
            <a:noFill/>
            <a:prstDash val="solid"/>
          </a:ln>
        </p:spPr>
      </p:sp>
      <p:pic>
        <p:nvPicPr>
          <p:cNvPr id="74" name="Graphic 73"/>
          <p:cNvPicPr>
            <a:picLocks noChangeAspect="1"/>
          </p:cNvPicPr>
          <p:nvPr/>
        </p:nvPicPr>
        <p:blipFill>
          <a:blip>
            <a:extLst>
              <a:ext uri="{96DAC541-7B7A-43D3-8B79-37D633B846F1}">
                <asvg:svgBlip xmlns:asvg="http://schemas.microsoft.com/office/drawing/2016/SVG/main" r:embed="rId4"/>
              </a:ext>
            </a:extLst>
          </a:blip>
          <a:stretch/>
        </p:blipFill>
        <p:spPr>
          <a:xfrm>
            <a:off x="1133475" y="1857375"/>
            <a:ext cx="247650" cy="247650"/>
          </a:xfrm>
          <a:prstGeom prst="rect">
            <a:avLst/>
          </a:prstGeom>
        </p:spPr>
      </p:pic>
      <p:sp>
        <p:nvSpPr>
          <p:cNvPr id="12" name="Rectangle 11">
            <a:extLst>
              <a:ext uri="{FF2B5EF4-FFF2-40B4-BE49-F238E27FC236}">
                <a16:creationId xmlns:a16="http://schemas.microsoft.com/office/drawing/2014/main" id="{F68A9131-6E15-4087-B64B-EE35843322CA}"/>
              </a:ext>
            </a:extLst>
          </p:cNvPr>
          <p:cNvSpPr>
            <a:spLocks noGrp="1"/>
          </p:cNvSpPr>
          <p:nvPr/>
        </p:nvSpPr>
        <p:spPr>
          <a:xfrm>
            <a:off x="685800" y="2381250"/>
            <a:ext cx="1143000" cy="161925"/>
          </a:xfrm>
          <a:prstGeom prst="rect">
            <a:avLst/>
          </a:prstGeom>
          <a:noFill/>
          <a:ln w="0">
            <a:noFill/>
            <a:prstDash val="solid"/>
          </a:ln>
        </p:spPr>
        <p:txBody>
          <a:bodyPr/>
          <a:lstStyle/>
          <a:p>
            <a:pPr algn="ctr">
              <a:defRPr sz="750" b="1" i="0">
                <a:solidFill>
                  <a:srgbClr val="0F766E"/>
                </a:solidFill>
              </a:defRPr>
            </a:pPr>
            <a:r>
              <a:rPr sz="750" b="1" i="0">
                <a:solidFill>
                  <a:srgbClr val="0F766E"/>
                </a:solidFill>
              </a:rPr>
              <a:t>STEP 1</a:t>
            </a:r>
          </a:p>
        </p:txBody>
      </p:sp>
      <p:sp>
        <p:nvSpPr>
          <p:cNvPr id="13" name="Rectangle 12">
            <a:extLst>
              <a:ext uri="{FF2B5EF4-FFF2-40B4-BE49-F238E27FC236}">
                <a16:creationId xmlns:a16="http://schemas.microsoft.com/office/drawing/2014/main" id="{CAE29E14-85F2-439F-9B82-7111C1966B66}"/>
              </a:ext>
            </a:extLst>
          </p:cNvPr>
          <p:cNvSpPr>
            <a:spLocks noGrp="1"/>
          </p:cNvSpPr>
          <p:nvPr/>
        </p:nvSpPr>
        <p:spPr>
          <a:xfrm>
            <a:off x="571500" y="2638425"/>
            <a:ext cx="1371600" cy="990600"/>
          </a:xfrm>
          <a:prstGeom prst="rect">
            <a:avLst/>
          </a:prstGeom>
          <a:noFill/>
          <a:ln w="0">
            <a:noFill/>
            <a:prstDash val="solid"/>
          </a:ln>
        </p:spPr>
        <p:txBody>
          <a:bodyPr/>
          <a:lstStyle/>
          <a:p>
            <a:pPr algn="ctr">
              <a:defRPr sz="1133" b="1" i="0">
                <a:solidFill>
                  <a:srgbClr val="172554"/>
                </a:solidFill>
              </a:defRPr>
            </a:pPr>
            <a:r>
              <a:rPr sz="1133" b="1" i="0">
                <a:solidFill>
                  <a:srgbClr val="172554"/>
                </a:solidFill>
              </a:rPr>
              <a:t>Administrator registers bus, driver, route, and stops</a:t>
            </a:r>
          </a:p>
        </p:txBody>
      </p:sp>
      <p:sp>
        <p:nvSpPr>
          <p:cNvPr id="14" name="Rectangle: Rounded Corners 13">
            <a:extLst>
              <a:ext uri="{FF2B5EF4-FFF2-40B4-BE49-F238E27FC236}">
                <a16:creationId xmlns:a16="http://schemas.microsoft.com/office/drawing/2014/main" id="{2DE76B9C-DACC-46AE-A6D2-336D0CE2A569}"/>
              </a:ext>
            </a:extLst>
          </p:cNvPr>
          <p:cNvSpPr>
            <a:spLocks noGrp="1"/>
          </p:cNvSpPr>
          <p:nvPr/>
        </p:nvSpPr>
        <p:spPr>
          <a:xfrm>
            <a:off x="2362200" y="1524000"/>
            <a:ext cx="1676400" cy="2286000"/>
          </a:xfrm>
          <a:prstGeom prst="roundRect">
            <a:avLst>
              <a:gd name="adj" fmla="val 7955"/>
            </a:avLst>
          </a:prstGeom>
          <a:solidFill>
            <a:srgbClr val="FFFFFF"/>
          </a:solidFill>
          <a:ln w="9525">
            <a:solidFill>
              <a:srgbClr val="D1D5DB"/>
            </a:solidFill>
            <a:prstDash val="solid"/>
          </a:ln>
        </p:spPr>
      </p:sp>
      <p:sp>
        <p:nvSpPr>
          <p:cNvPr id="15" name="Oval 14">
            <a:extLst>
              <a:ext uri="{FF2B5EF4-FFF2-40B4-BE49-F238E27FC236}">
                <a16:creationId xmlns:a16="http://schemas.microsoft.com/office/drawing/2014/main" id="{5CA731B1-BDC4-4190-BD61-106BA722E86F}"/>
              </a:ext>
            </a:extLst>
          </p:cNvPr>
          <p:cNvSpPr>
            <a:spLocks noGrp="1"/>
          </p:cNvSpPr>
          <p:nvPr/>
        </p:nvSpPr>
        <p:spPr>
          <a:xfrm>
            <a:off x="2914650" y="1695450"/>
            <a:ext cx="571500" cy="571500"/>
          </a:xfrm>
          <a:prstGeom prst="ellipse">
            <a:avLst/>
          </a:prstGeom>
          <a:solidFill>
            <a:srgbClr val="EEF2FF"/>
          </a:solidFill>
          <a:ln w="0">
            <a:noFill/>
            <a:prstDash val="solid"/>
          </a:ln>
        </p:spPr>
      </p:sp>
      <p:pic>
        <p:nvPicPr>
          <p:cNvPr id="79" name="Graphic 78"/>
          <p:cNvPicPr>
            <a:picLocks noChangeAspect="1"/>
          </p:cNvPicPr>
          <p:nvPr/>
        </p:nvPicPr>
        <p:blipFill>
          <a:blip>
            <a:extLst>
              <a:ext uri="{96DAC541-7B7A-43D3-8B79-37D633B846F1}">
                <asvg:svgBlip xmlns:asvg="http://schemas.microsoft.com/office/drawing/2016/SVG/main" r:embed="rId5"/>
              </a:ext>
            </a:extLst>
          </a:blip>
          <a:stretch/>
        </p:blipFill>
        <p:spPr>
          <a:xfrm>
            <a:off x="3076575" y="1857375"/>
            <a:ext cx="247650" cy="247650"/>
          </a:xfrm>
          <a:prstGeom prst="rect">
            <a:avLst/>
          </a:prstGeom>
        </p:spPr>
      </p:pic>
      <p:sp>
        <p:nvSpPr>
          <p:cNvPr id="17" name="Rectangle 16">
            <a:extLst>
              <a:ext uri="{FF2B5EF4-FFF2-40B4-BE49-F238E27FC236}">
                <a16:creationId xmlns:a16="http://schemas.microsoft.com/office/drawing/2014/main" id="{2294F0CC-0CC2-470E-8F72-049407F6C74D}"/>
              </a:ext>
            </a:extLst>
          </p:cNvPr>
          <p:cNvSpPr>
            <a:spLocks noGrp="1"/>
          </p:cNvSpPr>
          <p:nvPr/>
        </p:nvSpPr>
        <p:spPr>
          <a:xfrm>
            <a:off x="2628900" y="2381250"/>
            <a:ext cx="1143000" cy="161925"/>
          </a:xfrm>
          <a:prstGeom prst="rect">
            <a:avLst/>
          </a:prstGeom>
          <a:noFill/>
          <a:ln w="0">
            <a:noFill/>
            <a:prstDash val="solid"/>
          </a:ln>
        </p:spPr>
        <p:txBody>
          <a:bodyPr/>
          <a:lstStyle/>
          <a:p>
            <a:pPr algn="ctr">
              <a:defRPr sz="750" b="1" i="0">
                <a:solidFill>
                  <a:srgbClr val="0F766E"/>
                </a:solidFill>
              </a:defRPr>
            </a:pPr>
            <a:r>
              <a:rPr sz="750" b="1" i="0">
                <a:solidFill>
                  <a:srgbClr val="0F766E"/>
                </a:solidFill>
              </a:rPr>
              <a:t>STEP 2</a:t>
            </a:r>
          </a:p>
        </p:txBody>
      </p:sp>
      <p:sp>
        <p:nvSpPr>
          <p:cNvPr id="18" name="Rectangle 17">
            <a:extLst>
              <a:ext uri="{FF2B5EF4-FFF2-40B4-BE49-F238E27FC236}">
                <a16:creationId xmlns:a16="http://schemas.microsoft.com/office/drawing/2014/main" id="{9B49710C-8AE3-4AC4-B7AC-B8BF4C1EEAEB}"/>
              </a:ext>
            </a:extLst>
          </p:cNvPr>
          <p:cNvSpPr>
            <a:spLocks noGrp="1"/>
          </p:cNvSpPr>
          <p:nvPr/>
        </p:nvSpPr>
        <p:spPr>
          <a:xfrm>
            <a:off x="2514600" y="2638425"/>
            <a:ext cx="1371600" cy="990600"/>
          </a:xfrm>
          <a:prstGeom prst="rect">
            <a:avLst/>
          </a:prstGeom>
          <a:noFill/>
          <a:ln w="0">
            <a:noFill/>
            <a:prstDash val="solid"/>
          </a:ln>
        </p:spPr>
        <p:txBody>
          <a:bodyPr/>
          <a:lstStyle/>
          <a:p>
            <a:pPr algn="ctr">
              <a:defRPr sz="1133" b="1" i="0">
                <a:solidFill>
                  <a:srgbClr val="172554"/>
                </a:solidFill>
              </a:defRPr>
            </a:pPr>
            <a:r>
              <a:rPr sz="1133" b="1" i="0">
                <a:solidFill>
                  <a:srgbClr val="172554"/>
                </a:solidFill>
              </a:rPr>
              <a:t>Driver logs in, confirms bus, starts trip, and shares location</a:t>
            </a:r>
          </a:p>
        </p:txBody>
      </p:sp>
      <p:sp>
        <p:nvSpPr>
          <p:cNvPr id="19" name="Rectangle: Rounded Corners 18">
            <a:extLst>
              <a:ext uri="{FF2B5EF4-FFF2-40B4-BE49-F238E27FC236}">
                <a16:creationId xmlns:a16="http://schemas.microsoft.com/office/drawing/2014/main" id="{A16B3C97-E870-42BB-8A29-21A58750B2DD}"/>
              </a:ext>
            </a:extLst>
          </p:cNvPr>
          <p:cNvSpPr>
            <a:spLocks noGrp="1"/>
          </p:cNvSpPr>
          <p:nvPr/>
        </p:nvSpPr>
        <p:spPr>
          <a:xfrm>
            <a:off x="4305300" y="1524000"/>
            <a:ext cx="1676400" cy="2286000"/>
          </a:xfrm>
          <a:prstGeom prst="roundRect">
            <a:avLst>
              <a:gd name="adj" fmla="val 7955"/>
            </a:avLst>
          </a:prstGeom>
          <a:solidFill>
            <a:srgbClr val="FFFFFF"/>
          </a:solidFill>
          <a:ln w="9525">
            <a:solidFill>
              <a:srgbClr val="D1D5DB"/>
            </a:solidFill>
            <a:prstDash val="solid"/>
          </a:ln>
        </p:spPr>
      </p:sp>
      <p:sp>
        <p:nvSpPr>
          <p:cNvPr id="20" name="Oval 19">
            <a:extLst>
              <a:ext uri="{FF2B5EF4-FFF2-40B4-BE49-F238E27FC236}">
                <a16:creationId xmlns:a16="http://schemas.microsoft.com/office/drawing/2014/main" id="{EFC2228C-6F25-4091-9857-F8DDD1F53667}"/>
              </a:ext>
            </a:extLst>
          </p:cNvPr>
          <p:cNvSpPr>
            <a:spLocks noGrp="1"/>
          </p:cNvSpPr>
          <p:nvPr/>
        </p:nvSpPr>
        <p:spPr>
          <a:xfrm>
            <a:off x="4857750" y="1695450"/>
            <a:ext cx="571500" cy="571500"/>
          </a:xfrm>
          <a:prstGeom prst="ellipse">
            <a:avLst/>
          </a:prstGeom>
          <a:solidFill>
            <a:srgbClr val="FFF7ED"/>
          </a:solidFill>
          <a:ln w="0">
            <a:noFill/>
            <a:prstDash val="solid"/>
          </a:ln>
        </p:spPr>
      </p:sp>
      <p:pic>
        <p:nvPicPr>
          <p:cNvPr id="84" name="Graphic 83"/>
          <p:cNvPicPr>
            <a:picLocks noChangeAspect="1"/>
          </p:cNvPicPr>
          <p:nvPr/>
        </p:nvPicPr>
        <p:blipFill>
          <a:blip>
            <a:extLst>
              <a:ext uri="{96DAC541-7B7A-43D3-8B79-37D633B846F1}">
                <asvg:svgBlip xmlns:asvg="http://schemas.microsoft.com/office/drawing/2016/SVG/main" r:embed="rId6"/>
              </a:ext>
            </a:extLst>
          </a:blip>
          <a:stretch/>
        </p:blipFill>
        <p:spPr>
          <a:xfrm>
            <a:off x="5019675" y="1857375"/>
            <a:ext cx="247650" cy="247650"/>
          </a:xfrm>
          <a:prstGeom prst="rect">
            <a:avLst/>
          </a:prstGeom>
        </p:spPr>
      </p:pic>
      <p:sp>
        <p:nvSpPr>
          <p:cNvPr id="22" name="Rectangle 21">
            <a:extLst>
              <a:ext uri="{FF2B5EF4-FFF2-40B4-BE49-F238E27FC236}">
                <a16:creationId xmlns:a16="http://schemas.microsoft.com/office/drawing/2014/main" id="{570186E8-2CF5-45D1-9FFA-A18EF9650F6C}"/>
              </a:ext>
            </a:extLst>
          </p:cNvPr>
          <p:cNvSpPr>
            <a:spLocks noGrp="1"/>
          </p:cNvSpPr>
          <p:nvPr/>
        </p:nvSpPr>
        <p:spPr>
          <a:xfrm>
            <a:off x="4572000" y="2381250"/>
            <a:ext cx="1143000" cy="161925"/>
          </a:xfrm>
          <a:prstGeom prst="rect">
            <a:avLst/>
          </a:prstGeom>
          <a:noFill/>
          <a:ln w="0">
            <a:noFill/>
            <a:prstDash val="solid"/>
          </a:ln>
        </p:spPr>
        <p:txBody>
          <a:bodyPr/>
          <a:lstStyle/>
          <a:p>
            <a:pPr algn="ctr">
              <a:defRPr sz="750" b="1" i="0">
                <a:solidFill>
                  <a:srgbClr val="EA580C"/>
                </a:solidFill>
              </a:defRPr>
            </a:pPr>
            <a:r>
              <a:rPr sz="750" b="1" i="0">
                <a:solidFill>
                  <a:srgbClr val="EA580C"/>
                </a:solidFill>
              </a:rPr>
              <a:t>STEP 3</a:t>
            </a:r>
          </a:p>
        </p:txBody>
      </p:sp>
      <p:sp>
        <p:nvSpPr>
          <p:cNvPr id="23" name="Rectangle 22">
            <a:extLst>
              <a:ext uri="{FF2B5EF4-FFF2-40B4-BE49-F238E27FC236}">
                <a16:creationId xmlns:a16="http://schemas.microsoft.com/office/drawing/2014/main" id="{DC4C465D-F211-4769-8D58-90DE999DF09D}"/>
              </a:ext>
            </a:extLst>
          </p:cNvPr>
          <p:cNvSpPr>
            <a:spLocks noGrp="1"/>
          </p:cNvSpPr>
          <p:nvPr/>
        </p:nvSpPr>
        <p:spPr>
          <a:xfrm>
            <a:off x="4457700" y="2638425"/>
            <a:ext cx="1371600" cy="990600"/>
          </a:xfrm>
          <a:prstGeom prst="rect">
            <a:avLst/>
          </a:prstGeom>
          <a:noFill/>
          <a:ln w="0">
            <a:noFill/>
            <a:prstDash val="solid"/>
          </a:ln>
        </p:spPr>
        <p:txBody>
          <a:bodyPr/>
          <a:lstStyle/>
          <a:p>
            <a:pPr algn="ctr">
              <a:defRPr sz="1133" b="1" i="0">
                <a:solidFill>
                  <a:srgbClr val="172554"/>
                </a:solidFill>
              </a:defRPr>
            </a:pPr>
            <a:r>
              <a:rPr sz="1133" b="1" i="0">
                <a:solidFill>
                  <a:srgbClr val="172554"/>
                </a:solidFill>
              </a:rPr>
              <a:t>Phone sends live location every few seconds</a:t>
            </a:r>
          </a:p>
        </p:txBody>
      </p:sp>
      <p:sp>
        <p:nvSpPr>
          <p:cNvPr id="24" name="Rectangle: Rounded Corners 23">
            <a:extLst>
              <a:ext uri="{FF2B5EF4-FFF2-40B4-BE49-F238E27FC236}">
                <a16:creationId xmlns:a16="http://schemas.microsoft.com/office/drawing/2014/main" id="{90C1150F-17C8-4D30-B269-77C2BB8F41BC}"/>
              </a:ext>
            </a:extLst>
          </p:cNvPr>
          <p:cNvSpPr>
            <a:spLocks noGrp="1"/>
          </p:cNvSpPr>
          <p:nvPr/>
        </p:nvSpPr>
        <p:spPr>
          <a:xfrm>
            <a:off x="6248400" y="1524000"/>
            <a:ext cx="1676400" cy="2286000"/>
          </a:xfrm>
          <a:prstGeom prst="roundRect">
            <a:avLst>
              <a:gd name="adj" fmla="val 7955"/>
            </a:avLst>
          </a:prstGeom>
          <a:solidFill>
            <a:srgbClr val="FFFFFF"/>
          </a:solidFill>
          <a:ln w="9525">
            <a:solidFill>
              <a:srgbClr val="D1D5DB"/>
            </a:solidFill>
            <a:prstDash val="solid"/>
          </a:ln>
        </p:spPr>
      </p:sp>
      <p:sp>
        <p:nvSpPr>
          <p:cNvPr id="25" name="Oval 24">
            <a:extLst>
              <a:ext uri="{FF2B5EF4-FFF2-40B4-BE49-F238E27FC236}">
                <a16:creationId xmlns:a16="http://schemas.microsoft.com/office/drawing/2014/main" id="{3061120E-8CFE-43FE-AFF9-213B31180EE3}"/>
              </a:ext>
            </a:extLst>
          </p:cNvPr>
          <p:cNvSpPr>
            <a:spLocks noGrp="1"/>
          </p:cNvSpPr>
          <p:nvPr/>
        </p:nvSpPr>
        <p:spPr>
          <a:xfrm>
            <a:off x="6800850" y="1695450"/>
            <a:ext cx="571500" cy="571500"/>
          </a:xfrm>
          <a:prstGeom prst="ellipse">
            <a:avLst/>
          </a:prstGeom>
          <a:solidFill>
            <a:srgbClr val="EEF2FF"/>
          </a:solidFill>
          <a:ln w="0">
            <a:noFill/>
            <a:prstDash val="solid"/>
          </a:ln>
        </p:spPr>
      </p:sp>
      <p:pic>
        <p:nvPicPr>
          <p:cNvPr id="89" name="Graphic 88"/>
          <p:cNvPicPr>
            <a:picLocks noChangeAspect="1"/>
          </p:cNvPicPr>
          <p:nvPr/>
        </p:nvPicPr>
        <p:blipFill>
          <a:blip>
            <a:extLst>
              <a:ext uri="{96DAC541-7B7A-43D3-8B79-37D633B846F1}">
                <asvg:svgBlip xmlns:asvg="http://schemas.microsoft.com/office/drawing/2016/SVG/main" r:embed="rId7"/>
              </a:ext>
            </a:extLst>
          </a:blip>
          <a:stretch/>
        </p:blipFill>
        <p:spPr>
          <a:xfrm>
            <a:off x="6962775" y="1857375"/>
            <a:ext cx="247650" cy="247650"/>
          </a:xfrm>
          <a:prstGeom prst="rect">
            <a:avLst/>
          </a:prstGeom>
        </p:spPr>
      </p:pic>
      <p:sp>
        <p:nvSpPr>
          <p:cNvPr id="27" name="Rectangle 26">
            <a:extLst>
              <a:ext uri="{FF2B5EF4-FFF2-40B4-BE49-F238E27FC236}">
                <a16:creationId xmlns:a16="http://schemas.microsoft.com/office/drawing/2014/main" id="{E5693C54-E0EA-46F7-9D1D-DE1DACC0878A}"/>
              </a:ext>
            </a:extLst>
          </p:cNvPr>
          <p:cNvSpPr>
            <a:spLocks noGrp="1"/>
          </p:cNvSpPr>
          <p:nvPr/>
        </p:nvSpPr>
        <p:spPr>
          <a:xfrm>
            <a:off x="6515100" y="2381250"/>
            <a:ext cx="1143000" cy="161925"/>
          </a:xfrm>
          <a:prstGeom prst="rect">
            <a:avLst/>
          </a:prstGeom>
          <a:noFill/>
          <a:ln w="0">
            <a:noFill/>
            <a:prstDash val="solid"/>
          </a:ln>
        </p:spPr>
        <p:txBody>
          <a:bodyPr/>
          <a:lstStyle/>
          <a:p>
            <a:pPr algn="ctr">
              <a:defRPr sz="750" b="1" i="0">
                <a:solidFill>
                  <a:srgbClr val="0F766E"/>
                </a:solidFill>
              </a:defRPr>
            </a:pPr>
            <a:r>
              <a:rPr sz="750" b="1" i="0">
                <a:solidFill>
                  <a:srgbClr val="0F766E"/>
                </a:solidFill>
              </a:rPr>
              <a:t>STEP 4</a:t>
            </a:r>
          </a:p>
        </p:txBody>
      </p:sp>
      <p:sp>
        <p:nvSpPr>
          <p:cNvPr id="28" name="Rectangle 27">
            <a:extLst>
              <a:ext uri="{FF2B5EF4-FFF2-40B4-BE49-F238E27FC236}">
                <a16:creationId xmlns:a16="http://schemas.microsoft.com/office/drawing/2014/main" id="{1CB4B774-B540-4AAE-ADB3-B18DA919F3D9}"/>
              </a:ext>
            </a:extLst>
          </p:cNvPr>
          <p:cNvSpPr>
            <a:spLocks noGrp="1"/>
          </p:cNvSpPr>
          <p:nvPr/>
        </p:nvSpPr>
        <p:spPr>
          <a:xfrm>
            <a:off x="6400800" y="2638425"/>
            <a:ext cx="1371600" cy="990600"/>
          </a:xfrm>
          <a:prstGeom prst="rect">
            <a:avLst/>
          </a:prstGeom>
          <a:noFill/>
          <a:ln w="0">
            <a:noFill/>
            <a:prstDash val="solid"/>
          </a:ln>
        </p:spPr>
        <p:txBody>
          <a:bodyPr/>
          <a:lstStyle/>
          <a:p>
            <a:pPr algn="ctr">
              <a:defRPr sz="1133" b="1" i="0">
                <a:solidFill>
                  <a:srgbClr val="172554"/>
                </a:solidFill>
              </a:defRPr>
            </a:pPr>
            <a:r>
              <a:rPr sz="1133" b="1" i="0">
                <a:solidFill>
                  <a:srgbClr val="172554"/>
                </a:solidFill>
              </a:rPr>
              <a:t>Geofencing detects arrival and departure at each stop</a:t>
            </a:r>
          </a:p>
        </p:txBody>
      </p:sp>
      <p:sp>
        <p:nvSpPr>
          <p:cNvPr id="29" name="Rectangle: Rounded Corners 28">
            <a:extLst>
              <a:ext uri="{FF2B5EF4-FFF2-40B4-BE49-F238E27FC236}">
                <a16:creationId xmlns:a16="http://schemas.microsoft.com/office/drawing/2014/main" id="{51490BAE-6615-4002-B624-9D28405066D4}"/>
              </a:ext>
            </a:extLst>
          </p:cNvPr>
          <p:cNvSpPr>
            <a:spLocks noGrp="1"/>
          </p:cNvSpPr>
          <p:nvPr/>
        </p:nvSpPr>
        <p:spPr>
          <a:xfrm>
            <a:off x="8191500" y="1524000"/>
            <a:ext cx="1676400" cy="2286000"/>
          </a:xfrm>
          <a:prstGeom prst="roundRect">
            <a:avLst>
              <a:gd name="adj" fmla="val 7955"/>
            </a:avLst>
          </a:prstGeom>
          <a:solidFill>
            <a:srgbClr val="FFFFFF"/>
          </a:solidFill>
          <a:ln w="9525">
            <a:solidFill>
              <a:srgbClr val="D1D5DB"/>
            </a:solidFill>
            <a:prstDash val="solid"/>
          </a:ln>
        </p:spPr>
      </p:sp>
      <p:sp>
        <p:nvSpPr>
          <p:cNvPr id="30" name="Oval 29">
            <a:extLst>
              <a:ext uri="{FF2B5EF4-FFF2-40B4-BE49-F238E27FC236}">
                <a16:creationId xmlns:a16="http://schemas.microsoft.com/office/drawing/2014/main" id="{061F3424-4393-400C-A620-94BC9AFAA3C3}"/>
              </a:ext>
            </a:extLst>
          </p:cNvPr>
          <p:cNvSpPr>
            <a:spLocks noGrp="1"/>
          </p:cNvSpPr>
          <p:nvPr/>
        </p:nvSpPr>
        <p:spPr>
          <a:xfrm>
            <a:off x="8743950" y="1695450"/>
            <a:ext cx="571500" cy="571500"/>
          </a:xfrm>
          <a:prstGeom prst="ellipse">
            <a:avLst/>
          </a:prstGeom>
          <a:solidFill>
            <a:srgbClr val="EEF2FF"/>
          </a:solidFill>
          <a:ln w="0">
            <a:noFill/>
            <a:prstDash val="solid"/>
          </a:ln>
        </p:spPr>
      </p:sp>
      <p:pic>
        <p:nvPicPr>
          <p:cNvPr id="94" name="Graphic 93"/>
          <p:cNvPicPr>
            <a:picLocks noChangeAspect="1"/>
          </p:cNvPicPr>
          <p:nvPr/>
        </p:nvPicPr>
        <p:blipFill>
          <a:blip>
            <a:extLst>
              <a:ext uri="{96DAC541-7B7A-43D3-8B79-37D633B846F1}">
                <asvg:svgBlip xmlns:asvg="http://schemas.microsoft.com/office/drawing/2016/SVG/main" r:embed="rId8"/>
              </a:ext>
            </a:extLst>
          </a:blip>
          <a:stretch/>
        </p:blipFill>
        <p:spPr>
          <a:xfrm>
            <a:off x="8905875" y="1857375"/>
            <a:ext cx="247650" cy="247650"/>
          </a:xfrm>
          <a:prstGeom prst="rect">
            <a:avLst/>
          </a:prstGeom>
        </p:spPr>
      </p:pic>
      <p:sp>
        <p:nvSpPr>
          <p:cNvPr id="32" name="Rectangle 31">
            <a:extLst>
              <a:ext uri="{FF2B5EF4-FFF2-40B4-BE49-F238E27FC236}">
                <a16:creationId xmlns:a16="http://schemas.microsoft.com/office/drawing/2014/main" id="{008F75FC-4272-4B0B-8201-240FCF3D8CBC}"/>
              </a:ext>
            </a:extLst>
          </p:cNvPr>
          <p:cNvSpPr>
            <a:spLocks noGrp="1"/>
          </p:cNvSpPr>
          <p:nvPr/>
        </p:nvSpPr>
        <p:spPr>
          <a:xfrm>
            <a:off x="8458200" y="2381250"/>
            <a:ext cx="1143000" cy="161925"/>
          </a:xfrm>
          <a:prstGeom prst="rect">
            <a:avLst/>
          </a:prstGeom>
          <a:noFill/>
          <a:ln w="0">
            <a:noFill/>
            <a:prstDash val="solid"/>
          </a:ln>
        </p:spPr>
        <p:txBody>
          <a:bodyPr/>
          <a:lstStyle/>
          <a:p>
            <a:pPr algn="ctr">
              <a:defRPr sz="750" b="1" i="0">
                <a:solidFill>
                  <a:srgbClr val="0F766E"/>
                </a:solidFill>
              </a:defRPr>
            </a:pPr>
            <a:r>
              <a:rPr sz="750" b="1" i="0">
                <a:solidFill>
                  <a:srgbClr val="0F766E"/>
                </a:solidFill>
              </a:rPr>
              <a:t>STEP 5</a:t>
            </a:r>
          </a:p>
        </p:txBody>
      </p:sp>
      <p:sp>
        <p:nvSpPr>
          <p:cNvPr id="33" name="Rectangle 32">
            <a:extLst>
              <a:ext uri="{FF2B5EF4-FFF2-40B4-BE49-F238E27FC236}">
                <a16:creationId xmlns:a16="http://schemas.microsoft.com/office/drawing/2014/main" id="{FD4C6D8D-A4A6-47A4-861A-7074ACCC11E1}"/>
              </a:ext>
            </a:extLst>
          </p:cNvPr>
          <p:cNvSpPr>
            <a:spLocks noGrp="1"/>
          </p:cNvSpPr>
          <p:nvPr/>
        </p:nvSpPr>
        <p:spPr>
          <a:xfrm>
            <a:off x="8343900" y="2638425"/>
            <a:ext cx="1371600" cy="990600"/>
          </a:xfrm>
          <a:prstGeom prst="rect">
            <a:avLst/>
          </a:prstGeom>
          <a:noFill/>
          <a:ln w="0">
            <a:noFill/>
            <a:prstDash val="solid"/>
          </a:ln>
        </p:spPr>
        <p:txBody>
          <a:bodyPr/>
          <a:lstStyle/>
          <a:p>
            <a:pPr algn="ctr">
              <a:defRPr sz="1133" b="1" i="0">
                <a:solidFill>
                  <a:srgbClr val="172554"/>
                </a:solidFill>
              </a:defRPr>
            </a:pPr>
            <a:r>
              <a:rPr sz="1133" b="1" i="0">
                <a:solidFill>
                  <a:srgbClr val="172554"/>
                </a:solidFill>
              </a:rPr>
              <a:t>ETA engine recalculates from real movement and history</a:t>
            </a:r>
          </a:p>
        </p:txBody>
      </p:sp>
      <p:sp>
        <p:nvSpPr>
          <p:cNvPr id="34" name="Rectangle: Rounded Corners 33">
            <a:extLst>
              <a:ext uri="{FF2B5EF4-FFF2-40B4-BE49-F238E27FC236}">
                <a16:creationId xmlns:a16="http://schemas.microsoft.com/office/drawing/2014/main" id="{D740A1BB-F4B9-4E55-A55E-3E230C67E642}"/>
              </a:ext>
            </a:extLst>
          </p:cNvPr>
          <p:cNvSpPr>
            <a:spLocks noGrp="1"/>
          </p:cNvSpPr>
          <p:nvPr/>
        </p:nvSpPr>
        <p:spPr>
          <a:xfrm>
            <a:off x="10134600" y="1524000"/>
            <a:ext cx="1676400" cy="2286000"/>
          </a:xfrm>
          <a:prstGeom prst="roundRect">
            <a:avLst>
              <a:gd name="adj" fmla="val 7955"/>
            </a:avLst>
          </a:prstGeom>
          <a:solidFill>
            <a:srgbClr val="ECFDF5"/>
          </a:solidFill>
          <a:ln w="19050">
            <a:solidFill>
              <a:srgbClr val="0F766E"/>
            </a:solidFill>
            <a:prstDash val="solid"/>
          </a:ln>
        </p:spPr>
      </p:sp>
      <p:sp>
        <p:nvSpPr>
          <p:cNvPr id="35" name="Oval 34">
            <a:extLst>
              <a:ext uri="{FF2B5EF4-FFF2-40B4-BE49-F238E27FC236}">
                <a16:creationId xmlns:a16="http://schemas.microsoft.com/office/drawing/2014/main" id="{50B86F2C-2F7C-4DC7-8B1B-D232C13AFDFE}"/>
              </a:ext>
            </a:extLst>
          </p:cNvPr>
          <p:cNvSpPr>
            <a:spLocks noGrp="1"/>
          </p:cNvSpPr>
          <p:nvPr/>
        </p:nvSpPr>
        <p:spPr>
          <a:xfrm>
            <a:off x="10687050" y="1695450"/>
            <a:ext cx="571500" cy="571500"/>
          </a:xfrm>
          <a:prstGeom prst="ellipse">
            <a:avLst/>
          </a:prstGeom>
          <a:solidFill>
            <a:srgbClr val="FFFFFF"/>
          </a:solidFill>
          <a:ln w="0">
            <a:noFill/>
            <a:prstDash val="solid"/>
          </a:ln>
        </p:spPr>
      </p:sp>
      <p:pic>
        <p:nvPicPr>
          <p:cNvPr id="99" name="Graphic 98"/>
          <p:cNvPicPr>
            <a:picLocks noChangeAspect="1"/>
          </p:cNvPicPr>
          <p:nvPr/>
        </p:nvPicPr>
        <p:blipFill>
          <a:blip>
            <a:extLst>
              <a:ext uri="{96DAC541-7B7A-43D3-8B79-37D633B846F1}">
                <asvg:svgBlip xmlns:asvg="http://schemas.microsoft.com/office/drawing/2016/SVG/main" r:embed="rId9"/>
              </a:ext>
            </a:extLst>
          </a:blip>
          <a:stretch/>
        </p:blipFill>
        <p:spPr>
          <a:xfrm>
            <a:off x="10848975" y="1857375"/>
            <a:ext cx="247650" cy="247650"/>
          </a:xfrm>
          <a:prstGeom prst="rect">
            <a:avLst/>
          </a:prstGeom>
        </p:spPr>
      </p:pic>
      <p:sp>
        <p:nvSpPr>
          <p:cNvPr id="37" name="Rectangle 36">
            <a:extLst>
              <a:ext uri="{FF2B5EF4-FFF2-40B4-BE49-F238E27FC236}">
                <a16:creationId xmlns:a16="http://schemas.microsoft.com/office/drawing/2014/main" id="{7603381C-E022-4926-9B0D-1E28486EF7D7}"/>
              </a:ext>
            </a:extLst>
          </p:cNvPr>
          <p:cNvSpPr>
            <a:spLocks noGrp="1"/>
          </p:cNvSpPr>
          <p:nvPr/>
        </p:nvSpPr>
        <p:spPr>
          <a:xfrm>
            <a:off x="10401300" y="2381250"/>
            <a:ext cx="1143000" cy="161925"/>
          </a:xfrm>
          <a:prstGeom prst="rect">
            <a:avLst/>
          </a:prstGeom>
          <a:noFill/>
          <a:ln w="0">
            <a:noFill/>
            <a:prstDash val="solid"/>
          </a:ln>
        </p:spPr>
        <p:txBody>
          <a:bodyPr/>
          <a:lstStyle/>
          <a:p>
            <a:pPr algn="ctr">
              <a:defRPr sz="750" b="1" i="0">
                <a:solidFill>
                  <a:srgbClr val="0F766E"/>
                </a:solidFill>
              </a:defRPr>
            </a:pPr>
            <a:r>
              <a:rPr sz="750" b="1" i="0">
                <a:solidFill>
                  <a:srgbClr val="0F766E"/>
                </a:solidFill>
              </a:rPr>
              <a:t>STEP 6</a:t>
            </a:r>
          </a:p>
        </p:txBody>
      </p:sp>
      <p:sp>
        <p:nvSpPr>
          <p:cNvPr id="38" name="Rectangle 37">
            <a:extLst>
              <a:ext uri="{FF2B5EF4-FFF2-40B4-BE49-F238E27FC236}">
                <a16:creationId xmlns:a16="http://schemas.microsoft.com/office/drawing/2014/main" id="{AA22541C-85D6-4AAA-B460-653B128C9F03}"/>
              </a:ext>
            </a:extLst>
          </p:cNvPr>
          <p:cNvSpPr>
            <a:spLocks noGrp="1"/>
          </p:cNvSpPr>
          <p:nvPr/>
        </p:nvSpPr>
        <p:spPr>
          <a:xfrm>
            <a:off x="10287000" y="2638425"/>
            <a:ext cx="1371600" cy="990600"/>
          </a:xfrm>
          <a:prstGeom prst="rect">
            <a:avLst/>
          </a:prstGeom>
          <a:noFill/>
          <a:ln w="0">
            <a:noFill/>
            <a:prstDash val="solid"/>
          </a:ln>
        </p:spPr>
        <p:txBody>
          <a:bodyPr/>
          <a:lstStyle/>
          <a:p>
            <a:pPr algn="ctr">
              <a:defRPr sz="1133" b="1" i="0">
                <a:solidFill>
                  <a:srgbClr val="172554"/>
                </a:solidFill>
              </a:defRPr>
            </a:pPr>
            <a:r>
              <a:rPr sz="1133" b="1" i="0">
                <a:solidFill>
                  <a:srgbClr val="172554"/>
                </a:solidFill>
              </a:rPr>
              <a:t>Passenger's screen updates instantly with no manual refresh</a:t>
            </a:r>
          </a:p>
        </p:txBody>
      </p:sp>
      <p:cxnSp>
        <p:nvCxnSpPr>
          <p:cNvPr id="102" name="Straight Arrow Connector 101"/>
          <p:cNvCxnSpPr>
            <a:stCxn id="9" idx="3"/>
            <a:endCxn id="14" idx="1"/>
          </p:cNvCxnSpPr>
          <p:nvPr/>
        </p:nvCxnSpPr>
        <p:spPr>
          <a:xfrm>
            <a:off x="2095500" y="2667000"/>
            <a:ext cx="266700" cy="0"/>
          </a:xfrm>
          <a:prstGeom prst="straightConnector1">
            <a:avLst/>
          </a:prstGeom>
          <a:ln w="19050">
            <a:solidFill>
              <a:srgbClr val="0F766E"/>
            </a:solidFill>
            <a:prstDash val="solid"/>
            <a:tailEnd type="triangle" w="sm" len="sm"/>
          </a:ln>
        </p:spPr>
      </p:cxnSp>
      <p:cxnSp>
        <p:nvCxnSpPr>
          <p:cNvPr id="103" name="Straight Arrow Connector 102"/>
          <p:cNvCxnSpPr>
            <a:stCxn id="14" idx="3"/>
            <a:endCxn id="19" idx="1"/>
          </p:cNvCxnSpPr>
          <p:nvPr/>
        </p:nvCxnSpPr>
        <p:spPr>
          <a:xfrm>
            <a:off x="4038600" y="2667000"/>
            <a:ext cx="266700" cy="0"/>
          </a:xfrm>
          <a:prstGeom prst="straightConnector1">
            <a:avLst/>
          </a:prstGeom>
          <a:ln w="19050">
            <a:solidFill>
              <a:srgbClr val="0F766E"/>
            </a:solidFill>
            <a:prstDash val="solid"/>
            <a:tailEnd type="triangle" w="sm" len="sm"/>
          </a:ln>
        </p:spPr>
      </p:cxnSp>
      <p:cxnSp>
        <p:nvCxnSpPr>
          <p:cNvPr id="104" name="Straight Arrow Connector 103"/>
          <p:cNvCxnSpPr>
            <a:stCxn id="19" idx="3"/>
            <a:endCxn id="24" idx="1"/>
          </p:cNvCxnSpPr>
          <p:nvPr/>
        </p:nvCxnSpPr>
        <p:spPr>
          <a:xfrm>
            <a:off x="5981700" y="2667000"/>
            <a:ext cx="266700" cy="0"/>
          </a:xfrm>
          <a:prstGeom prst="straightConnector1">
            <a:avLst/>
          </a:prstGeom>
          <a:ln w="19050">
            <a:solidFill>
              <a:srgbClr val="0F766E"/>
            </a:solidFill>
            <a:prstDash val="solid"/>
            <a:tailEnd type="triangle" w="sm" len="sm"/>
          </a:ln>
        </p:spPr>
      </p:cxnSp>
      <p:cxnSp>
        <p:nvCxnSpPr>
          <p:cNvPr id="105" name="Straight Arrow Connector 104"/>
          <p:cNvCxnSpPr>
            <a:stCxn id="24" idx="3"/>
            <a:endCxn id="29" idx="1"/>
          </p:cNvCxnSpPr>
          <p:nvPr/>
        </p:nvCxnSpPr>
        <p:spPr>
          <a:xfrm>
            <a:off x="7924800" y="2667000"/>
            <a:ext cx="266700" cy="0"/>
          </a:xfrm>
          <a:prstGeom prst="straightConnector1">
            <a:avLst/>
          </a:prstGeom>
          <a:ln w="19050">
            <a:solidFill>
              <a:srgbClr val="0F766E"/>
            </a:solidFill>
            <a:prstDash val="solid"/>
            <a:tailEnd type="triangle" w="sm" len="sm"/>
          </a:ln>
        </p:spPr>
      </p:cxnSp>
      <p:cxnSp>
        <p:nvCxnSpPr>
          <p:cNvPr id="106" name="Straight Arrow Connector 105"/>
          <p:cNvCxnSpPr>
            <a:stCxn id="29" idx="3"/>
            <a:endCxn id="34" idx="1"/>
          </p:cNvCxnSpPr>
          <p:nvPr/>
        </p:nvCxnSpPr>
        <p:spPr>
          <a:xfrm>
            <a:off x="9867900" y="2667000"/>
            <a:ext cx="266700" cy="0"/>
          </a:xfrm>
          <a:prstGeom prst="straightConnector1">
            <a:avLst/>
          </a:prstGeom>
          <a:ln w="19050">
            <a:solidFill>
              <a:srgbClr val="0F766E"/>
            </a:solidFill>
            <a:prstDash val="solid"/>
            <a:tailEnd type="triangle" w="sm" len="sm"/>
          </a:ln>
        </p:spPr>
      </p:cxnSp>
      <p:sp>
        <p:nvSpPr>
          <p:cNvPr id="44" name="Rectangle: Rounded Corners 43">
            <a:extLst>
              <a:ext uri="{FF2B5EF4-FFF2-40B4-BE49-F238E27FC236}">
                <a16:creationId xmlns:a16="http://schemas.microsoft.com/office/drawing/2014/main" id="{D0321B7B-CE2D-49D6-AAC1-07256CDC4581}"/>
              </a:ext>
            </a:extLst>
          </p:cNvPr>
          <p:cNvSpPr>
            <a:spLocks noGrp="1"/>
          </p:cNvSpPr>
          <p:nvPr/>
        </p:nvSpPr>
        <p:spPr>
          <a:xfrm>
            <a:off x="6353175" y="4410075"/>
            <a:ext cx="1676400" cy="514350"/>
          </a:xfrm>
          <a:prstGeom prst="roundRect">
            <a:avLst>
              <a:gd name="adj" fmla="val 24074"/>
            </a:avLst>
          </a:prstGeom>
          <a:solidFill>
            <a:srgbClr val="FFF7ED"/>
          </a:solidFill>
          <a:ln w="14288">
            <a:solidFill>
              <a:srgbClr val="EA580C"/>
            </a:solidFill>
            <a:prstDash val="solid"/>
          </a:ln>
        </p:spPr>
      </p:sp>
      <p:pic>
        <p:nvPicPr>
          <p:cNvPr id="108" name="Graphic 107"/>
          <p:cNvPicPr>
            <a:picLocks noChangeAspect="1"/>
          </p:cNvPicPr>
          <p:nvPr/>
        </p:nvPicPr>
        <p:blipFill>
          <a:blip>
            <a:extLst>
              <a:ext uri="{96DAC541-7B7A-43D3-8B79-37D633B846F1}">
                <asvg:svgBlip xmlns:asvg="http://schemas.microsoft.com/office/drawing/2016/SVG/main" r:embed="rId10"/>
              </a:ext>
            </a:extLst>
          </a:blip>
          <a:stretch/>
        </p:blipFill>
        <p:spPr>
          <a:xfrm>
            <a:off x="6505575" y="4543425"/>
            <a:ext cx="247650" cy="247650"/>
          </a:xfrm>
          <a:prstGeom prst="rect">
            <a:avLst/>
          </a:prstGeom>
        </p:spPr>
      </p:pic>
      <p:sp>
        <p:nvSpPr>
          <p:cNvPr id="46" name="Rectangle 45">
            <a:extLst>
              <a:ext uri="{FF2B5EF4-FFF2-40B4-BE49-F238E27FC236}">
                <a16:creationId xmlns:a16="http://schemas.microsoft.com/office/drawing/2014/main" id="{E89D776B-D3E7-4FF1-8CBF-FA0A6F3ABC7B}"/>
              </a:ext>
            </a:extLst>
          </p:cNvPr>
          <p:cNvSpPr>
            <a:spLocks noGrp="1"/>
          </p:cNvSpPr>
          <p:nvPr/>
        </p:nvSpPr>
        <p:spPr>
          <a:xfrm>
            <a:off x="6848475" y="4514850"/>
            <a:ext cx="1047750" cy="342900"/>
          </a:xfrm>
          <a:prstGeom prst="rect">
            <a:avLst/>
          </a:prstGeom>
          <a:noFill/>
          <a:ln w="0">
            <a:noFill/>
            <a:prstDash val="solid"/>
          </a:ln>
        </p:spPr>
        <p:txBody>
          <a:bodyPr/>
          <a:lstStyle/>
          <a:p>
            <a:pPr algn="ctr">
              <a:defRPr sz="1013" b="1" i="0">
                <a:solidFill>
                  <a:srgbClr val="172554"/>
                </a:solidFill>
              </a:defRPr>
            </a:pPr>
            <a:r>
              <a:rPr sz="1013" b="1" i="0">
                <a:solidFill>
                  <a:srgbClr val="172554"/>
                </a:solidFill>
              </a:rPr>
              <a:t>If an issue is reported</a:t>
            </a:r>
          </a:p>
        </p:txBody>
      </p:sp>
      <p:sp>
        <p:nvSpPr>
          <p:cNvPr id="47" name="Rectangle: Rounded Corners 46">
            <a:extLst>
              <a:ext uri="{FF2B5EF4-FFF2-40B4-BE49-F238E27FC236}">
                <a16:creationId xmlns:a16="http://schemas.microsoft.com/office/drawing/2014/main" id="{841DAC2C-477A-45CD-9307-D39E4BE7A823}"/>
              </a:ext>
            </a:extLst>
          </p:cNvPr>
          <p:cNvSpPr>
            <a:spLocks noGrp="1"/>
          </p:cNvSpPr>
          <p:nvPr/>
        </p:nvSpPr>
        <p:spPr>
          <a:xfrm>
            <a:off x="8267700" y="4248150"/>
            <a:ext cx="1428750" cy="800100"/>
          </a:xfrm>
          <a:prstGeom prst="roundRect">
            <a:avLst>
              <a:gd name="adj" fmla="val 15476"/>
            </a:avLst>
          </a:prstGeom>
          <a:solidFill>
            <a:srgbClr val="FFFFFF"/>
          </a:solidFill>
          <a:ln w="14288">
            <a:solidFill>
              <a:srgbClr val="1E3A8A"/>
            </a:solidFill>
            <a:prstDash val="solid"/>
          </a:ln>
        </p:spPr>
      </p:sp>
      <p:pic>
        <p:nvPicPr>
          <p:cNvPr id="111" name="Graphic 110"/>
          <p:cNvPicPr>
            <a:picLocks noChangeAspect="1"/>
          </p:cNvPicPr>
          <p:nvPr/>
        </p:nvPicPr>
        <p:blipFill>
          <a:blip>
            <a:extLst>
              <a:ext uri="{96DAC541-7B7A-43D3-8B79-37D633B846F1}">
                <asvg:svgBlip xmlns:asvg="http://schemas.microsoft.com/office/drawing/2016/SVG/main" r:embed="rId11"/>
              </a:ext>
            </a:extLst>
          </a:blip>
          <a:stretch/>
        </p:blipFill>
        <p:spPr>
          <a:xfrm>
            <a:off x="8420100" y="4524375"/>
            <a:ext cx="247650" cy="247650"/>
          </a:xfrm>
          <a:prstGeom prst="rect">
            <a:avLst/>
          </a:prstGeom>
        </p:spPr>
      </p:pic>
      <p:sp>
        <p:nvSpPr>
          <p:cNvPr id="49" name="Rectangle 48">
            <a:extLst>
              <a:ext uri="{FF2B5EF4-FFF2-40B4-BE49-F238E27FC236}">
                <a16:creationId xmlns:a16="http://schemas.microsoft.com/office/drawing/2014/main" id="{8E0A1F43-E0FA-446E-AA2F-042E5D62AE81}"/>
              </a:ext>
            </a:extLst>
          </p:cNvPr>
          <p:cNvSpPr>
            <a:spLocks noGrp="1"/>
          </p:cNvSpPr>
          <p:nvPr/>
        </p:nvSpPr>
        <p:spPr>
          <a:xfrm>
            <a:off x="8763000" y="4352925"/>
            <a:ext cx="800100" cy="628650"/>
          </a:xfrm>
          <a:prstGeom prst="rect">
            <a:avLst/>
          </a:prstGeom>
          <a:noFill/>
          <a:ln w="0">
            <a:noFill/>
            <a:prstDash val="solid"/>
          </a:ln>
        </p:spPr>
        <p:txBody>
          <a:bodyPr/>
          <a:lstStyle/>
          <a:p>
            <a:pPr algn="ctr">
              <a:defRPr sz="1013" b="1" i="0">
                <a:solidFill>
                  <a:srgbClr val="172554"/>
                </a:solidFill>
              </a:defRPr>
            </a:pPr>
            <a:r>
              <a:rPr sz="1013" b="1" i="0">
                <a:solidFill>
                  <a:srgbClr val="172554"/>
                </a:solidFill>
              </a:rPr>
              <a:t>Status changes</a:t>
            </a:r>
          </a:p>
        </p:txBody>
      </p:sp>
      <p:sp>
        <p:nvSpPr>
          <p:cNvPr id="50" name="Rectangle: Rounded Corners 49">
            <a:extLst>
              <a:ext uri="{FF2B5EF4-FFF2-40B4-BE49-F238E27FC236}">
                <a16:creationId xmlns:a16="http://schemas.microsoft.com/office/drawing/2014/main" id="{7184D4FF-94FF-4EDF-8550-99022A9A9739}"/>
              </a:ext>
            </a:extLst>
          </p:cNvPr>
          <p:cNvSpPr>
            <a:spLocks noGrp="1"/>
          </p:cNvSpPr>
          <p:nvPr/>
        </p:nvSpPr>
        <p:spPr>
          <a:xfrm>
            <a:off x="9858375" y="4248150"/>
            <a:ext cx="1571625" cy="800100"/>
          </a:xfrm>
          <a:prstGeom prst="roundRect">
            <a:avLst>
              <a:gd name="adj" fmla="val 15476"/>
            </a:avLst>
          </a:prstGeom>
          <a:solidFill>
            <a:srgbClr val="FFFFFF"/>
          </a:solidFill>
          <a:ln w="14288">
            <a:solidFill>
              <a:srgbClr val="0F766E"/>
            </a:solidFill>
            <a:prstDash val="solid"/>
          </a:ln>
        </p:spPr>
      </p:sp>
      <p:pic>
        <p:nvPicPr>
          <p:cNvPr id="114" name="Graphic 113"/>
          <p:cNvPicPr>
            <a:picLocks noChangeAspect="1"/>
          </p:cNvPicPr>
          <p:nvPr/>
        </p:nvPicPr>
        <p:blipFill>
          <a:blip>
            <a:extLst>
              <a:ext uri="{96DAC541-7B7A-43D3-8B79-37D633B846F1}">
                <asvg:svgBlip xmlns:asvg="http://schemas.microsoft.com/office/drawing/2016/SVG/main" r:embed="rId12"/>
              </a:ext>
            </a:extLst>
          </a:blip>
          <a:stretch/>
        </p:blipFill>
        <p:spPr>
          <a:xfrm>
            <a:off x="10010775" y="4524375"/>
            <a:ext cx="247650" cy="247650"/>
          </a:xfrm>
          <a:prstGeom prst="rect">
            <a:avLst/>
          </a:prstGeom>
        </p:spPr>
      </p:pic>
      <p:sp>
        <p:nvSpPr>
          <p:cNvPr id="52" name="Rectangle 51">
            <a:extLst>
              <a:ext uri="{FF2B5EF4-FFF2-40B4-BE49-F238E27FC236}">
                <a16:creationId xmlns:a16="http://schemas.microsoft.com/office/drawing/2014/main" id="{1352F8CD-9492-4A3E-9E1B-95F2A4F7750C}"/>
              </a:ext>
            </a:extLst>
          </p:cNvPr>
          <p:cNvSpPr>
            <a:spLocks noGrp="1"/>
          </p:cNvSpPr>
          <p:nvPr/>
        </p:nvSpPr>
        <p:spPr>
          <a:xfrm>
            <a:off x="10353675" y="4352925"/>
            <a:ext cx="942975" cy="628650"/>
          </a:xfrm>
          <a:prstGeom prst="rect">
            <a:avLst/>
          </a:prstGeom>
          <a:noFill/>
          <a:ln w="0">
            <a:noFill/>
            <a:prstDash val="solid"/>
          </a:ln>
        </p:spPr>
        <p:txBody>
          <a:bodyPr/>
          <a:lstStyle/>
          <a:p>
            <a:pPr algn="ctr">
              <a:defRPr sz="938" b="1" i="0">
                <a:solidFill>
                  <a:srgbClr val="172554"/>
                </a:solidFill>
              </a:defRPr>
            </a:pPr>
            <a:r>
              <a:rPr sz="938" b="1" i="0">
                <a:solidFill>
                  <a:srgbClr val="172554"/>
                </a:solidFill>
              </a:rPr>
              <a:t>Passengers</a:t>
            </a:r>
          </a:p>
          <a:p>
            <a:pPr algn="ctr">
              <a:defRPr sz="938" b="1" i="0">
                <a:solidFill>
                  <a:srgbClr val="172554"/>
                </a:solidFill>
              </a:defRPr>
            </a:pPr>
            <a:r>
              <a:rPr sz="938" b="1" i="0">
                <a:solidFill>
                  <a:srgbClr val="172554"/>
                </a:solidFill>
              </a:rPr>
              <a:t>notified</a:t>
            </a:r>
          </a:p>
        </p:txBody>
      </p:sp>
      <p:sp>
        <p:nvSpPr>
          <p:cNvPr id="53" name="Rectangle: Rounded Corners 52">
            <a:extLst>
              <a:ext uri="{FF2B5EF4-FFF2-40B4-BE49-F238E27FC236}">
                <a16:creationId xmlns:a16="http://schemas.microsoft.com/office/drawing/2014/main" id="{B5FAC2B5-DB69-4BCE-8D98-EB9A23FEBFB1}"/>
              </a:ext>
            </a:extLst>
          </p:cNvPr>
          <p:cNvSpPr>
            <a:spLocks noGrp="1"/>
          </p:cNvSpPr>
          <p:nvPr/>
        </p:nvSpPr>
        <p:spPr>
          <a:xfrm>
            <a:off x="9858375" y="5295900"/>
            <a:ext cx="1571625" cy="628650"/>
          </a:xfrm>
          <a:prstGeom prst="roundRect">
            <a:avLst>
              <a:gd name="adj" fmla="val 19697"/>
            </a:avLst>
          </a:prstGeom>
          <a:solidFill>
            <a:srgbClr val="ECFDF5"/>
          </a:solidFill>
          <a:ln w="14288">
            <a:solidFill>
              <a:srgbClr val="0F766E"/>
            </a:solidFill>
            <a:prstDash val="solid"/>
          </a:ln>
        </p:spPr>
      </p:sp>
      <p:pic>
        <p:nvPicPr>
          <p:cNvPr id="117" name="Graphic 116"/>
          <p:cNvPicPr>
            <a:picLocks noChangeAspect="1"/>
          </p:cNvPicPr>
          <p:nvPr/>
        </p:nvPicPr>
        <p:blipFill>
          <a:blip>
            <a:extLst>
              <a:ext uri="{96DAC541-7B7A-43D3-8B79-37D633B846F1}">
                <asvg:svgBlip xmlns:asvg="http://schemas.microsoft.com/office/drawing/2016/SVG/main" r:embed="rId13"/>
              </a:ext>
            </a:extLst>
          </a:blip>
          <a:stretch/>
        </p:blipFill>
        <p:spPr>
          <a:xfrm>
            <a:off x="10010775" y="5486400"/>
            <a:ext cx="247650" cy="247650"/>
          </a:xfrm>
          <a:prstGeom prst="rect">
            <a:avLst/>
          </a:prstGeom>
        </p:spPr>
      </p:pic>
      <p:sp>
        <p:nvSpPr>
          <p:cNvPr id="55" name="Rectangle 54">
            <a:extLst>
              <a:ext uri="{FF2B5EF4-FFF2-40B4-BE49-F238E27FC236}">
                <a16:creationId xmlns:a16="http://schemas.microsoft.com/office/drawing/2014/main" id="{E6A4C443-74EB-426A-9C4A-C65BC7025F30}"/>
              </a:ext>
            </a:extLst>
          </p:cNvPr>
          <p:cNvSpPr>
            <a:spLocks noGrp="1"/>
          </p:cNvSpPr>
          <p:nvPr/>
        </p:nvSpPr>
        <p:spPr>
          <a:xfrm>
            <a:off x="10353675" y="5400675"/>
            <a:ext cx="942975" cy="457200"/>
          </a:xfrm>
          <a:prstGeom prst="rect">
            <a:avLst/>
          </a:prstGeom>
          <a:noFill/>
          <a:ln w="0">
            <a:noFill/>
            <a:prstDash val="solid"/>
          </a:ln>
        </p:spPr>
        <p:txBody>
          <a:bodyPr/>
          <a:lstStyle/>
          <a:p>
            <a:pPr algn="ctr">
              <a:defRPr sz="863" b="1" i="0">
                <a:solidFill>
                  <a:srgbClr val="172554"/>
                </a:solidFill>
              </a:defRPr>
            </a:pPr>
            <a:r>
              <a:rPr sz="863" b="1" i="0">
                <a:solidFill>
                  <a:srgbClr val="172554"/>
                </a:solidFill>
              </a:rPr>
              <a:t>Next available</a:t>
            </a:r>
          </a:p>
          <a:p>
            <a:pPr algn="ctr">
              <a:defRPr sz="863" b="1" i="0">
                <a:solidFill>
                  <a:srgbClr val="172554"/>
                </a:solidFill>
              </a:defRPr>
            </a:pPr>
            <a:r>
              <a:rPr sz="863" b="1" i="0">
                <a:solidFill>
                  <a:srgbClr val="172554"/>
                </a:solidFill>
              </a:rPr>
              <a:t>bus shown</a:t>
            </a:r>
          </a:p>
        </p:txBody>
      </p:sp>
      <p:cxnSp>
        <p:nvCxnSpPr>
          <p:cNvPr id="119" name="Connector: Elbow 118"/>
          <p:cNvCxnSpPr>
            <a:stCxn id="34" idx="2"/>
            <a:endCxn id="44" idx="0"/>
          </p:cNvCxnSpPr>
          <p:nvPr/>
        </p:nvCxnSpPr>
        <p:spPr>
          <a:xfrm flipH="1">
            <a:off x="7191375" y="3810000"/>
            <a:ext cx="3781425" cy="600075"/>
          </a:xfrm>
          <a:prstGeom prst="bentConnector4">
            <a:avLst>
              <a:gd name="adj1" fmla="val 0"/>
              <a:gd name="adj2" fmla="val 50000"/>
            </a:avLst>
          </a:prstGeom>
          <a:ln w="17145">
            <a:solidFill>
              <a:srgbClr val="EA580C"/>
            </a:solidFill>
            <a:prstDash val="solid"/>
            <a:tailEnd type="triangle" w="sm" len="sm"/>
          </a:ln>
        </p:spPr>
      </p:cxnSp>
      <p:cxnSp>
        <p:nvCxnSpPr>
          <p:cNvPr id="120" name="Straight Arrow Connector 119"/>
          <p:cNvCxnSpPr>
            <a:stCxn id="44" idx="3"/>
            <a:endCxn id="47" idx="1"/>
          </p:cNvCxnSpPr>
          <p:nvPr/>
        </p:nvCxnSpPr>
        <p:spPr>
          <a:xfrm flipV="1">
            <a:off x="8029575" y="4648200"/>
            <a:ext cx="238125" cy="19050"/>
          </a:xfrm>
          <a:prstGeom prst="straightConnector1">
            <a:avLst/>
          </a:prstGeom>
          <a:ln w="17145">
            <a:solidFill>
              <a:srgbClr val="EA580C"/>
            </a:solidFill>
            <a:prstDash val="solid"/>
            <a:tailEnd type="triangle" w="sm" len="sm"/>
          </a:ln>
        </p:spPr>
      </p:cxnSp>
      <p:cxnSp>
        <p:nvCxnSpPr>
          <p:cNvPr id="121" name="Straight Arrow Connector 120"/>
          <p:cNvCxnSpPr>
            <a:stCxn id="47" idx="3"/>
            <a:endCxn id="50" idx="1"/>
          </p:cNvCxnSpPr>
          <p:nvPr/>
        </p:nvCxnSpPr>
        <p:spPr>
          <a:xfrm>
            <a:off x="9696450" y="4648200"/>
            <a:ext cx="161925" cy="0"/>
          </a:xfrm>
          <a:prstGeom prst="straightConnector1">
            <a:avLst/>
          </a:prstGeom>
          <a:ln w="17145">
            <a:solidFill>
              <a:srgbClr val="EA580C"/>
            </a:solidFill>
            <a:prstDash val="solid"/>
            <a:tailEnd type="triangle" w="sm" len="sm"/>
          </a:ln>
        </p:spPr>
      </p:cxnSp>
      <p:cxnSp>
        <p:nvCxnSpPr>
          <p:cNvPr id="122" name="Straight Arrow Connector 121"/>
          <p:cNvCxnSpPr>
            <a:stCxn id="50" idx="2"/>
            <a:endCxn id="53" idx="0"/>
          </p:cNvCxnSpPr>
          <p:nvPr/>
        </p:nvCxnSpPr>
        <p:spPr>
          <a:xfrm>
            <a:off x="10644188" y="5048250"/>
            <a:ext cx="0" cy="247650"/>
          </a:xfrm>
          <a:prstGeom prst="straightConnector1">
            <a:avLst/>
          </a:prstGeom>
          <a:ln w="17145">
            <a:solidFill>
              <a:srgbClr val="EA580C"/>
            </a:solidFill>
            <a:prstDash val="solid"/>
            <a:tailEnd type="triangle" w="sm" len="sm"/>
          </a:ln>
        </p:spPr>
      </p:cxnSp>
      <p:sp>
        <p:nvSpPr>
          <p:cNvPr id="60" name="Rectangle: Rounded Corners 59">
            <a:extLst>
              <a:ext uri="{FF2B5EF4-FFF2-40B4-BE49-F238E27FC236}">
                <a16:creationId xmlns:a16="http://schemas.microsoft.com/office/drawing/2014/main" id="{CBCA7639-15E9-40B2-9DDC-4AE8C0EB7E1D}"/>
              </a:ext>
            </a:extLst>
          </p:cNvPr>
          <p:cNvSpPr>
            <a:spLocks noGrp="1"/>
          </p:cNvSpPr>
          <p:nvPr/>
        </p:nvSpPr>
        <p:spPr>
          <a:xfrm>
            <a:off x="590550" y="4572000"/>
            <a:ext cx="5143500" cy="1200150"/>
          </a:xfrm>
          <a:prstGeom prst="roundRect">
            <a:avLst>
              <a:gd name="adj" fmla="val 12698"/>
            </a:avLst>
          </a:prstGeom>
          <a:solidFill>
            <a:srgbClr val="1E3A8A"/>
          </a:solidFill>
          <a:ln w="0">
            <a:noFill/>
            <a:prstDash val="solid"/>
          </a:ln>
        </p:spPr>
      </p:sp>
      <p:pic>
        <p:nvPicPr>
          <p:cNvPr id="124" name="Graphic 123"/>
          <p:cNvPicPr>
            <a:picLocks noChangeAspect="1"/>
          </p:cNvPicPr>
          <p:nvPr/>
        </p:nvPicPr>
        <p:blipFill>
          <a:blip>
            <a:extLst>
              <a:ext uri="{96DAC541-7B7A-43D3-8B79-37D633B846F1}">
                <asvg:svgBlip xmlns:asvg="http://schemas.microsoft.com/office/drawing/2016/SVG/main" r:embed="rId14"/>
              </a:ext>
            </a:extLst>
          </a:blip>
          <a:stretch/>
        </p:blipFill>
        <p:spPr>
          <a:xfrm>
            <a:off x="838200" y="4914900"/>
            <a:ext cx="342900" cy="342900"/>
          </a:xfrm>
          <a:prstGeom prst="rect">
            <a:avLst/>
          </a:prstGeom>
        </p:spPr>
      </p:pic>
      <p:sp>
        <p:nvSpPr>
          <p:cNvPr id="62" name="Rectangle 61">
            <a:extLst>
              <a:ext uri="{FF2B5EF4-FFF2-40B4-BE49-F238E27FC236}">
                <a16:creationId xmlns:a16="http://schemas.microsoft.com/office/drawing/2014/main" id="{7BA012B3-E884-452A-8838-898976DBDEE7}"/>
              </a:ext>
            </a:extLst>
          </p:cNvPr>
          <p:cNvSpPr>
            <a:spLocks noGrp="1"/>
          </p:cNvSpPr>
          <p:nvPr/>
        </p:nvSpPr>
        <p:spPr>
          <a:xfrm>
            <a:off x="1390650" y="4791075"/>
            <a:ext cx="4000500" cy="266700"/>
          </a:xfrm>
          <a:prstGeom prst="rect">
            <a:avLst/>
          </a:prstGeom>
          <a:noFill/>
          <a:ln w="0">
            <a:noFill/>
            <a:prstDash val="solid"/>
          </a:ln>
        </p:spPr>
        <p:txBody>
          <a:bodyPr/>
          <a:lstStyle/>
          <a:p>
            <a:pPr algn="ctr">
              <a:defRPr sz="1500" b="1" i="0">
                <a:solidFill>
                  <a:srgbClr val="FFFFFF"/>
                </a:solidFill>
              </a:defRPr>
            </a:pPr>
            <a:r>
              <a:rPr sz="1500" b="1" i="0">
                <a:solidFill>
                  <a:srgbClr val="FFFFFF"/>
                </a:solidFill>
              </a:rPr>
              <a:t>Live movement drives every update</a:t>
            </a:r>
          </a:p>
        </p:txBody>
      </p:sp>
      <p:sp>
        <p:nvSpPr>
          <p:cNvPr id="63" name="Rectangle 62">
            <a:extLst>
              <a:ext uri="{FF2B5EF4-FFF2-40B4-BE49-F238E27FC236}">
                <a16:creationId xmlns:a16="http://schemas.microsoft.com/office/drawing/2014/main" id="{6B01A3B2-DC77-41EF-A45F-4FD1AAED3F1E}"/>
              </a:ext>
            </a:extLst>
          </p:cNvPr>
          <p:cNvSpPr>
            <a:spLocks noGrp="1"/>
          </p:cNvSpPr>
          <p:nvPr/>
        </p:nvSpPr>
        <p:spPr>
          <a:xfrm>
            <a:off x="1390650" y="5153025"/>
            <a:ext cx="4000500" cy="428625"/>
          </a:xfrm>
          <a:prstGeom prst="rect">
            <a:avLst/>
          </a:prstGeom>
          <a:noFill/>
          <a:ln w="0">
            <a:noFill/>
            <a:prstDash val="solid"/>
          </a:ln>
        </p:spPr>
        <p:txBody>
          <a:bodyPr/>
          <a:lstStyle/>
          <a:p>
            <a:pPr algn="ctr">
              <a:defRPr sz="1125" b="0" i="0">
                <a:solidFill>
                  <a:srgbClr val="DBEAFE"/>
                </a:solidFill>
              </a:defRPr>
            </a:pPr>
            <a:r>
              <a:rPr sz="1125" b="0" i="0">
                <a:solidFill>
                  <a:srgbClr val="DBEAFE"/>
                </a:solidFill>
              </a:rPr>
              <a:t>The passenger sees real bus behavior, not only the published schedule.</a:t>
            </a:r>
          </a:p>
        </p:txBody>
      </p:sp>
    </p:spTree>
    <p:extLst>
      <p:ext uri="{BB962C8B-B14F-4D97-AF65-F5344CB8AC3E}">
        <p14:creationId xmlns:p14="http://schemas.microsoft.com/office/powerpoint/2010/main" val="802307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Rectangle: Rounded Corners 42">
            <a:extLst>
              <a:ext uri="{FF2B5EF4-FFF2-40B4-BE49-F238E27FC236}">
                <a16:creationId xmlns:a16="http://schemas.microsoft.com/office/drawing/2014/main" id="{519506D3-7A45-4899-8F65-891F50908571}"/>
              </a:ext>
            </a:extLst>
          </p:cNvPr>
          <p:cNvSpPr>
            <a:spLocks noGrp="1"/>
          </p:cNvSpPr>
          <p:nvPr/>
        </p:nvSpPr>
        <p:spPr>
          <a:xfrm>
            <a:off x="514350" y="323850"/>
            <a:ext cx="76200" cy="552450"/>
          </a:xfrm>
          <a:prstGeom prst="roundRect">
            <a:avLst>
              <a:gd name="adj" fmla="val 50000"/>
            </a:avLst>
          </a:prstGeom>
          <a:solidFill>
            <a:srgbClr val="EA580C"/>
          </a:solidFill>
          <a:ln w="0">
            <a:noFill/>
            <a:prstDash val="solid"/>
          </a:ln>
        </p:spPr>
      </p:sp>
      <p:sp>
        <p:nvSpPr>
          <p:cNvPr id="2" name="Oval 1">
            <a:extLst>
              <a:ext uri="{FF2B5EF4-FFF2-40B4-BE49-F238E27FC236}">
                <a16:creationId xmlns:a16="http://schemas.microsoft.com/office/drawing/2014/main" id="{3A0DC990-1CD9-4C42-BBD2-4FAA66F9EEC5}"/>
              </a:ext>
            </a:extLst>
          </p:cNvPr>
          <p:cNvSpPr>
            <a:spLocks noGrp="1"/>
          </p:cNvSpPr>
          <p:nvPr/>
        </p:nvSpPr>
        <p:spPr>
          <a:xfrm>
            <a:off x="742950" y="361950"/>
            <a:ext cx="457200" cy="457200"/>
          </a:xfrm>
          <a:prstGeom prst="ellipse">
            <a:avLst/>
          </a:prstGeom>
          <a:solidFill>
            <a:srgbClr val="EEF2FF"/>
          </a:solidFill>
          <a:ln w="0">
            <a:noFill/>
            <a:prstDash val="solid"/>
          </a:ln>
        </p:spPr>
      </p:sp>
      <p:pic>
        <p:nvPicPr>
          <p:cNvPr id="45" name="Graphic 44"/>
          <p:cNvPicPr>
            <a:picLocks noChangeAspect="1"/>
          </p:cNvPicPr>
          <p:nvPr/>
        </p:nvPicPr>
        <p:blipFill>
          <a:blip>
            <a:extLst>
              <a:ext uri="{96DAC541-7B7A-43D3-8B79-37D633B846F1}">
                <asvg:svgBlip xmlns:asvg="http://schemas.microsoft.com/office/drawing/2016/SVG/main" r:embed="rId3"/>
              </a:ext>
            </a:extLst>
          </a:blip>
          <a:stretch/>
        </p:blipFill>
        <p:spPr>
          <a:xfrm>
            <a:off x="848106" y="467106"/>
            <a:ext cx="246888" cy="246888"/>
          </a:xfrm>
          <a:prstGeom prst="rect">
            <a:avLst/>
          </a:prstGeom>
        </p:spPr>
      </p:pic>
      <p:sp>
        <p:nvSpPr>
          <p:cNvPr id="4" name="Rectangle 3">
            <a:extLst>
              <a:ext uri="{FF2B5EF4-FFF2-40B4-BE49-F238E27FC236}">
                <a16:creationId xmlns:a16="http://schemas.microsoft.com/office/drawing/2014/main" id="{AC2F855E-2420-4221-B29C-7EC7E8E4CBF6}"/>
              </a:ext>
            </a:extLst>
          </p:cNvPr>
          <p:cNvSpPr>
            <a:spLocks noGrp="1"/>
          </p:cNvSpPr>
          <p:nvPr/>
        </p:nvSpPr>
        <p:spPr>
          <a:xfrm>
            <a:off x="1352550" y="361950"/>
            <a:ext cx="4762500" cy="171450"/>
          </a:xfrm>
          <a:prstGeom prst="rect">
            <a:avLst/>
          </a:prstGeom>
          <a:noFill/>
          <a:ln w="0">
            <a:noFill/>
            <a:prstDash val="solid"/>
          </a:ln>
        </p:spPr>
        <p:txBody>
          <a:bodyPr/>
          <a:lstStyle/>
          <a:p>
            <a:pPr algn="l">
              <a:defRPr sz="825" b="1" i="0">
                <a:solidFill>
                  <a:srgbClr val="0F766E"/>
                </a:solidFill>
              </a:defRPr>
            </a:pPr>
            <a:r>
              <a:rPr sz="825" b="1" i="0">
                <a:solidFill>
                  <a:srgbClr val="0F766E"/>
                </a:solidFill>
              </a:rPr>
              <a:t>INCIDENT RESPONSE</a:t>
            </a:r>
          </a:p>
        </p:txBody>
      </p:sp>
      <p:sp>
        <p:nvSpPr>
          <p:cNvPr id="5" name="Rectangle 4">
            <a:extLst>
              <a:ext uri="{FF2B5EF4-FFF2-40B4-BE49-F238E27FC236}">
                <a16:creationId xmlns:a16="http://schemas.microsoft.com/office/drawing/2014/main" id="{586D2F00-5E57-435D-9345-EA13483940B2}"/>
              </a:ext>
            </a:extLst>
          </p:cNvPr>
          <p:cNvSpPr>
            <a:spLocks noGrp="1"/>
          </p:cNvSpPr>
          <p:nvPr/>
        </p:nvSpPr>
        <p:spPr>
          <a:xfrm>
            <a:off x="1352550" y="552450"/>
            <a:ext cx="9906000" cy="409575"/>
          </a:xfrm>
          <a:prstGeom prst="rect">
            <a:avLst/>
          </a:prstGeom>
          <a:noFill/>
          <a:ln w="0">
            <a:noFill/>
            <a:prstDash val="solid"/>
          </a:ln>
        </p:spPr>
        <p:txBody>
          <a:bodyPr/>
          <a:lstStyle/>
          <a:p>
            <a:pPr algn="l">
              <a:defRPr sz="2550" b="1" i="0">
                <a:solidFill>
                  <a:srgbClr val="172554"/>
                </a:solidFill>
              </a:defRPr>
            </a:pPr>
            <a:r>
              <a:rPr sz="2550" b="1" i="0">
                <a:solidFill>
                  <a:srgbClr val="172554"/>
                </a:solidFill>
              </a:rPr>
              <a:t>Breakdown and Delay Handling Flow</a:t>
            </a:r>
          </a:p>
        </p:txBody>
      </p:sp>
      <p:sp>
        <p:nvSpPr>
          <p:cNvPr id="6" name="Straight Connector 5">
            <a:extLst>
              <a:ext uri="{FF2B5EF4-FFF2-40B4-BE49-F238E27FC236}">
                <a16:creationId xmlns:a16="http://schemas.microsoft.com/office/drawing/2014/main" id="{7F2B412D-865B-4A89-8EF3-098972FD07AA}"/>
              </a:ext>
            </a:extLst>
          </p:cNvPr>
          <p:cNvSpPr>
            <a:spLocks noGrp="1"/>
          </p:cNvSpPr>
          <p:nvPr/>
        </p:nvSpPr>
        <p:spPr>
          <a:xfrm>
            <a:off x="514350" y="6419850"/>
            <a:ext cx="11163300" cy="0"/>
          </a:xfrm>
          <a:prstGeom prst="line">
            <a:avLst/>
          </a:prstGeom>
          <a:noFill/>
          <a:ln w="9525">
            <a:solidFill>
              <a:srgbClr val="D1D5DB"/>
            </a:solidFill>
            <a:prstDash val="solid"/>
          </a:ln>
        </p:spPr>
      </p:sp>
      <p:sp>
        <p:nvSpPr>
          <p:cNvPr id="7" name="Rectangle 6">
            <a:extLst>
              <a:ext uri="{FF2B5EF4-FFF2-40B4-BE49-F238E27FC236}">
                <a16:creationId xmlns:a16="http://schemas.microsoft.com/office/drawing/2014/main" id="{9C2FEC1E-5979-4FFC-99D2-F50C6E6667F2}"/>
              </a:ext>
            </a:extLst>
          </p:cNvPr>
          <p:cNvSpPr>
            <a:spLocks noGrp="1"/>
          </p:cNvSpPr>
          <p:nvPr/>
        </p:nvSpPr>
        <p:spPr>
          <a:xfrm>
            <a:off x="571500" y="6515100"/>
            <a:ext cx="6858000" cy="171450"/>
          </a:xfrm>
          <a:prstGeom prst="rect">
            <a:avLst/>
          </a:prstGeom>
          <a:noFill/>
          <a:ln w="0">
            <a:noFill/>
            <a:prstDash val="solid"/>
          </a:ln>
        </p:spPr>
        <p:txBody>
          <a:bodyPr/>
          <a:lstStyle/>
          <a:p>
            <a:pPr algn="l">
              <a:defRPr sz="825" b="1" i="0">
                <a:solidFill>
                  <a:srgbClr val="4B5563"/>
                </a:solidFill>
              </a:defRPr>
            </a:pPr>
            <a:r>
              <a:rPr sz="825" b="1" i="0" dirty="0">
                <a:solidFill>
                  <a:srgbClr val="4B5563"/>
                </a:solidFill>
              </a:rPr>
              <a:t>Smart Public Bus Management System </a:t>
            </a:r>
          </a:p>
        </p:txBody>
      </p:sp>
      <p:sp>
        <p:nvSpPr>
          <p:cNvPr id="8" name="Rectangle 7">
            <a:extLst>
              <a:ext uri="{FF2B5EF4-FFF2-40B4-BE49-F238E27FC236}">
                <a16:creationId xmlns:a16="http://schemas.microsoft.com/office/drawing/2014/main" id="{5E943F63-E166-4784-9C5A-76A266C40622}"/>
              </a:ext>
            </a:extLst>
          </p:cNvPr>
          <p:cNvSpPr>
            <a:spLocks noGrp="1"/>
          </p:cNvSpPr>
          <p:nvPr/>
        </p:nvSpPr>
        <p:spPr>
          <a:xfrm>
            <a:off x="11049000" y="6505575"/>
            <a:ext cx="571500" cy="171450"/>
          </a:xfrm>
          <a:prstGeom prst="rect">
            <a:avLst/>
          </a:prstGeom>
          <a:noFill/>
          <a:ln w="0">
            <a:noFill/>
            <a:prstDash val="solid"/>
          </a:ln>
        </p:spPr>
        <p:txBody>
          <a:bodyPr/>
          <a:lstStyle/>
          <a:p>
            <a:pPr algn="r">
              <a:defRPr sz="825" b="1" i="0">
                <a:solidFill>
                  <a:srgbClr val="1E3A8A"/>
                </a:solidFill>
              </a:defRPr>
            </a:pPr>
            <a:r>
              <a:rPr sz="825" b="1" i="0">
                <a:solidFill>
                  <a:srgbClr val="1E3A8A"/>
                </a:solidFill>
              </a:rPr>
              <a:t>09</a:t>
            </a:r>
          </a:p>
        </p:txBody>
      </p:sp>
      <p:sp>
        <p:nvSpPr>
          <p:cNvPr id="9" name="Rectangle: Rounded Corners 8">
            <a:extLst>
              <a:ext uri="{FF2B5EF4-FFF2-40B4-BE49-F238E27FC236}">
                <a16:creationId xmlns:a16="http://schemas.microsoft.com/office/drawing/2014/main" id="{9ABB89CC-3989-42CE-8570-C359CF582930}"/>
              </a:ext>
            </a:extLst>
          </p:cNvPr>
          <p:cNvSpPr>
            <a:spLocks noGrp="1"/>
          </p:cNvSpPr>
          <p:nvPr/>
        </p:nvSpPr>
        <p:spPr>
          <a:xfrm>
            <a:off x="4524375" y="1066800"/>
            <a:ext cx="3143250" cy="457200"/>
          </a:xfrm>
          <a:prstGeom prst="roundRect">
            <a:avLst>
              <a:gd name="adj" fmla="val 27083"/>
            </a:avLst>
          </a:prstGeom>
          <a:solidFill>
            <a:srgbClr val="1E3A8A"/>
          </a:solidFill>
          <a:ln w="14288">
            <a:solidFill>
              <a:srgbClr val="1E3A8A"/>
            </a:solidFill>
            <a:prstDash val="solid"/>
          </a:ln>
        </p:spPr>
      </p:sp>
      <p:pic>
        <p:nvPicPr>
          <p:cNvPr id="52" name="Graphic 51"/>
          <p:cNvPicPr>
            <a:picLocks noChangeAspect="1"/>
          </p:cNvPicPr>
          <p:nvPr/>
        </p:nvPicPr>
        <p:blipFill>
          <a:blip>
            <a:extLst>
              <a:ext uri="{96DAC541-7B7A-43D3-8B79-37D633B846F1}">
                <asvg:svgBlip xmlns:asvg="http://schemas.microsoft.com/office/drawing/2016/SVG/main" r:embed="rId4"/>
              </a:ext>
            </a:extLst>
          </a:blip>
          <a:stretch/>
        </p:blipFill>
        <p:spPr>
          <a:xfrm>
            <a:off x="4676775" y="1171575"/>
            <a:ext cx="247650" cy="247650"/>
          </a:xfrm>
          <a:prstGeom prst="rect">
            <a:avLst/>
          </a:prstGeom>
        </p:spPr>
      </p:pic>
      <p:sp>
        <p:nvSpPr>
          <p:cNvPr id="11" name="Rectangle 10">
            <a:extLst>
              <a:ext uri="{FF2B5EF4-FFF2-40B4-BE49-F238E27FC236}">
                <a16:creationId xmlns:a16="http://schemas.microsoft.com/office/drawing/2014/main" id="{AD459842-D771-49E1-AE72-157E5E502D75}"/>
              </a:ext>
            </a:extLst>
          </p:cNvPr>
          <p:cNvSpPr>
            <a:spLocks noGrp="1"/>
          </p:cNvSpPr>
          <p:nvPr/>
        </p:nvSpPr>
        <p:spPr>
          <a:xfrm>
            <a:off x="5019675" y="1171575"/>
            <a:ext cx="2514600" cy="285750"/>
          </a:xfrm>
          <a:prstGeom prst="rect">
            <a:avLst/>
          </a:prstGeom>
          <a:noFill/>
          <a:ln w="0">
            <a:noFill/>
            <a:prstDash val="solid"/>
          </a:ln>
        </p:spPr>
        <p:txBody>
          <a:bodyPr/>
          <a:lstStyle/>
          <a:p>
            <a:pPr algn="ctr">
              <a:defRPr sz="1275" b="1" i="0">
                <a:solidFill>
                  <a:srgbClr val="FFFFFF"/>
                </a:solidFill>
              </a:defRPr>
            </a:pPr>
            <a:r>
              <a:rPr sz="1275" b="1" i="0">
                <a:solidFill>
                  <a:srgbClr val="FFFFFF"/>
                </a:solidFill>
              </a:rPr>
              <a:t>Driver taps Report an Issue</a:t>
            </a:r>
          </a:p>
        </p:txBody>
      </p:sp>
      <p:sp>
        <p:nvSpPr>
          <p:cNvPr id="12" name="Diamond 11">
            <a:extLst>
              <a:ext uri="{FF2B5EF4-FFF2-40B4-BE49-F238E27FC236}">
                <a16:creationId xmlns:a16="http://schemas.microsoft.com/office/drawing/2014/main" id="{561A7E2F-AA6F-4616-B72C-1EB888474144}"/>
              </a:ext>
            </a:extLst>
          </p:cNvPr>
          <p:cNvSpPr>
            <a:spLocks noGrp="1"/>
          </p:cNvSpPr>
          <p:nvPr/>
        </p:nvSpPr>
        <p:spPr>
          <a:xfrm>
            <a:off x="4381500" y="1628775"/>
            <a:ext cx="3429000" cy="1123950"/>
          </a:xfrm>
          <a:prstGeom prst="diamond">
            <a:avLst/>
          </a:prstGeom>
          <a:solidFill>
            <a:srgbClr val="FFF7ED"/>
          </a:solidFill>
          <a:ln w="14288">
            <a:solidFill>
              <a:srgbClr val="EA580C"/>
            </a:solidFill>
            <a:prstDash val="solid"/>
          </a:ln>
        </p:spPr>
      </p:sp>
      <p:sp>
        <p:nvSpPr>
          <p:cNvPr id="13" name="Rectangle 12">
            <a:extLst>
              <a:ext uri="{FF2B5EF4-FFF2-40B4-BE49-F238E27FC236}">
                <a16:creationId xmlns:a16="http://schemas.microsoft.com/office/drawing/2014/main" id="{91047B3C-406A-495E-B103-5A7C7999FB2A}"/>
              </a:ext>
            </a:extLst>
          </p:cNvPr>
          <p:cNvSpPr>
            <a:spLocks noGrp="1"/>
          </p:cNvSpPr>
          <p:nvPr/>
        </p:nvSpPr>
        <p:spPr>
          <a:xfrm>
            <a:off x="5381625" y="1809750"/>
            <a:ext cx="1428750" cy="190500"/>
          </a:xfrm>
          <a:prstGeom prst="rect">
            <a:avLst/>
          </a:prstGeom>
          <a:noFill/>
          <a:ln w="0">
            <a:noFill/>
            <a:prstDash val="solid"/>
          </a:ln>
        </p:spPr>
        <p:txBody>
          <a:bodyPr/>
          <a:lstStyle/>
          <a:p>
            <a:pPr algn="ctr">
              <a:defRPr sz="1125" b="1" i="0">
                <a:solidFill>
                  <a:srgbClr val="EA580C"/>
                </a:solidFill>
              </a:defRPr>
            </a:pPr>
            <a:r>
              <a:rPr sz="1125" b="1" i="0">
                <a:solidFill>
                  <a:srgbClr val="EA580C"/>
                </a:solidFill>
              </a:rPr>
              <a:t>Select reason</a:t>
            </a:r>
          </a:p>
        </p:txBody>
      </p:sp>
      <p:sp>
        <p:nvSpPr>
          <p:cNvPr id="14" name="Rectangle 13">
            <a:extLst>
              <a:ext uri="{FF2B5EF4-FFF2-40B4-BE49-F238E27FC236}">
                <a16:creationId xmlns:a16="http://schemas.microsoft.com/office/drawing/2014/main" id="{19EA0231-7239-4055-80B2-FA01E24E7799}"/>
              </a:ext>
            </a:extLst>
          </p:cNvPr>
          <p:cNvSpPr>
            <a:spLocks noGrp="1"/>
          </p:cNvSpPr>
          <p:nvPr/>
        </p:nvSpPr>
        <p:spPr>
          <a:xfrm>
            <a:off x="5095875" y="2057400"/>
            <a:ext cx="2000250" cy="457200"/>
          </a:xfrm>
          <a:prstGeom prst="rect">
            <a:avLst/>
          </a:prstGeom>
          <a:noFill/>
          <a:ln w="0">
            <a:noFill/>
            <a:prstDash val="solid"/>
          </a:ln>
        </p:spPr>
        <p:txBody>
          <a:bodyPr/>
          <a:lstStyle/>
          <a:p>
            <a:pPr algn="ctr">
              <a:defRPr sz="825" b="1" i="0">
                <a:solidFill>
                  <a:srgbClr val="172554"/>
                </a:solidFill>
              </a:defRPr>
            </a:pPr>
            <a:r>
              <a:rPr sz="825" b="1" i="0">
                <a:solidFill>
                  <a:srgbClr val="172554"/>
                </a:solidFill>
              </a:rPr>
              <a:t>mechanical, breakdown, flat tyre,</a:t>
            </a:r>
          </a:p>
          <a:p>
            <a:pPr algn="ctr">
              <a:defRPr sz="825" b="1" i="0">
                <a:solidFill>
                  <a:srgbClr val="172554"/>
                </a:solidFill>
              </a:defRPr>
            </a:pPr>
            <a:r>
              <a:rPr sz="825" b="1" i="0">
                <a:solidFill>
                  <a:srgbClr val="172554"/>
                </a:solidFill>
              </a:rPr>
              <a:t>traffic, emergency, other</a:t>
            </a:r>
          </a:p>
        </p:txBody>
      </p:sp>
      <p:sp>
        <p:nvSpPr>
          <p:cNvPr id="15" name="Rectangle: Rounded Corners 14">
            <a:extLst>
              <a:ext uri="{FF2B5EF4-FFF2-40B4-BE49-F238E27FC236}">
                <a16:creationId xmlns:a16="http://schemas.microsoft.com/office/drawing/2014/main" id="{CA53333A-FE61-4723-B283-E7F0BF3A6EBF}"/>
              </a:ext>
            </a:extLst>
          </p:cNvPr>
          <p:cNvSpPr>
            <a:spLocks noGrp="1"/>
          </p:cNvSpPr>
          <p:nvPr/>
        </p:nvSpPr>
        <p:spPr>
          <a:xfrm>
            <a:off x="4857750" y="2914650"/>
            <a:ext cx="2476500" cy="476250"/>
          </a:xfrm>
          <a:prstGeom prst="roundRect">
            <a:avLst>
              <a:gd name="adj" fmla="val 26000"/>
            </a:avLst>
          </a:prstGeom>
          <a:solidFill>
            <a:srgbClr val="EEF2FF"/>
          </a:solidFill>
          <a:ln w="14288">
            <a:solidFill>
              <a:srgbClr val="1E3A8A"/>
            </a:solidFill>
            <a:prstDash val="solid"/>
          </a:ln>
        </p:spPr>
      </p:sp>
      <p:pic>
        <p:nvPicPr>
          <p:cNvPr id="58" name="Graphic 57"/>
          <p:cNvPicPr>
            <a:picLocks noChangeAspect="1"/>
          </p:cNvPicPr>
          <p:nvPr/>
        </p:nvPicPr>
        <p:blipFill>
          <a:blip>
            <a:extLst>
              <a:ext uri="{96DAC541-7B7A-43D3-8B79-37D633B846F1}">
                <asvg:svgBlip xmlns:asvg="http://schemas.microsoft.com/office/drawing/2016/SVG/main" r:embed="rId5"/>
              </a:ext>
            </a:extLst>
          </a:blip>
          <a:stretch/>
        </p:blipFill>
        <p:spPr>
          <a:xfrm>
            <a:off x="5010150" y="3028950"/>
            <a:ext cx="247650" cy="247650"/>
          </a:xfrm>
          <a:prstGeom prst="rect">
            <a:avLst/>
          </a:prstGeom>
        </p:spPr>
      </p:pic>
      <p:sp>
        <p:nvSpPr>
          <p:cNvPr id="17" name="Rectangle 16">
            <a:extLst>
              <a:ext uri="{FF2B5EF4-FFF2-40B4-BE49-F238E27FC236}">
                <a16:creationId xmlns:a16="http://schemas.microsoft.com/office/drawing/2014/main" id="{BF78EEDE-D118-4262-808B-E60982AF14DF}"/>
              </a:ext>
            </a:extLst>
          </p:cNvPr>
          <p:cNvSpPr>
            <a:spLocks noGrp="1"/>
          </p:cNvSpPr>
          <p:nvPr/>
        </p:nvSpPr>
        <p:spPr>
          <a:xfrm>
            <a:off x="5353050" y="3019425"/>
            <a:ext cx="1847850" cy="304800"/>
          </a:xfrm>
          <a:prstGeom prst="rect">
            <a:avLst/>
          </a:prstGeom>
          <a:noFill/>
          <a:ln w="0">
            <a:noFill/>
            <a:prstDash val="solid"/>
          </a:ln>
        </p:spPr>
        <p:txBody>
          <a:bodyPr/>
          <a:lstStyle/>
          <a:p>
            <a:pPr algn="ctr">
              <a:defRPr sz="1200" b="1" i="0">
                <a:solidFill>
                  <a:srgbClr val="172554"/>
                </a:solidFill>
              </a:defRPr>
            </a:pPr>
            <a:r>
              <a:rPr sz="1200" b="1" i="0">
                <a:solidFill>
                  <a:srgbClr val="172554"/>
                </a:solidFill>
              </a:rPr>
              <a:t>Bus status updated</a:t>
            </a:r>
          </a:p>
        </p:txBody>
      </p:sp>
      <p:sp>
        <p:nvSpPr>
          <p:cNvPr id="18" name="Rectangle: Rounded Corners 17">
            <a:extLst>
              <a:ext uri="{FF2B5EF4-FFF2-40B4-BE49-F238E27FC236}">
                <a16:creationId xmlns:a16="http://schemas.microsoft.com/office/drawing/2014/main" id="{EFF2F253-7C08-43A8-B777-F53E1E2A30D2}"/>
              </a:ext>
            </a:extLst>
          </p:cNvPr>
          <p:cNvSpPr>
            <a:spLocks noGrp="1"/>
          </p:cNvSpPr>
          <p:nvPr/>
        </p:nvSpPr>
        <p:spPr>
          <a:xfrm>
            <a:off x="876300" y="3714750"/>
            <a:ext cx="2571750" cy="609600"/>
          </a:xfrm>
          <a:prstGeom prst="roundRect">
            <a:avLst>
              <a:gd name="adj" fmla="val 20313"/>
            </a:avLst>
          </a:prstGeom>
          <a:solidFill>
            <a:srgbClr val="FFFFFF"/>
          </a:solidFill>
          <a:ln w="14288">
            <a:solidFill>
              <a:srgbClr val="0F766E"/>
            </a:solidFill>
            <a:prstDash val="solid"/>
          </a:ln>
        </p:spPr>
      </p:sp>
      <p:pic>
        <p:nvPicPr>
          <p:cNvPr id="61" name="Graphic 60"/>
          <p:cNvPicPr>
            <a:picLocks noChangeAspect="1"/>
          </p:cNvPicPr>
          <p:nvPr/>
        </p:nvPicPr>
        <p:blipFill>
          <a:blip>
            <a:extLst>
              <a:ext uri="{96DAC541-7B7A-43D3-8B79-37D633B846F1}">
                <asvg:svgBlip xmlns:asvg="http://schemas.microsoft.com/office/drawing/2016/SVG/main" r:embed="rId6"/>
              </a:ext>
            </a:extLst>
          </a:blip>
          <a:stretch/>
        </p:blipFill>
        <p:spPr>
          <a:xfrm>
            <a:off x="1028700" y="3895725"/>
            <a:ext cx="247650" cy="247650"/>
          </a:xfrm>
          <a:prstGeom prst="rect">
            <a:avLst/>
          </a:prstGeom>
        </p:spPr>
      </p:pic>
      <p:sp>
        <p:nvSpPr>
          <p:cNvPr id="20" name="Rectangle 19">
            <a:extLst>
              <a:ext uri="{FF2B5EF4-FFF2-40B4-BE49-F238E27FC236}">
                <a16:creationId xmlns:a16="http://schemas.microsoft.com/office/drawing/2014/main" id="{9C18385B-C336-40CE-B3C6-19505758D150}"/>
              </a:ext>
            </a:extLst>
          </p:cNvPr>
          <p:cNvSpPr>
            <a:spLocks noGrp="1"/>
          </p:cNvSpPr>
          <p:nvPr/>
        </p:nvSpPr>
        <p:spPr>
          <a:xfrm>
            <a:off x="1371600" y="3819525"/>
            <a:ext cx="1943100" cy="438150"/>
          </a:xfrm>
          <a:prstGeom prst="rect">
            <a:avLst/>
          </a:prstGeom>
          <a:noFill/>
          <a:ln w="0">
            <a:noFill/>
            <a:prstDash val="solid"/>
          </a:ln>
        </p:spPr>
        <p:txBody>
          <a:bodyPr/>
          <a:lstStyle/>
          <a:p>
            <a:pPr algn="ctr">
              <a:defRPr sz="1088" b="1" i="0">
                <a:solidFill>
                  <a:srgbClr val="172554"/>
                </a:solidFill>
              </a:defRPr>
            </a:pPr>
            <a:r>
              <a:rPr sz="1088" b="1" i="0">
                <a:solidFill>
                  <a:srgbClr val="172554"/>
                </a:solidFill>
              </a:rPr>
              <a:t>Every affected passenger notified</a:t>
            </a:r>
          </a:p>
        </p:txBody>
      </p:sp>
      <p:sp>
        <p:nvSpPr>
          <p:cNvPr id="21" name="Rectangle: Rounded Corners 20">
            <a:extLst>
              <a:ext uri="{FF2B5EF4-FFF2-40B4-BE49-F238E27FC236}">
                <a16:creationId xmlns:a16="http://schemas.microsoft.com/office/drawing/2014/main" id="{B149D62D-9384-44C1-8899-42FA2DA67FB4}"/>
              </a:ext>
            </a:extLst>
          </p:cNvPr>
          <p:cNvSpPr>
            <a:spLocks noGrp="1"/>
          </p:cNvSpPr>
          <p:nvPr/>
        </p:nvSpPr>
        <p:spPr>
          <a:xfrm>
            <a:off x="3714750" y="3714750"/>
            <a:ext cx="2381250" cy="609600"/>
          </a:xfrm>
          <a:prstGeom prst="roundRect">
            <a:avLst>
              <a:gd name="adj" fmla="val 20313"/>
            </a:avLst>
          </a:prstGeom>
          <a:solidFill>
            <a:srgbClr val="ECFDF5"/>
          </a:solidFill>
          <a:ln w="14288">
            <a:solidFill>
              <a:srgbClr val="0F766E"/>
            </a:solidFill>
            <a:prstDash val="solid"/>
          </a:ln>
        </p:spPr>
      </p:sp>
      <p:pic>
        <p:nvPicPr>
          <p:cNvPr id="64" name="Graphic 63"/>
          <p:cNvPicPr>
            <a:picLocks noChangeAspect="1"/>
          </p:cNvPicPr>
          <p:nvPr/>
        </p:nvPicPr>
        <p:blipFill>
          <a:blip>
            <a:extLst>
              <a:ext uri="{96DAC541-7B7A-43D3-8B79-37D633B846F1}">
                <asvg:svgBlip xmlns:asvg="http://schemas.microsoft.com/office/drawing/2016/SVG/main" r:embed="rId7"/>
              </a:ext>
            </a:extLst>
          </a:blip>
          <a:stretch/>
        </p:blipFill>
        <p:spPr>
          <a:xfrm>
            <a:off x="3867150" y="3895725"/>
            <a:ext cx="247650" cy="247650"/>
          </a:xfrm>
          <a:prstGeom prst="rect">
            <a:avLst/>
          </a:prstGeom>
        </p:spPr>
      </p:pic>
      <p:sp>
        <p:nvSpPr>
          <p:cNvPr id="23" name="Rectangle 22">
            <a:extLst>
              <a:ext uri="{FF2B5EF4-FFF2-40B4-BE49-F238E27FC236}">
                <a16:creationId xmlns:a16="http://schemas.microsoft.com/office/drawing/2014/main" id="{ADA574D1-86C3-44EA-84AD-EA406A57B8A9}"/>
              </a:ext>
            </a:extLst>
          </p:cNvPr>
          <p:cNvSpPr>
            <a:spLocks noGrp="1"/>
          </p:cNvSpPr>
          <p:nvPr/>
        </p:nvSpPr>
        <p:spPr>
          <a:xfrm>
            <a:off x="4210050" y="3819525"/>
            <a:ext cx="1752600" cy="438150"/>
          </a:xfrm>
          <a:prstGeom prst="rect">
            <a:avLst/>
          </a:prstGeom>
          <a:noFill/>
          <a:ln w="0">
            <a:noFill/>
            <a:prstDash val="solid"/>
          </a:ln>
        </p:spPr>
        <p:txBody>
          <a:bodyPr/>
          <a:lstStyle/>
          <a:p>
            <a:pPr algn="ctr">
              <a:defRPr sz="1013" b="1" i="0">
                <a:solidFill>
                  <a:srgbClr val="172554"/>
                </a:solidFill>
              </a:defRPr>
            </a:pPr>
            <a:r>
              <a:rPr sz="1013" b="1" i="0">
                <a:solidFill>
                  <a:srgbClr val="172554"/>
                </a:solidFill>
              </a:rPr>
              <a:t>Next available bus shown on the route</a:t>
            </a:r>
          </a:p>
        </p:txBody>
      </p:sp>
      <p:sp>
        <p:nvSpPr>
          <p:cNvPr id="24" name="Rectangle: Rounded Corners 23">
            <a:extLst>
              <a:ext uri="{FF2B5EF4-FFF2-40B4-BE49-F238E27FC236}">
                <a16:creationId xmlns:a16="http://schemas.microsoft.com/office/drawing/2014/main" id="{69D76C69-E098-4FC0-8B42-76F0F2FF8B07}"/>
              </a:ext>
            </a:extLst>
          </p:cNvPr>
          <p:cNvSpPr>
            <a:spLocks noGrp="1"/>
          </p:cNvSpPr>
          <p:nvPr/>
        </p:nvSpPr>
        <p:spPr>
          <a:xfrm>
            <a:off x="7905750" y="3714750"/>
            <a:ext cx="3333750" cy="609600"/>
          </a:xfrm>
          <a:prstGeom prst="roundRect">
            <a:avLst>
              <a:gd name="adj" fmla="val 20313"/>
            </a:avLst>
          </a:prstGeom>
          <a:solidFill>
            <a:srgbClr val="FFF7ED"/>
          </a:solidFill>
          <a:ln w="14288">
            <a:solidFill>
              <a:srgbClr val="EA580C"/>
            </a:solidFill>
            <a:prstDash val="solid"/>
          </a:ln>
        </p:spPr>
      </p:sp>
      <p:pic>
        <p:nvPicPr>
          <p:cNvPr id="67" name="Graphic 66"/>
          <p:cNvPicPr>
            <a:picLocks noChangeAspect="1"/>
          </p:cNvPicPr>
          <p:nvPr/>
        </p:nvPicPr>
        <p:blipFill>
          <a:blip>
            <a:extLst>
              <a:ext uri="{96DAC541-7B7A-43D3-8B79-37D633B846F1}">
                <asvg:svgBlip xmlns:asvg="http://schemas.microsoft.com/office/drawing/2016/SVG/main" r:embed="rId8"/>
              </a:ext>
            </a:extLst>
          </a:blip>
          <a:stretch/>
        </p:blipFill>
        <p:spPr>
          <a:xfrm>
            <a:off x="8058150" y="3895725"/>
            <a:ext cx="247650" cy="247650"/>
          </a:xfrm>
          <a:prstGeom prst="rect">
            <a:avLst/>
          </a:prstGeom>
        </p:spPr>
      </p:pic>
      <p:sp>
        <p:nvSpPr>
          <p:cNvPr id="26" name="Rectangle 25">
            <a:extLst>
              <a:ext uri="{FF2B5EF4-FFF2-40B4-BE49-F238E27FC236}">
                <a16:creationId xmlns:a16="http://schemas.microsoft.com/office/drawing/2014/main" id="{FB29C702-AD9F-4227-BE56-E4540CE83B57}"/>
              </a:ext>
            </a:extLst>
          </p:cNvPr>
          <p:cNvSpPr>
            <a:spLocks noGrp="1"/>
          </p:cNvSpPr>
          <p:nvPr/>
        </p:nvSpPr>
        <p:spPr>
          <a:xfrm>
            <a:off x="8401050" y="3819525"/>
            <a:ext cx="2705100" cy="438150"/>
          </a:xfrm>
          <a:prstGeom prst="rect">
            <a:avLst/>
          </a:prstGeom>
          <a:noFill/>
          <a:ln w="0">
            <a:noFill/>
            <a:prstDash val="solid"/>
          </a:ln>
        </p:spPr>
        <p:txBody>
          <a:bodyPr/>
          <a:lstStyle/>
          <a:p>
            <a:pPr algn="ctr">
              <a:defRPr sz="1088" b="1" i="0">
                <a:solidFill>
                  <a:srgbClr val="172554"/>
                </a:solidFill>
              </a:defRPr>
            </a:pPr>
            <a:r>
              <a:rPr sz="1088" b="1" i="0">
                <a:solidFill>
                  <a:srgbClr val="172554"/>
                </a:solidFill>
              </a:rPr>
              <a:t>Arrival estimate recalculated or marked uncertain</a:t>
            </a:r>
          </a:p>
        </p:txBody>
      </p:sp>
      <p:sp>
        <p:nvSpPr>
          <p:cNvPr id="27" name="Rectangle: Rounded Corners 26">
            <a:extLst>
              <a:ext uri="{FF2B5EF4-FFF2-40B4-BE49-F238E27FC236}">
                <a16:creationId xmlns:a16="http://schemas.microsoft.com/office/drawing/2014/main" id="{D4FD18D6-A26E-4BCD-9968-6F92498E68E5}"/>
              </a:ext>
            </a:extLst>
          </p:cNvPr>
          <p:cNvSpPr>
            <a:spLocks noGrp="1"/>
          </p:cNvSpPr>
          <p:nvPr/>
        </p:nvSpPr>
        <p:spPr>
          <a:xfrm>
            <a:off x="4095750" y="4695825"/>
            <a:ext cx="4000500" cy="552450"/>
          </a:xfrm>
          <a:prstGeom prst="roundRect">
            <a:avLst>
              <a:gd name="adj" fmla="val 22414"/>
            </a:avLst>
          </a:prstGeom>
          <a:solidFill>
            <a:srgbClr val="F3F4F6"/>
          </a:solidFill>
          <a:ln w="14288">
            <a:solidFill>
              <a:srgbClr val="1E3A8A"/>
            </a:solidFill>
            <a:prstDash val="solid"/>
          </a:ln>
        </p:spPr>
      </p:sp>
      <p:pic>
        <p:nvPicPr>
          <p:cNvPr id="70" name="Graphic 69"/>
          <p:cNvPicPr>
            <a:picLocks noChangeAspect="1"/>
          </p:cNvPicPr>
          <p:nvPr/>
        </p:nvPicPr>
        <p:blipFill>
          <a:blip>
            <a:extLst>
              <a:ext uri="{96DAC541-7B7A-43D3-8B79-37D633B846F1}">
                <asvg:svgBlip xmlns:asvg="http://schemas.microsoft.com/office/drawing/2016/SVG/main" r:embed="rId9"/>
              </a:ext>
            </a:extLst>
          </a:blip>
          <a:stretch/>
        </p:blipFill>
        <p:spPr>
          <a:xfrm>
            <a:off x="4248150" y="4848225"/>
            <a:ext cx="247650" cy="247650"/>
          </a:xfrm>
          <a:prstGeom prst="rect">
            <a:avLst/>
          </a:prstGeom>
        </p:spPr>
      </p:pic>
      <p:sp>
        <p:nvSpPr>
          <p:cNvPr id="29" name="Rectangle 28">
            <a:extLst>
              <a:ext uri="{FF2B5EF4-FFF2-40B4-BE49-F238E27FC236}">
                <a16:creationId xmlns:a16="http://schemas.microsoft.com/office/drawing/2014/main" id="{54AC1422-52F8-4EE9-9E2E-3D598C49AA7D}"/>
              </a:ext>
            </a:extLst>
          </p:cNvPr>
          <p:cNvSpPr>
            <a:spLocks noGrp="1"/>
          </p:cNvSpPr>
          <p:nvPr/>
        </p:nvSpPr>
        <p:spPr>
          <a:xfrm>
            <a:off x="4591050" y="4800600"/>
            <a:ext cx="3371850" cy="381000"/>
          </a:xfrm>
          <a:prstGeom prst="rect">
            <a:avLst/>
          </a:prstGeom>
          <a:noFill/>
          <a:ln w="0">
            <a:noFill/>
            <a:prstDash val="solid"/>
          </a:ln>
        </p:spPr>
        <p:txBody>
          <a:bodyPr/>
          <a:lstStyle/>
          <a:p>
            <a:pPr algn="ctr">
              <a:defRPr sz="1163" b="1" i="0">
                <a:solidFill>
                  <a:srgbClr val="172554"/>
                </a:solidFill>
              </a:defRPr>
            </a:pPr>
            <a:r>
              <a:rPr sz="1163" b="1" i="0">
                <a:solidFill>
                  <a:srgbClr val="172554"/>
                </a:solidFill>
              </a:rPr>
              <a:t>Administrator dashboard flags the incident</a:t>
            </a:r>
          </a:p>
        </p:txBody>
      </p:sp>
      <p:sp>
        <p:nvSpPr>
          <p:cNvPr id="30" name="Rectangle: Rounded Corners 29">
            <a:extLst>
              <a:ext uri="{FF2B5EF4-FFF2-40B4-BE49-F238E27FC236}">
                <a16:creationId xmlns:a16="http://schemas.microsoft.com/office/drawing/2014/main" id="{0C047AAC-4AF8-4ABF-B77E-43C724E7B15B}"/>
              </a:ext>
            </a:extLst>
          </p:cNvPr>
          <p:cNvSpPr>
            <a:spLocks noGrp="1"/>
          </p:cNvSpPr>
          <p:nvPr/>
        </p:nvSpPr>
        <p:spPr>
          <a:xfrm>
            <a:off x="4095750" y="5575620"/>
            <a:ext cx="4000500" cy="514350"/>
          </a:xfrm>
          <a:prstGeom prst="roundRect">
            <a:avLst>
              <a:gd name="adj" fmla="val 24074"/>
            </a:avLst>
          </a:prstGeom>
          <a:solidFill>
            <a:srgbClr val="0F766E"/>
          </a:solidFill>
          <a:ln w="14288">
            <a:solidFill>
              <a:srgbClr val="0F766E"/>
            </a:solidFill>
            <a:prstDash val="solid"/>
          </a:ln>
        </p:spPr>
      </p:sp>
      <p:pic>
        <p:nvPicPr>
          <p:cNvPr id="73" name="Graphic 72"/>
          <p:cNvPicPr>
            <a:picLocks noChangeAspect="1"/>
          </p:cNvPicPr>
          <p:nvPr/>
        </p:nvPicPr>
        <p:blipFill>
          <a:blip>
            <a:extLst>
              <a:ext uri="{96DAC541-7B7A-43D3-8B79-37D633B846F1}">
                <asvg:svgBlip xmlns:asvg="http://schemas.microsoft.com/office/drawing/2016/SVG/main" r:embed="rId10"/>
              </a:ext>
            </a:extLst>
          </a:blip>
          <a:stretch/>
        </p:blipFill>
        <p:spPr>
          <a:xfrm>
            <a:off x="4248150" y="5676900"/>
            <a:ext cx="247650" cy="247650"/>
          </a:xfrm>
          <a:prstGeom prst="rect">
            <a:avLst/>
          </a:prstGeom>
        </p:spPr>
      </p:pic>
      <p:sp>
        <p:nvSpPr>
          <p:cNvPr id="32" name="Rectangle 31">
            <a:extLst>
              <a:ext uri="{FF2B5EF4-FFF2-40B4-BE49-F238E27FC236}">
                <a16:creationId xmlns:a16="http://schemas.microsoft.com/office/drawing/2014/main" id="{B26E07AF-158B-45EA-BD6A-F00FECE6EB9A}"/>
              </a:ext>
            </a:extLst>
          </p:cNvPr>
          <p:cNvSpPr>
            <a:spLocks noGrp="1"/>
          </p:cNvSpPr>
          <p:nvPr/>
        </p:nvSpPr>
        <p:spPr>
          <a:xfrm>
            <a:off x="4591050" y="5648325"/>
            <a:ext cx="3371850" cy="342900"/>
          </a:xfrm>
          <a:prstGeom prst="rect">
            <a:avLst/>
          </a:prstGeom>
          <a:noFill/>
          <a:ln w="0">
            <a:noFill/>
            <a:prstDash val="solid"/>
          </a:ln>
        </p:spPr>
        <p:txBody>
          <a:bodyPr/>
          <a:lstStyle/>
          <a:p>
            <a:pPr algn="ctr">
              <a:defRPr sz="1088" b="1" i="0">
                <a:solidFill>
                  <a:srgbClr val="FFFFFF"/>
                </a:solidFill>
              </a:defRPr>
            </a:pPr>
            <a:r>
              <a:rPr sz="1088" b="1" i="0" dirty="0">
                <a:solidFill>
                  <a:srgbClr val="FFFFFF"/>
                </a:solidFill>
              </a:rPr>
              <a:t>Driver taps Resume.</a:t>
            </a:r>
            <a:endParaRPr lang="en-IN" sz="1088" b="1" i="0" dirty="0">
              <a:solidFill>
                <a:srgbClr val="FFFFFF"/>
              </a:solidFill>
            </a:endParaRPr>
          </a:p>
          <a:p>
            <a:pPr algn="ctr">
              <a:defRPr sz="1088" b="1" i="0">
                <a:solidFill>
                  <a:srgbClr val="FFFFFF"/>
                </a:solidFill>
              </a:defRPr>
            </a:pPr>
            <a:r>
              <a:rPr sz="1088" b="1" i="0" dirty="0">
                <a:solidFill>
                  <a:srgbClr val="FFFFFF"/>
                </a:solidFill>
              </a:rPr>
              <a:t> Service and estimates return to normal</a:t>
            </a:r>
          </a:p>
        </p:txBody>
      </p:sp>
      <p:cxnSp>
        <p:nvCxnSpPr>
          <p:cNvPr id="75" name="Straight Arrow Connector 74"/>
          <p:cNvCxnSpPr>
            <a:stCxn id="9" idx="2"/>
            <a:endCxn id="12" idx="0"/>
          </p:cNvCxnSpPr>
          <p:nvPr/>
        </p:nvCxnSpPr>
        <p:spPr>
          <a:xfrm>
            <a:off x="6096000" y="1524000"/>
            <a:ext cx="0" cy="104775"/>
          </a:xfrm>
          <a:prstGeom prst="straightConnector1">
            <a:avLst/>
          </a:prstGeom>
          <a:ln w="19050">
            <a:solidFill>
              <a:srgbClr val="EA580C"/>
            </a:solidFill>
            <a:prstDash val="solid"/>
            <a:tailEnd type="triangle" w="sm" len="sm"/>
          </a:ln>
        </p:spPr>
      </p:cxnSp>
      <p:cxnSp>
        <p:nvCxnSpPr>
          <p:cNvPr id="76" name="Straight Arrow Connector 75"/>
          <p:cNvCxnSpPr>
            <a:stCxn id="12" idx="2"/>
            <a:endCxn id="15" idx="0"/>
          </p:cNvCxnSpPr>
          <p:nvPr/>
        </p:nvCxnSpPr>
        <p:spPr>
          <a:xfrm>
            <a:off x="6096000" y="2752725"/>
            <a:ext cx="0" cy="161925"/>
          </a:xfrm>
          <a:prstGeom prst="straightConnector1">
            <a:avLst/>
          </a:prstGeom>
          <a:ln w="19050">
            <a:solidFill>
              <a:srgbClr val="EA580C"/>
            </a:solidFill>
            <a:prstDash val="solid"/>
            <a:tailEnd type="triangle" w="sm" len="sm"/>
          </a:ln>
        </p:spPr>
      </p:cxnSp>
      <p:cxnSp>
        <p:nvCxnSpPr>
          <p:cNvPr id="77" name="Connector: Elbow 76"/>
          <p:cNvCxnSpPr>
            <a:stCxn id="15" idx="1"/>
            <a:endCxn id="18" idx="0"/>
          </p:cNvCxnSpPr>
          <p:nvPr/>
        </p:nvCxnSpPr>
        <p:spPr>
          <a:xfrm flipH="1">
            <a:off x="2162175" y="3152775"/>
            <a:ext cx="2695575" cy="561975"/>
          </a:xfrm>
          <a:prstGeom prst="bentConnector2">
            <a:avLst/>
          </a:prstGeom>
          <a:ln w="17145">
            <a:solidFill>
              <a:srgbClr val="0F766E"/>
            </a:solidFill>
            <a:prstDash val="solid"/>
            <a:tailEnd type="triangle" w="sm" len="sm"/>
          </a:ln>
        </p:spPr>
      </p:cxnSp>
      <p:cxnSp>
        <p:nvCxnSpPr>
          <p:cNvPr id="78" name="Straight Arrow Connector 77"/>
          <p:cNvCxnSpPr>
            <a:stCxn id="18" idx="3"/>
            <a:endCxn id="21" idx="1"/>
          </p:cNvCxnSpPr>
          <p:nvPr/>
        </p:nvCxnSpPr>
        <p:spPr>
          <a:xfrm>
            <a:off x="3448050" y="4019550"/>
            <a:ext cx="266700" cy="0"/>
          </a:xfrm>
          <a:prstGeom prst="straightConnector1">
            <a:avLst/>
          </a:prstGeom>
          <a:ln w="17145">
            <a:solidFill>
              <a:srgbClr val="0F766E"/>
            </a:solidFill>
            <a:prstDash val="solid"/>
            <a:tailEnd type="triangle" w="sm" len="sm"/>
          </a:ln>
        </p:spPr>
      </p:cxnSp>
      <p:cxnSp>
        <p:nvCxnSpPr>
          <p:cNvPr id="79" name="Connector: Elbow 78"/>
          <p:cNvCxnSpPr>
            <a:stCxn id="15" idx="3"/>
            <a:endCxn id="24" idx="0"/>
          </p:cNvCxnSpPr>
          <p:nvPr/>
        </p:nvCxnSpPr>
        <p:spPr>
          <a:xfrm>
            <a:off x="7334250" y="3152775"/>
            <a:ext cx="2238375" cy="561975"/>
          </a:xfrm>
          <a:prstGeom prst="bentConnector2">
            <a:avLst/>
          </a:prstGeom>
          <a:ln w="17145">
            <a:solidFill>
              <a:srgbClr val="EA580C"/>
            </a:solidFill>
            <a:prstDash val="solid"/>
            <a:tailEnd type="triangle" w="sm" len="sm"/>
          </a:ln>
        </p:spPr>
      </p:cxnSp>
      <p:cxnSp>
        <p:nvCxnSpPr>
          <p:cNvPr id="81" name="Connector: Elbow 80"/>
          <p:cNvCxnSpPr>
            <a:stCxn id="24" idx="2"/>
            <a:endCxn id="27" idx="3"/>
          </p:cNvCxnSpPr>
          <p:nvPr/>
        </p:nvCxnSpPr>
        <p:spPr>
          <a:xfrm flipH="1">
            <a:off x="8096250" y="4324350"/>
            <a:ext cx="1476375" cy="647700"/>
          </a:xfrm>
          <a:prstGeom prst="bentConnector5">
            <a:avLst>
              <a:gd name="adj1" fmla="val 0"/>
              <a:gd name="adj2" fmla="val 35294"/>
              <a:gd name="adj3" fmla="val 84516"/>
            </a:avLst>
          </a:prstGeom>
          <a:ln w="17145">
            <a:solidFill>
              <a:srgbClr val="EA580C"/>
            </a:solidFill>
            <a:prstDash val="solid"/>
            <a:tailEnd type="triangle" w="sm" len="sm"/>
          </a:ln>
        </p:spPr>
      </p:cxnSp>
      <p:cxnSp>
        <p:nvCxnSpPr>
          <p:cNvPr id="82" name="Straight Arrow Connector 81"/>
          <p:cNvCxnSpPr>
            <a:stCxn id="27" idx="2"/>
            <a:endCxn id="30" idx="0"/>
          </p:cNvCxnSpPr>
          <p:nvPr/>
        </p:nvCxnSpPr>
        <p:spPr>
          <a:xfrm>
            <a:off x="6096000" y="5248275"/>
            <a:ext cx="0" cy="327345"/>
          </a:xfrm>
          <a:prstGeom prst="straightConnector1">
            <a:avLst/>
          </a:prstGeom>
          <a:ln w="19050">
            <a:solidFill>
              <a:srgbClr val="1E3A8A"/>
            </a:solidFill>
            <a:prstDash val="solid"/>
            <a:tailEnd type="triangle" w="sm" len="sm"/>
          </a:ln>
        </p:spPr>
      </p:cxnSp>
      <p:sp>
        <p:nvSpPr>
          <p:cNvPr id="41" name="Rectangle 40">
            <a:extLst>
              <a:ext uri="{FF2B5EF4-FFF2-40B4-BE49-F238E27FC236}">
                <a16:creationId xmlns:a16="http://schemas.microsoft.com/office/drawing/2014/main" id="{70C52F87-8C7C-474A-AA35-8876E4048C28}"/>
              </a:ext>
            </a:extLst>
          </p:cNvPr>
          <p:cNvSpPr>
            <a:spLocks noGrp="1"/>
          </p:cNvSpPr>
          <p:nvPr/>
        </p:nvSpPr>
        <p:spPr>
          <a:xfrm>
            <a:off x="1700212" y="3358218"/>
            <a:ext cx="1809750" cy="152400"/>
          </a:xfrm>
          <a:prstGeom prst="rect">
            <a:avLst/>
          </a:prstGeom>
          <a:noFill/>
          <a:ln w="0">
            <a:noFill/>
            <a:prstDash val="solid"/>
          </a:ln>
        </p:spPr>
        <p:txBody>
          <a:bodyPr/>
          <a:lstStyle/>
          <a:p>
            <a:pPr algn="ctr">
              <a:defRPr sz="788" b="1" i="0">
                <a:solidFill>
                  <a:srgbClr val="0F766E"/>
                </a:solidFill>
              </a:defRPr>
            </a:pPr>
            <a:r>
              <a:rPr sz="788" b="1" i="0">
                <a:solidFill>
                  <a:srgbClr val="0F766E"/>
                </a:solidFill>
              </a:rPr>
              <a:t>PASSENGER PATH</a:t>
            </a:r>
          </a:p>
        </p:txBody>
      </p:sp>
      <p:sp>
        <p:nvSpPr>
          <p:cNvPr id="42" name="Rectangle 41">
            <a:extLst>
              <a:ext uri="{FF2B5EF4-FFF2-40B4-BE49-F238E27FC236}">
                <a16:creationId xmlns:a16="http://schemas.microsoft.com/office/drawing/2014/main" id="{539AA00F-8484-4E68-A522-8E679418DF19}"/>
              </a:ext>
            </a:extLst>
          </p:cNvPr>
          <p:cNvSpPr>
            <a:spLocks noGrp="1"/>
          </p:cNvSpPr>
          <p:nvPr/>
        </p:nvSpPr>
        <p:spPr>
          <a:xfrm>
            <a:off x="8922828" y="3457575"/>
            <a:ext cx="1809750" cy="152400"/>
          </a:xfrm>
          <a:prstGeom prst="rect">
            <a:avLst/>
          </a:prstGeom>
          <a:noFill/>
          <a:ln w="0">
            <a:noFill/>
            <a:prstDash val="solid"/>
          </a:ln>
        </p:spPr>
        <p:txBody>
          <a:bodyPr/>
          <a:lstStyle/>
          <a:p>
            <a:pPr algn="ctr">
              <a:defRPr sz="788" b="1" i="0">
                <a:solidFill>
                  <a:srgbClr val="EA580C"/>
                </a:solidFill>
              </a:defRPr>
            </a:pPr>
            <a:r>
              <a:rPr sz="788" b="1" i="0" dirty="0">
                <a:solidFill>
                  <a:srgbClr val="EA580C"/>
                </a:solidFill>
              </a:rPr>
              <a:t>ETA PATH</a:t>
            </a:r>
          </a:p>
        </p:txBody>
      </p:sp>
      <p:cxnSp>
        <p:nvCxnSpPr>
          <p:cNvPr id="34" name="Connector: Curved 33">
            <a:extLst>
              <a:ext uri="{FF2B5EF4-FFF2-40B4-BE49-F238E27FC236}">
                <a16:creationId xmlns:a16="http://schemas.microsoft.com/office/drawing/2014/main" id="{AE9E2BFD-8BB1-F831-55BE-CAFE7DA62E8B}"/>
              </a:ext>
            </a:extLst>
          </p:cNvPr>
          <p:cNvCxnSpPr>
            <a:cxnSpLocks/>
            <a:stCxn id="21" idx="2"/>
            <a:endCxn id="27" idx="0"/>
          </p:cNvCxnSpPr>
          <p:nvPr/>
        </p:nvCxnSpPr>
        <p:spPr>
          <a:xfrm rot="16200000" flipH="1">
            <a:off x="5314950" y="3914774"/>
            <a:ext cx="371475" cy="1190625"/>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3349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 name="Rectangle: Rounded Corners 91">
            <a:extLst>
              <a:ext uri="{FF2B5EF4-FFF2-40B4-BE49-F238E27FC236}">
                <a16:creationId xmlns:a16="http://schemas.microsoft.com/office/drawing/2014/main" id="{52C39846-42BF-466B-8A0E-63E700603D52}"/>
              </a:ext>
            </a:extLst>
          </p:cNvPr>
          <p:cNvSpPr>
            <a:spLocks noGrp="1"/>
          </p:cNvSpPr>
          <p:nvPr/>
        </p:nvSpPr>
        <p:spPr>
          <a:xfrm>
            <a:off x="514350" y="323850"/>
            <a:ext cx="76200" cy="552450"/>
          </a:xfrm>
          <a:prstGeom prst="roundRect">
            <a:avLst>
              <a:gd name="adj" fmla="val 50000"/>
            </a:avLst>
          </a:prstGeom>
          <a:solidFill>
            <a:srgbClr val="EA580C"/>
          </a:solidFill>
          <a:ln w="0">
            <a:noFill/>
            <a:prstDash val="solid"/>
          </a:ln>
        </p:spPr>
      </p:sp>
      <p:sp>
        <p:nvSpPr>
          <p:cNvPr id="2" name="Oval 1">
            <a:extLst>
              <a:ext uri="{FF2B5EF4-FFF2-40B4-BE49-F238E27FC236}">
                <a16:creationId xmlns:a16="http://schemas.microsoft.com/office/drawing/2014/main" id="{DFE78928-D457-4C19-84D1-DC89CFA82B8B}"/>
              </a:ext>
            </a:extLst>
          </p:cNvPr>
          <p:cNvSpPr>
            <a:spLocks noGrp="1"/>
          </p:cNvSpPr>
          <p:nvPr/>
        </p:nvSpPr>
        <p:spPr>
          <a:xfrm>
            <a:off x="742950" y="361950"/>
            <a:ext cx="457200" cy="457200"/>
          </a:xfrm>
          <a:prstGeom prst="ellipse">
            <a:avLst/>
          </a:prstGeom>
          <a:solidFill>
            <a:srgbClr val="EEF2FF"/>
          </a:solidFill>
          <a:ln w="0">
            <a:noFill/>
            <a:prstDash val="solid"/>
          </a:ln>
        </p:spPr>
      </p:sp>
      <p:pic>
        <p:nvPicPr>
          <p:cNvPr id="94" name="Graphic 93"/>
          <p:cNvPicPr>
            <a:picLocks noChangeAspect="1"/>
          </p:cNvPicPr>
          <p:nvPr/>
        </p:nvPicPr>
        <p:blipFill>
          <a:blip>
            <a:extLst>
              <a:ext uri="{96DAC541-7B7A-43D3-8B79-37D633B846F1}">
                <asvg:svgBlip xmlns:asvg="http://schemas.microsoft.com/office/drawing/2016/SVG/main" r:embed="rId3"/>
              </a:ext>
            </a:extLst>
          </a:blip>
          <a:stretch/>
        </p:blipFill>
        <p:spPr>
          <a:xfrm>
            <a:off x="848106" y="467106"/>
            <a:ext cx="246888" cy="246888"/>
          </a:xfrm>
          <a:prstGeom prst="rect">
            <a:avLst/>
          </a:prstGeom>
        </p:spPr>
      </p:pic>
      <p:sp>
        <p:nvSpPr>
          <p:cNvPr id="4" name="Rectangle 3">
            <a:extLst>
              <a:ext uri="{FF2B5EF4-FFF2-40B4-BE49-F238E27FC236}">
                <a16:creationId xmlns:a16="http://schemas.microsoft.com/office/drawing/2014/main" id="{7810F5F7-FD11-47AF-8A61-BCC94F7FEC1A}"/>
              </a:ext>
            </a:extLst>
          </p:cNvPr>
          <p:cNvSpPr>
            <a:spLocks noGrp="1"/>
          </p:cNvSpPr>
          <p:nvPr/>
        </p:nvSpPr>
        <p:spPr>
          <a:xfrm>
            <a:off x="1352550" y="361950"/>
            <a:ext cx="4762500" cy="171450"/>
          </a:xfrm>
          <a:prstGeom prst="rect">
            <a:avLst/>
          </a:prstGeom>
          <a:noFill/>
          <a:ln w="0">
            <a:noFill/>
            <a:prstDash val="solid"/>
          </a:ln>
        </p:spPr>
        <p:txBody>
          <a:bodyPr/>
          <a:lstStyle/>
          <a:p>
            <a:pPr algn="l">
              <a:defRPr sz="825" b="1" i="0">
                <a:solidFill>
                  <a:srgbClr val="0F766E"/>
                </a:solidFill>
              </a:defRPr>
            </a:pPr>
            <a:r>
              <a:rPr sz="825" b="1" i="0">
                <a:solidFill>
                  <a:srgbClr val="0F766E"/>
                </a:solidFill>
              </a:rPr>
              <a:t>IMPLEMENTATION</a:t>
            </a:r>
          </a:p>
        </p:txBody>
      </p:sp>
      <p:sp>
        <p:nvSpPr>
          <p:cNvPr id="5" name="Rectangle 4">
            <a:extLst>
              <a:ext uri="{FF2B5EF4-FFF2-40B4-BE49-F238E27FC236}">
                <a16:creationId xmlns:a16="http://schemas.microsoft.com/office/drawing/2014/main" id="{71099BDC-7CDE-4C6E-ADE6-428BDB41B11A}"/>
              </a:ext>
            </a:extLst>
          </p:cNvPr>
          <p:cNvSpPr>
            <a:spLocks noGrp="1"/>
          </p:cNvSpPr>
          <p:nvPr/>
        </p:nvSpPr>
        <p:spPr>
          <a:xfrm>
            <a:off x="1352550" y="552450"/>
            <a:ext cx="9906000" cy="409575"/>
          </a:xfrm>
          <a:prstGeom prst="rect">
            <a:avLst/>
          </a:prstGeom>
          <a:noFill/>
          <a:ln w="0">
            <a:noFill/>
            <a:prstDash val="solid"/>
          </a:ln>
        </p:spPr>
        <p:txBody>
          <a:bodyPr/>
          <a:lstStyle/>
          <a:p>
            <a:pPr algn="l">
              <a:defRPr sz="2700" b="1" i="0">
                <a:solidFill>
                  <a:srgbClr val="172554"/>
                </a:solidFill>
              </a:defRPr>
            </a:pPr>
            <a:r>
              <a:rPr sz="2700" b="1" i="0" dirty="0">
                <a:solidFill>
                  <a:srgbClr val="172554"/>
                </a:solidFill>
              </a:rPr>
              <a:t>Technology Stack and </a:t>
            </a:r>
            <a:r>
              <a:rPr lang="en-IN" sz="2700" b="1" dirty="0">
                <a:solidFill>
                  <a:srgbClr val="172554"/>
                </a:solidFill>
              </a:rPr>
              <a:t>Tentative </a:t>
            </a:r>
            <a:r>
              <a:rPr sz="2700" b="1" i="0" dirty="0">
                <a:solidFill>
                  <a:srgbClr val="172554"/>
                </a:solidFill>
              </a:rPr>
              <a:t>Timeline</a:t>
            </a:r>
          </a:p>
        </p:txBody>
      </p:sp>
      <p:sp>
        <p:nvSpPr>
          <p:cNvPr id="6" name="Straight Connector 5">
            <a:extLst>
              <a:ext uri="{FF2B5EF4-FFF2-40B4-BE49-F238E27FC236}">
                <a16:creationId xmlns:a16="http://schemas.microsoft.com/office/drawing/2014/main" id="{10C388B4-7144-472C-8A6F-CCEAC8B71E66}"/>
              </a:ext>
            </a:extLst>
          </p:cNvPr>
          <p:cNvSpPr>
            <a:spLocks noGrp="1"/>
          </p:cNvSpPr>
          <p:nvPr/>
        </p:nvSpPr>
        <p:spPr>
          <a:xfrm>
            <a:off x="514350" y="6419850"/>
            <a:ext cx="11163300" cy="0"/>
          </a:xfrm>
          <a:prstGeom prst="line">
            <a:avLst/>
          </a:prstGeom>
          <a:noFill/>
          <a:ln w="9525">
            <a:solidFill>
              <a:srgbClr val="D1D5DB"/>
            </a:solidFill>
            <a:prstDash val="solid"/>
          </a:ln>
        </p:spPr>
      </p:sp>
      <p:sp>
        <p:nvSpPr>
          <p:cNvPr id="7" name="Rectangle 6">
            <a:extLst>
              <a:ext uri="{FF2B5EF4-FFF2-40B4-BE49-F238E27FC236}">
                <a16:creationId xmlns:a16="http://schemas.microsoft.com/office/drawing/2014/main" id="{CCA1C776-817E-4E51-9D6D-E159FD74F2BE}"/>
              </a:ext>
            </a:extLst>
          </p:cNvPr>
          <p:cNvSpPr>
            <a:spLocks noGrp="1"/>
          </p:cNvSpPr>
          <p:nvPr/>
        </p:nvSpPr>
        <p:spPr>
          <a:xfrm>
            <a:off x="571500" y="6515100"/>
            <a:ext cx="6858000" cy="171450"/>
          </a:xfrm>
          <a:prstGeom prst="rect">
            <a:avLst/>
          </a:prstGeom>
          <a:noFill/>
          <a:ln w="0">
            <a:noFill/>
            <a:prstDash val="solid"/>
          </a:ln>
        </p:spPr>
        <p:txBody>
          <a:bodyPr/>
          <a:lstStyle/>
          <a:p>
            <a:pPr algn="l">
              <a:defRPr sz="825" b="1" i="0">
                <a:solidFill>
                  <a:srgbClr val="4B5563"/>
                </a:solidFill>
              </a:defRPr>
            </a:pPr>
            <a:r>
              <a:rPr sz="825" b="1" i="0" dirty="0">
                <a:solidFill>
                  <a:srgbClr val="4B5563"/>
                </a:solidFill>
              </a:rPr>
              <a:t>Smart Public Bus Management System </a:t>
            </a:r>
          </a:p>
        </p:txBody>
      </p:sp>
      <p:sp>
        <p:nvSpPr>
          <p:cNvPr id="8" name="Rectangle 7">
            <a:extLst>
              <a:ext uri="{FF2B5EF4-FFF2-40B4-BE49-F238E27FC236}">
                <a16:creationId xmlns:a16="http://schemas.microsoft.com/office/drawing/2014/main" id="{B5DD3450-B057-48CA-AE28-29B832285CF5}"/>
              </a:ext>
            </a:extLst>
          </p:cNvPr>
          <p:cNvSpPr>
            <a:spLocks noGrp="1"/>
          </p:cNvSpPr>
          <p:nvPr/>
        </p:nvSpPr>
        <p:spPr>
          <a:xfrm>
            <a:off x="11049000" y="6505575"/>
            <a:ext cx="571500" cy="171450"/>
          </a:xfrm>
          <a:prstGeom prst="rect">
            <a:avLst/>
          </a:prstGeom>
          <a:noFill/>
          <a:ln w="0">
            <a:noFill/>
            <a:prstDash val="solid"/>
          </a:ln>
        </p:spPr>
        <p:txBody>
          <a:bodyPr/>
          <a:lstStyle/>
          <a:p>
            <a:pPr algn="r">
              <a:defRPr sz="825" b="1" i="0">
                <a:solidFill>
                  <a:srgbClr val="1E3A8A"/>
                </a:solidFill>
              </a:defRPr>
            </a:pPr>
            <a:r>
              <a:rPr sz="825" b="1" i="0">
                <a:solidFill>
                  <a:srgbClr val="1E3A8A"/>
                </a:solidFill>
              </a:rPr>
              <a:t>10</a:t>
            </a:r>
          </a:p>
        </p:txBody>
      </p:sp>
      <p:sp>
        <p:nvSpPr>
          <p:cNvPr id="9" name="Rectangle 8">
            <a:extLst>
              <a:ext uri="{FF2B5EF4-FFF2-40B4-BE49-F238E27FC236}">
                <a16:creationId xmlns:a16="http://schemas.microsoft.com/office/drawing/2014/main" id="{4C47A30B-43E6-43D1-B2DA-7D434EC82E32}"/>
              </a:ext>
            </a:extLst>
          </p:cNvPr>
          <p:cNvSpPr>
            <a:spLocks noGrp="1"/>
          </p:cNvSpPr>
          <p:nvPr/>
        </p:nvSpPr>
        <p:spPr>
          <a:xfrm>
            <a:off x="590550" y="1133475"/>
            <a:ext cx="3143250" cy="171450"/>
          </a:xfrm>
          <a:prstGeom prst="rect">
            <a:avLst/>
          </a:prstGeom>
          <a:noFill/>
          <a:ln w="0">
            <a:noFill/>
            <a:prstDash val="solid"/>
          </a:ln>
        </p:spPr>
        <p:txBody>
          <a:bodyPr/>
          <a:lstStyle/>
          <a:p>
            <a:pPr algn="l">
              <a:defRPr sz="825" b="1" i="0">
                <a:solidFill>
                  <a:srgbClr val="0F766E"/>
                </a:solidFill>
              </a:defRPr>
            </a:pPr>
            <a:r>
              <a:rPr sz="825" b="1" i="0">
                <a:solidFill>
                  <a:srgbClr val="0F766E"/>
                </a:solidFill>
              </a:rPr>
              <a:t>TECHNOLOGY STACK</a:t>
            </a:r>
          </a:p>
        </p:txBody>
      </p:sp>
      <p:sp>
        <p:nvSpPr>
          <p:cNvPr id="10" name="Rectangle 9">
            <a:extLst>
              <a:ext uri="{FF2B5EF4-FFF2-40B4-BE49-F238E27FC236}">
                <a16:creationId xmlns:a16="http://schemas.microsoft.com/office/drawing/2014/main" id="{98FA3144-0B37-4F60-89C9-C1E5073F61E4}"/>
              </a:ext>
            </a:extLst>
          </p:cNvPr>
          <p:cNvSpPr>
            <a:spLocks noGrp="1"/>
          </p:cNvSpPr>
          <p:nvPr/>
        </p:nvSpPr>
        <p:spPr>
          <a:xfrm>
            <a:off x="6419850" y="1133475"/>
            <a:ext cx="3810000" cy="171450"/>
          </a:xfrm>
          <a:prstGeom prst="rect">
            <a:avLst/>
          </a:prstGeom>
          <a:noFill/>
          <a:ln w="0">
            <a:noFill/>
            <a:prstDash val="solid"/>
          </a:ln>
        </p:spPr>
        <p:txBody>
          <a:bodyPr/>
          <a:lstStyle/>
          <a:p>
            <a:pPr algn="l">
              <a:defRPr sz="825" b="1" i="0">
                <a:solidFill>
                  <a:srgbClr val="0F766E"/>
                </a:solidFill>
              </a:defRPr>
            </a:pPr>
            <a:r>
              <a:rPr lang="en-IN" sz="825" b="1" i="0" dirty="0">
                <a:solidFill>
                  <a:srgbClr val="0F766E"/>
                </a:solidFill>
              </a:rPr>
              <a:t>TENTATIVE </a:t>
            </a:r>
            <a:r>
              <a:rPr sz="825" b="1" i="0" dirty="0">
                <a:solidFill>
                  <a:srgbClr val="0F766E"/>
                </a:solidFill>
              </a:rPr>
              <a:t>12-WEEK DELIVERY TIMELINE</a:t>
            </a:r>
          </a:p>
        </p:txBody>
      </p:sp>
      <p:sp>
        <p:nvSpPr>
          <p:cNvPr id="11" name="Rectangle: Rounded Corners 10">
            <a:extLst>
              <a:ext uri="{FF2B5EF4-FFF2-40B4-BE49-F238E27FC236}">
                <a16:creationId xmlns:a16="http://schemas.microsoft.com/office/drawing/2014/main" id="{BDD064AB-A790-4051-BDC4-DF61A19017AE}"/>
              </a:ext>
            </a:extLst>
          </p:cNvPr>
          <p:cNvSpPr>
            <a:spLocks noGrp="1"/>
          </p:cNvSpPr>
          <p:nvPr/>
        </p:nvSpPr>
        <p:spPr>
          <a:xfrm>
            <a:off x="590550" y="1381125"/>
            <a:ext cx="5286375" cy="4733925"/>
          </a:xfrm>
          <a:prstGeom prst="roundRect">
            <a:avLst>
              <a:gd name="adj" fmla="val 2616"/>
            </a:avLst>
          </a:prstGeom>
          <a:solidFill>
            <a:srgbClr val="FFFFFF"/>
          </a:solidFill>
          <a:ln w="9525">
            <a:solidFill>
              <a:srgbClr val="D1D5DB"/>
            </a:solidFill>
            <a:prstDash val="solid"/>
          </a:ln>
        </p:spPr>
      </p:sp>
      <p:sp>
        <p:nvSpPr>
          <p:cNvPr id="12" name="Rectangle: Rounded Corners 11">
            <a:extLst>
              <a:ext uri="{FF2B5EF4-FFF2-40B4-BE49-F238E27FC236}">
                <a16:creationId xmlns:a16="http://schemas.microsoft.com/office/drawing/2014/main" id="{D835B491-DD1A-4CD3-9100-CD39BCC392E6}"/>
              </a:ext>
            </a:extLst>
          </p:cNvPr>
          <p:cNvSpPr>
            <a:spLocks noGrp="1"/>
          </p:cNvSpPr>
          <p:nvPr/>
        </p:nvSpPr>
        <p:spPr>
          <a:xfrm>
            <a:off x="590550" y="1381125"/>
            <a:ext cx="5286375" cy="400050"/>
          </a:xfrm>
          <a:prstGeom prst="roundRect">
            <a:avLst>
              <a:gd name="adj" fmla="val 30952"/>
            </a:avLst>
          </a:prstGeom>
          <a:solidFill>
            <a:srgbClr val="1E3A8A"/>
          </a:solidFill>
          <a:ln w="0">
            <a:noFill/>
            <a:prstDash val="solid"/>
          </a:ln>
        </p:spPr>
      </p:sp>
      <p:sp>
        <p:nvSpPr>
          <p:cNvPr id="13" name="Rectangle 12">
            <a:extLst>
              <a:ext uri="{FF2B5EF4-FFF2-40B4-BE49-F238E27FC236}">
                <a16:creationId xmlns:a16="http://schemas.microsoft.com/office/drawing/2014/main" id="{796C5DBD-CF16-406F-B929-52D00436DD3D}"/>
              </a:ext>
            </a:extLst>
          </p:cNvPr>
          <p:cNvSpPr>
            <a:spLocks noGrp="1"/>
          </p:cNvSpPr>
          <p:nvPr/>
        </p:nvSpPr>
        <p:spPr>
          <a:xfrm>
            <a:off x="800100" y="1485900"/>
            <a:ext cx="2286000" cy="171450"/>
          </a:xfrm>
          <a:prstGeom prst="rect">
            <a:avLst/>
          </a:prstGeom>
          <a:noFill/>
          <a:ln w="0">
            <a:noFill/>
            <a:prstDash val="solid"/>
          </a:ln>
        </p:spPr>
        <p:txBody>
          <a:bodyPr/>
          <a:lstStyle/>
          <a:p>
            <a:pPr algn="l">
              <a:defRPr sz="900" b="1" i="0">
                <a:solidFill>
                  <a:srgbClr val="FFFFFF"/>
                </a:solidFill>
              </a:defRPr>
            </a:pPr>
            <a:r>
              <a:rPr sz="900" b="1" i="0">
                <a:solidFill>
                  <a:srgbClr val="FFFFFF"/>
                </a:solidFill>
              </a:rPr>
              <a:t>TECHNOLOGY</a:t>
            </a:r>
          </a:p>
        </p:txBody>
      </p:sp>
      <p:sp>
        <p:nvSpPr>
          <p:cNvPr id="14" name="Rectangle 13">
            <a:extLst>
              <a:ext uri="{FF2B5EF4-FFF2-40B4-BE49-F238E27FC236}">
                <a16:creationId xmlns:a16="http://schemas.microsoft.com/office/drawing/2014/main" id="{0D5462DA-E24E-48AF-B2D4-8B612F147B07}"/>
              </a:ext>
            </a:extLst>
          </p:cNvPr>
          <p:cNvSpPr>
            <a:spLocks noGrp="1"/>
          </p:cNvSpPr>
          <p:nvPr/>
        </p:nvSpPr>
        <p:spPr>
          <a:xfrm>
            <a:off x="3190875" y="1485900"/>
            <a:ext cx="2381250" cy="171450"/>
          </a:xfrm>
          <a:prstGeom prst="rect">
            <a:avLst/>
          </a:prstGeom>
          <a:noFill/>
          <a:ln w="0">
            <a:noFill/>
            <a:prstDash val="solid"/>
          </a:ln>
        </p:spPr>
        <p:txBody>
          <a:bodyPr/>
          <a:lstStyle/>
          <a:p>
            <a:pPr algn="l">
              <a:defRPr sz="900" b="1" i="0">
                <a:solidFill>
                  <a:srgbClr val="FFFFFF"/>
                </a:solidFill>
              </a:defRPr>
            </a:pPr>
            <a:r>
              <a:rPr sz="900" b="1" i="0">
                <a:solidFill>
                  <a:srgbClr val="FFFFFF"/>
                </a:solidFill>
              </a:rPr>
              <a:t>ROLE IN THE SYSTEM</a:t>
            </a:r>
          </a:p>
        </p:txBody>
      </p:sp>
      <p:sp>
        <p:nvSpPr>
          <p:cNvPr id="15" name="Rectangle 14">
            <a:extLst>
              <a:ext uri="{FF2B5EF4-FFF2-40B4-BE49-F238E27FC236}">
                <a16:creationId xmlns:a16="http://schemas.microsoft.com/office/drawing/2014/main" id="{BF2AB90A-9DDE-41AA-9C7E-14D6A40A3C25}"/>
              </a:ext>
            </a:extLst>
          </p:cNvPr>
          <p:cNvSpPr>
            <a:spLocks noGrp="1"/>
          </p:cNvSpPr>
          <p:nvPr/>
        </p:nvSpPr>
        <p:spPr>
          <a:xfrm>
            <a:off x="600075" y="1781175"/>
            <a:ext cx="5267325" cy="609600"/>
          </a:xfrm>
          <a:prstGeom prst="rect">
            <a:avLst/>
          </a:prstGeom>
          <a:solidFill>
            <a:srgbClr val="F3F4F6"/>
          </a:solidFill>
          <a:ln w="0">
            <a:noFill/>
            <a:prstDash val="solid"/>
          </a:ln>
        </p:spPr>
      </p:sp>
      <p:sp>
        <p:nvSpPr>
          <p:cNvPr id="16" name="Oval 15">
            <a:extLst>
              <a:ext uri="{FF2B5EF4-FFF2-40B4-BE49-F238E27FC236}">
                <a16:creationId xmlns:a16="http://schemas.microsoft.com/office/drawing/2014/main" id="{50677D4E-6A52-425A-94B0-E710EEDD8962}"/>
              </a:ext>
            </a:extLst>
          </p:cNvPr>
          <p:cNvSpPr>
            <a:spLocks noGrp="1"/>
          </p:cNvSpPr>
          <p:nvPr/>
        </p:nvSpPr>
        <p:spPr>
          <a:xfrm>
            <a:off x="762000" y="1905000"/>
            <a:ext cx="361950" cy="361950"/>
          </a:xfrm>
          <a:prstGeom prst="ellipse">
            <a:avLst/>
          </a:prstGeom>
          <a:solidFill>
            <a:srgbClr val="ECFDF5"/>
          </a:solidFill>
          <a:ln w="0">
            <a:noFill/>
            <a:prstDash val="solid"/>
          </a:ln>
        </p:spPr>
      </p:sp>
      <p:pic>
        <p:nvPicPr>
          <p:cNvPr id="108" name="Graphic 107"/>
          <p:cNvPicPr>
            <a:picLocks noChangeAspect="1"/>
          </p:cNvPicPr>
          <p:nvPr/>
        </p:nvPicPr>
        <p:blipFill>
          <a:blip>
            <a:extLst>
              <a:ext uri="{96DAC541-7B7A-43D3-8B79-37D633B846F1}">
                <asvg:svgBlip xmlns:asvg="http://schemas.microsoft.com/office/drawing/2016/SVG/main" r:embed="rId4"/>
              </a:ext>
            </a:extLst>
          </a:blip>
          <a:stretch/>
        </p:blipFill>
        <p:spPr>
          <a:xfrm>
            <a:off x="845249" y="1988249"/>
            <a:ext cx="195453" cy="195453"/>
          </a:xfrm>
          <a:prstGeom prst="rect">
            <a:avLst/>
          </a:prstGeom>
        </p:spPr>
      </p:pic>
      <p:sp>
        <p:nvSpPr>
          <p:cNvPr id="18" name="Rectangle 17">
            <a:extLst>
              <a:ext uri="{FF2B5EF4-FFF2-40B4-BE49-F238E27FC236}">
                <a16:creationId xmlns:a16="http://schemas.microsoft.com/office/drawing/2014/main" id="{0A384345-789E-4AC1-8FC2-122861B951F6}"/>
              </a:ext>
            </a:extLst>
          </p:cNvPr>
          <p:cNvSpPr>
            <a:spLocks noGrp="1"/>
          </p:cNvSpPr>
          <p:nvPr/>
        </p:nvSpPr>
        <p:spPr>
          <a:xfrm>
            <a:off x="1257300" y="1885950"/>
            <a:ext cx="1905000" cy="361950"/>
          </a:xfrm>
          <a:prstGeom prst="rect">
            <a:avLst/>
          </a:prstGeom>
          <a:noFill/>
          <a:ln w="0">
            <a:noFill/>
            <a:prstDash val="solid"/>
          </a:ln>
        </p:spPr>
        <p:txBody>
          <a:bodyPr/>
          <a:lstStyle/>
          <a:p>
            <a:pPr algn="l">
              <a:defRPr sz="1088" b="1" i="0">
                <a:solidFill>
                  <a:srgbClr val="172554"/>
                </a:solidFill>
              </a:defRPr>
            </a:pPr>
            <a:r>
              <a:rPr lang="en-IN" sz="1088" b="1" dirty="0">
                <a:solidFill>
                  <a:srgbClr val="172554"/>
                </a:solidFill>
              </a:rPr>
              <a:t>Next.js and React Native</a:t>
            </a:r>
            <a:endParaRPr sz="1088" b="1" i="0" dirty="0">
              <a:solidFill>
                <a:srgbClr val="172554"/>
              </a:solidFill>
            </a:endParaRPr>
          </a:p>
        </p:txBody>
      </p:sp>
      <p:sp>
        <p:nvSpPr>
          <p:cNvPr id="19" name="Rectangle 18">
            <a:extLst>
              <a:ext uri="{FF2B5EF4-FFF2-40B4-BE49-F238E27FC236}">
                <a16:creationId xmlns:a16="http://schemas.microsoft.com/office/drawing/2014/main" id="{4A94972B-6D31-4B5E-98C3-1BAE5B21D019}"/>
              </a:ext>
            </a:extLst>
          </p:cNvPr>
          <p:cNvSpPr>
            <a:spLocks noGrp="1"/>
          </p:cNvSpPr>
          <p:nvPr/>
        </p:nvSpPr>
        <p:spPr>
          <a:xfrm>
            <a:off x="3190875" y="1885950"/>
            <a:ext cx="2457450" cy="381000"/>
          </a:xfrm>
          <a:prstGeom prst="rect">
            <a:avLst/>
          </a:prstGeom>
          <a:noFill/>
          <a:ln w="0">
            <a:noFill/>
            <a:prstDash val="solid"/>
          </a:ln>
        </p:spPr>
        <p:txBody>
          <a:bodyPr/>
          <a:lstStyle/>
          <a:p>
            <a:pPr algn="l">
              <a:defRPr sz="990" b="0" i="0">
                <a:solidFill>
                  <a:srgbClr val="4B5563"/>
                </a:solidFill>
              </a:defRPr>
            </a:pPr>
            <a:r>
              <a:rPr sz="990" b="0" i="0">
                <a:solidFill>
                  <a:srgbClr val="4B5563"/>
                </a:solidFill>
              </a:rPr>
              <a:t>Passenger, driver, admin screens</a:t>
            </a:r>
          </a:p>
        </p:txBody>
      </p:sp>
      <p:sp>
        <p:nvSpPr>
          <p:cNvPr id="20" name="Straight Connector 19">
            <a:extLst>
              <a:ext uri="{FF2B5EF4-FFF2-40B4-BE49-F238E27FC236}">
                <a16:creationId xmlns:a16="http://schemas.microsoft.com/office/drawing/2014/main" id="{DFB42A5C-1026-4C7D-A858-AD9E8C28E5B8}"/>
              </a:ext>
            </a:extLst>
          </p:cNvPr>
          <p:cNvSpPr>
            <a:spLocks noGrp="1"/>
          </p:cNvSpPr>
          <p:nvPr/>
        </p:nvSpPr>
        <p:spPr>
          <a:xfrm>
            <a:off x="762000" y="2381250"/>
            <a:ext cx="4933950" cy="0"/>
          </a:xfrm>
          <a:prstGeom prst="line">
            <a:avLst/>
          </a:prstGeom>
          <a:noFill/>
          <a:ln w="7620">
            <a:solidFill>
              <a:srgbClr val="D1D5DB"/>
            </a:solidFill>
            <a:prstDash val="solid"/>
          </a:ln>
        </p:spPr>
      </p:sp>
      <p:sp>
        <p:nvSpPr>
          <p:cNvPr id="21" name="Rectangle 20">
            <a:extLst>
              <a:ext uri="{FF2B5EF4-FFF2-40B4-BE49-F238E27FC236}">
                <a16:creationId xmlns:a16="http://schemas.microsoft.com/office/drawing/2014/main" id="{478E9018-6B06-4FA9-ACF6-F4707E339419}"/>
              </a:ext>
            </a:extLst>
          </p:cNvPr>
          <p:cNvSpPr>
            <a:spLocks noGrp="1"/>
          </p:cNvSpPr>
          <p:nvPr/>
        </p:nvSpPr>
        <p:spPr>
          <a:xfrm>
            <a:off x="600075" y="2390775"/>
            <a:ext cx="5267325" cy="609600"/>
          </a:xfrm>
          <a:prstGeom prst="rect">
            <a:avLst/>
          </a:prstGeom>
          <a:solidFill>
            <a:srgbClr val="FFFFFF"/>
          </a:solidFill>
          <a:ln w="0">
            <a:noFill/>
            <a:prstDash val="solid"/>
          </a:ln>
        </p:spPr>
      </p:sp>
      <p:sp>
        <p:nvSpPr>
          <p:cNvPr id="22" name="Oval 21">
            <a:extLst>
              <a:ext uri="{FF2B5EF4-FFF2-40B4-BE49-F238E27FC236}">
                <a16:creationId xmlns:a16="http://schemas.microsoft.com/office/drawing/2014/main" id="{F604E822-A9EC-438C-8679-F6B2A71E86C3}"/>
              </a:ext>
            </a:extLst>
          </p:cNvPr>
          <p:cNvSpPr>
            <a:spLocks noGrp="1"/>
          </p:cNvSpPr>
          <p:nvPr/>
        </p:nvSpPr>
        <p:spPr>
          <a:xfrm>
            <a:off x="762000" y="2514600"/>
            <a:ext cx="361950" cy="361950"/>
          </a:xfrm>
          <a:prstGeom prst="ellipse">
            <a:avLst/>
          </a:prstGeom>
          <a:solidFill>
            <a:srgbClr val="ECFDF5"/>
          </a:solidFill>
          <a:ln w="0">
            <a:noFill/>
            <a:prstDash val="solid"/>
          </a:ln>
        </p:spPr>
      </p:sp>
      <p:pic>
        <p:nvPicPr>
          <p:cNvPr id="114" name="Graphic 113"/>
          <p:cNvPicPr>
            <a:picLocks noChangeAspect="1"/>
          </p:cNvPicPr>
          <p:nvPr/>
        </p:nvPicPr>
        <p:blipFill>
          <a:blip>
            <a:extLst>
              <a:ext uri="{96DAC541-7B7A-43D3-8B79-37D633B846F1}">
                <asvg:svgBlip xmlns:asvg="http://schemas.microsoft.com/office/drawing/2016/SVG/main" r:embed="rId5"/>
              </a:ext>
            </a:extLst>
          </a:blip>
          <a:stretch/>
        </p:blipFill>
        <p:spPr>
          <a:xfrm>
            <a:off x="845249" y="2597849"/>
            <a:ext cx="195453" cy="195453"/>
          </a:xfrm>
          <a:prstGeom prst="rect">
            <a:avLst/>
          </a:prstGeom>
        </p:spPr>
      </p:pic>
      <p:sp>
        <p:nvSpPr>
          <p:cNvPr id="24" name="Rectangle 23">
            <a:extLst>
              <a:ext uri="{FF2B5EF4-FFF2-40B4-BE49-F238E27FC236}">
                <a16:creationId xmlns:a16="http://schemas.microsoft.com/office/drawing/2014/main" id="{5A3BE3A0-00B2-4362-A45A-52EB448A0441}"/>
              </a:ext>
            </a:extLst>
          </p:cNvPr>
          <p:cNvSpPr>
            <a:spLocks noGrp="1"/>
          </p:cNvSpPr>
          <p:nvPr/>
        </p:nvSpPr>
        <p:spPr>
          <a:xfrm>
            <a:off x="1257300" y="2495550"/>
            <a:ext cx="1905000" cy="361950"/>
          </a:xfrm>
          <a:prstGeom prst="rect">
            <a:avLst/>
          </a:prstGeom>
          <a:noFill/>
          <a:ln w="0">
            <a:noFill/>
            <a:prstDash val="solid"/>
          </a:ln>
        </p:spPr>
        <p:txBody>
          <a:bodyPr/>
          <a:lstStyle/>
          <a:p>
            <a:pPr algn="l">
              <a:defRPr sz="1088" b="1" i="0">
                <a:solidFill>
                  <a:srgbClr val="172554"/>
                </a:solidFill>
              </a:defRPr>
            </a:pPr>
            <a:r>
              <a:rPr lang="en-IN" sz="1088" b="1" dirty="0">
                <a:solidFill>
                  <a:srgbClr val="172554"/>
                </a:solidFill>
              </a:rPr>
              <a:t>Express</a:t>
            </a:r>
            <a:r>
              <a:rPr sz="1088" b="1" i="0" dirty="0">
                <a:solidFill>
                  <a:srgbClr val="172554"/>
                </a:solidFill>
              </a:rPr>
              <a:t>.js</a:t>
            </a:r>
          </a:p>
        </p:txBody>
      </p:sp>
      <p:sp>
        <p:nvSpPr>
          <p:cNvPr id="25" name="Rectangle 24">
            <a:extLst>
              <a:ext uri="{FF2B5EF4-FFF2-40B4-BE49-F238E27FC236}">
                <a16:creationId xmlns:a16="http://schemas.microsoft.com/office/drawing/2014/main" id="{22C1C144-D413-41A0-A01F-10D0C4BB342D}"/>
              </a:ext>
            </a:extLst>
          </p:cNvPr>
          <p:cNvSpPr>
            <a:spLocks noGrp="1"/>
          </p:cNvSpPr>
          <p:nvPr/>
        </p:nvSpPr>
        <p:spPr>
          <a:xfrm>
            <a:off x="3190875" y="2495550"/>
            <a:ext cx="2457450" cy="381000"/>
          </a:xfrm>
          <a:prstGeom prst="rect">
            <a:avLst/>
          </a:prstGeom>
          <a:noFill/>
          <a:ln w="0">
            <a:noFill/>
            <a:prstDash val="solid"/>
          </a:ln>
        </p:spPr>
        <p:txBody>
          <a:bodyPr/>
          <a:lstStyle/>
          <a:p>
            <a:pPr algn="l">
              <a:defRPr sz="990" b="0" i="0">
                <a:solidFill>
                  <a:srgbClr val="4B5563"/>
                </a:solidFill>
              </a:defRPr>
            </a:pPr>
            <a:r>
              <a:rPr sz="990" b="0" i="0">
                <a:solidFill>
                  <a:srgbClr val="4B5563"/>
                </a:solidFill>
              </a:rPr>
              <a:t>Server holding live connections</a:t>
            </a:r>
          </a:p>
        </p:txBody>
      </p:sp>
      <p:sp>
        <p:nvSpPr>
          <p:cNvPr id="26" name="Straight Connector 25">
            <a:extLst>
              <a:ext uri="{FF2B5EF4-FFF2-40B4-BE49-F238E27FC236}">
                <a16:creationId xmlns:a16="http://schemas.microsoft.com/office/drawing/2014/main" id="{64BABC6B-7626-44A2-8894-0F029265F193}"/>
              </a:ext>
            </a:extLst>
          </p:cNvPr>
          <p:cNvSpPr>
            <a:spLocks noGrp="1"/>
          </p:cNvSpPr>
          <p:nvPr/>
        </p:nvSpPr>
        <p:spPr>
          <a:xfrm>
            <a:off x="762000" y="2990850"/>
            <a:ext cx="4933950" cy="0"/>
          </a:xfrm>
          <a:prstGeom prst="line">
            <a:avLst/>
          </a:prstGeom>
          <a:noFill/>
          <a:ln w="7620">
            <a:solidFill>
              <a:srgbClr val="D1D5DB"/>
            </a:solidFill>
            <a:prstDash val="solid"/>
          </a:ln>
        </p:spPr>
      </p:sp>
      <p:sp>
        <p:nvSpPr>
          <p:cNvPr id="27" name="Rectangle 26">
            <a:extLst>
              <a:ext uri="{FF2B5EF4-FFF2-40B4-BE49-F238E27FC236}">
                <a16:creationId xmlns:a16="http://schemas.microsoft.com/office/drawing/2014/main" id="{3BBBB8DF-E0C0-4045-BB2C-DCE4AD19EE76}"/>
              </a:ext>
            </a:extLst>
          </p:cNvPr>
          <p:cNvSpPr>
            <a:spLocks noGrp="1"/>
          </p:cNvSpPr>
          <p:nvPr/>
        </p:nvSpPr>
        <p:spPr>
          <a:xfrm>
            <a:off x="600075" y="3000375"/>
            <a:ext cx="5267325" cy="609600"/>
          </a:xfrm>
          <a:prstGeom prst="rect">
            <a:avLst/>
          </a:prstGeom>
          <a:solidFill>
            <a:srgbClr val="F3F4F6"/>
          </a:solidFill>
          <a:ln w="0">
            <a:noFill/>
            <a:prstDash val="solid"/>
          </a:ln>
        </p:spPr>
      </p:sp>
      <p:sp>
        <p:nvSpPr>
          <p:cNvPr id="28" name="Oval 27">
            <a:extLst>
              <a:ext uri="{FF2B5EF4-FFF2-40B4-BE49-F238E27FC236}">
                <a16:creationId xmlns:a16="http://schemas.microsoft.com/office/drawing/2014/main" id="{2B975C9A-C372-41B1-ADB4-AD210EA92310}"/>
              </a:ext>
            </a:extLst>
          </p:cNvPr>
          <p:cNvSpPr>
            <a:spLocks noGrp="1"/>
          </p:cNvSpPr>
          <p:nvPr/>
        </p:nvSpPr>
        <p:spPr>
          <a:xfrm>
            <a:off x="762000" y="3124200"/>
            <a:ext cx="361950" cy="361950"/>
          </a:xfrm>
          <a:prstGeom prst="ellipse">
            <a:avLst/>
          </a:prstGeom>
          <a:solidFill>
            <a:srgbClr val="ECFDF5"/>
          </a:solidFill>
          <a:ln w="0">
            <a:noFill/>
            <a:prstDash val="solid"/>
          </a:ln>
        </p:spPr>
      </p:sp>
      <p:pic>
        <p:nvPicPr>
          <p:cNvPr id="120" name="Graphic 119"/>
          <p:cNvPicPr>
            <a:picLocks noChangeAspect="1"/>
          </p:cNvPicPr>
          <p:nvPr/>
        </p:nvPicPr>
        <p:blipFill>
          <a:blip>
            <a:extLst>
              <a:ext uri="{96DAC541-7B7A-43D3-8B79-37D633B846F1}">
                <asvg:svgBlip xmlns:asvg="http://schemas.microsoft.com/office/drawing/2016/SVG/main" r:embed="rId6"/>
              </a:ext>
            </a:extLst>
          </a:blip>
          <a:stretch/>
        </p:blipFill>
        <p:spPr>
          <a:xfrm>
            <a:off x="845249" y="3207449"/>
            <a:ext cx="195453" cy="195453"/>
          </a:xfrm>
          <a:prstGeom prst="rect">
            <a:avLst/>
          </a:prstGeom>
        </p:spPr>
      </p:pic>
      <p:sp>
        <p:nvSpPr>
          <p:cNvPr id="30" name="Rectangle 29">
            <a:extLst>
              <a:ext uri="{FF2B5EF4-FFF2-40B4-BE49-F238E27FC236}">
                <a16:creationId xmlns:a16="http://schemas.microsoft.com/office/drawing/2014/main" id="{6E35A723-A3BC-4587-8DA7-FCB21D13FA48}"/>
              </a:ext>
            </a:extLst>
          </p:cNvPr>
          <p:cNvSpPr>
            <a:spLocks noGrp="1"/>
          </p:cNvSpPr>
          <p:nvPr/>
        </p:nvSpPr>
        <p:spPr>
          <a:xfrm>
            <a:off x="1257300" y="3105150"/>
            <a:ext cx="1905000" cy="361950"/>
          </a:xfrm>
          <a:prstGeom prst="rect">
            <a:avLst/>
          </a:prstGeom>
          <a:noFill/>
          <a:ln w="0">
            <a:noFill/>
            <a:prstDash val="solid"/>
          </a:ln>
        </p:spPr>
        <p:txBody>
          <a:bodyPr/>
          <a:lstStyle/>
          <a:p>
            <a:pPr algn="l">
              <a:defRPr sz="1088" b="1" i="0">
                <a:solidFill>
                  <a:srgbClr val="172554"/>
                </a:solidFill>
              </a:defRPr>
            </a:pPr>
            <a:r>
              <a:rPr sz="1088" b="1" i="0">
                <a:solidFill>
                  <a:srgbClr val="172554"/>
                </a:solidFill>
              </a:rPr>
              <a:t>PostgreSQL with PostGIS</a:t>
            </a:r>
          </a:p>
        </p:txBody>
      </p:sp>
      <p:sp>
        <p:nvSpPr>
          <p:cNvPr id="31" name="Rectangle 30">
            <a:extLst>
              <a:ext uri="{FF2B5EF4-FFF2-40B4-BE49-F238E27FC236}">
                <a16:creationId xmlns:a16="http://schemas.microsoft.com/office/drawing/2014/main" id="{9517E347-0B71-440D-ABF9-FDAA5DA9A72D}"/>
              </a:ext>
            </a:extLst>
          </p:cNvPr>
          <p:cNvSpPr>
            <a:spLocks noGrp="1"/>
          </p:cNvSpPr>
          <p:nvPr/>
        </p:nvSpPr>
        <p:spPr>
          <a:xfrm>
            <a:off x="3190875" y="3105150"/>
            <a:ext cx="2457450" cy="381000"/>
          </a:xfrm>
          <a:prstGeom prst="rect">
            <a:avLst/>
          </a:prstGeom>
          <a:noFill/>
          <a:ln w="0">
            <a:noFill/>
            <a:prstDash val="solid"/>
          </a:ln>
        </p:spPr>
        <p:txBody>
          <a:bodyPr/>
          <a:lstStyle/>
          <a:p>
            <a:pPr algn="l">
              <a:defRPr sz="990" b="0" i="0">
                <a:solidFill>
                  <a:srgbClr val="4B5563"/>
                </a:solidFill>
              </a:defRPr>
            </a:pPr>
            <a:r>
              <a:rPr sz="990" b="0" i="0">
                <a:solidFill>
                  <a:srgbClr val="4B5563"/>
                </a:solidFill>
              </a:rPr>
              <a:t>Permanent records and geo queries</a:t>
            </a:r>
          </a:p>
        </p:txBody>
      </p:sp>
      <p:sp>
        <p:nvSpPr>
          <p:cNvPr id="32" name="Straight Connector 31">
            <a:extLst>
              <a:ext uri="{FF2B5EF4-FFF2-40B4-BE49-F238E27FC236}">
                <a16:creationId xmlns:a16="http://schemas.microsoft.com/office/drawing/2014/main" id="{0F6224AD-3201-4BA8-A57B-75C1F817B6FE}"/>
              </a:ext>
            </a:extLst>
          </p:cNvPr>
          <p:cNvSpPr>
            <a:spLocks noGrp="1"/>
          </p:cNvSpPr>
          <p:nvPr/>
        </p:nvSpPr>
        <p:spPr>
          <a:xfrm>
            <a:off x="762000" y="3600450"/>
            <a:ext cx="4933950" cy="0"/>
          </a:xfrm>
          <a:prstGeom prst="line">
            <a:avLst/>
          </a:prstGeom>
          <a:noFill/>
          <a:ln w="7620">
            <a:solidFill>
              <a:srgbClr val="D1D5DB"/>
            </a:solidFill>
            <a:prstDash val="solid"/>
          </a:ln>
        </p:spPr>
      </p:sp>
      <p:sp>
        <p:nvSpPr>
          <p:cNvPr id="33" name="Rectangle 32">
            <a:extLst>
              <a:ext uri="{FF2B5EF4-FFF2-40B4-BE49-F238E27FC236}">
                <a16:creationId xmlns:a16="http://schemas.microsoft.com/office/drawing/2014/main" id="{F367E3C0-7110-425B-9435-153BB0449E32}"/>
              </a:ext>
            </a:extLst>
          </p:cNvPr>
          <p:cNvSpPr>
            <a:spLocks noGrp="1"/>
          </p:cNvSpPr>
          <p:nvPr/>
        </p:nvSpPr>
        <p:spPr>
          <a:xfrm>
            <a:off x="600075" y="3609975"/>
            <a:ext cx="5267325" cy="609600"/>
          </a:xfrm>
          <a:prstGeom prst="rect">
            <a:avLst/>
          </a:prstGeom>
          <a:solidFill>
            <a:srgbClr val="FFFFFF"/>
          </a:solidFill>
          <a:ln w="0">
            <a:noFill/>
            <a:prstDash val="solid"/>
          </a:ln>
        </p:spPr>
      </p:sp>
      <p:sp>
        <p:nvSpPr>
          <p:cNvPr id="34" name="Oval 33">
            <a:extLst>
              <a:ext uri="{FF2B5EF4-FFF2-40B4-BE49-F238E27FC236}">
                <a16:creationId xmlns:a16="http://schemas.microsoft.com/office/drawing/2014/main" id="{A51C5233-25B1-4153-B640-F8D47298C0AA}"/>
              </a:ext>
            </a:extLst>
          </p:cNvPr>
          <p:cNvSpPr>
            <a:spLocks noGrp="1"/>
          </p:cNvSpPr>
          <p:nvPr/>
        </p:nvSpPr>
        <p:spPr>
          <a:xfrm>
            <a:off x="762000" y="3733800"/>
            <a:ext cx="361950" cy="361950"/>
          </a:xfrm>
          <a:prstGeom prst="ellipse">
            <a:avLst/>
          </a:prstGeom>
          <a:solidFill>
            <a:srgbClr val="ECFDF5"/>
          </a:solidFill>
          <a:ln w="0">
            <a:noFill/>
            <a:prstDash val="solid"/>
          </a:ln>
        </p:spPr>
      </p:sp>
      <p:pic>
        <p:nvPicPr>
          <p:cNvPr id="126" name="Graphic 125"/>
          <p:cNvPicPr>
            <a:picLocks noChangeAspect="1"/>
          </p:cNvPicPr>
          <p:nvPr/>
        </p:nvPicPr>
        <p:blipFill>
          <a:blip>
            <a:extLst>
              <a:ext uri="{96DAC541-7B7A-43D3-8B79-37D633B846F1}">
                <asvg:svgBlip xmlns:asvg="http://schemas.microsoft.com/office/drawing/2016/SVG/main" r:embed="rId7"/>
              </a:ext>
            </a:extLst>
          </a:blip>
          <a:stretch/>
        </p:blipFill>
        <p:spPr>
          <a:xfrm>
            <a:off x="845249" y="3817049"/>
            <a:ext cx="195453" cy="195453"/>
          </a:xfrm>
          <a:prstGeom prst="rect">
            <a:avLst/>
          </a:prstGeom>
        </p:spPr>
      </p:pic>
      <p:sp>
        <p:nvSpPr>
          <p:cNvPr id="36" name="Rectangle 35">
            <a:extLst>
              <a:ext uri="{FF2B5EF4-FFF2-40B4-BE49-F238E27FC236}">
                <a16:creationId xmlns:a16="http://schemas.microsoft.com/office/drawing/2014/main" id="{69A839BC-D78C-4607-8853-FC0AC11A3DFE}"/>
              </a:ext>
            </a:extLst>
          </p:cNvPr>
          <p:cNvSpPr>
            <a:spLocks noGrp="1"/>
          </p:cNvSpPr>
          <p:nvPr/>
        </p:nvSpPr>
        <p:spPr>
          <a:xfrm>
            <a:off x="1257300" y="3714750"/>
            <a:ext cx="1905000" cy="361950"/>
          </a:xfrm>
          <a:prstGeom prst="rect">
            <a:avLst/>
          </a:prstGeom>
          <a:noFill/>
          <a:ln w="0">
            <a:noFill/>
            <a:prstDash val="solid"/>
          </a:ln>
        </p:spPr>
        <p:txBody>
          <a:bodyPr/>
          <a:lstStyle/>
          <a:p>
            <a:pPr algn="l">
              <a:defRPr sz="1088" b="1" i="0">
                <a:solidFill>
                  <a:srgbClr val="172554"/>
                </a:solidFill>
              </a:defRPr>
            </a:pPr>
            <a:r>
              <a:rPr sz="1088" b="1" i="0">
                <a:solidFill>
                  <a:srgbClr val="172554"/>
                </a:solidFill>
              </a:rPr>
              <a:t>Redis</a:t>
            </a:r>
          </a:p>
        </p:txBody>
      </p:sp>
      <p:sp>
        <p:nvSpPr>
          <p:cNvPr id="37" name="Rectangle 36">
            <a:extLst>
              <a:ext uri="{FF2B5EF4-FFF2-40B4-BE49-F238E27FC236}">
                <a16:creationId xmlns:a16="http://schemas.microsoft.com/office/drawing/2014/main" id="{C7C5E07B-22E3-4077-8AB7-8C61B8B76428}"/>
              </a:ext>
            </a:extLst>
          </p:cNvPr>
          <p:cNvSpPr>
            <a:spLocks noGrp="1"/>
          </p:cNvSpPr>
          <p:nvPr/>
        </p:nvSpPr>
        <p:spPr>
          <a:xfrm>
            <a:off x="3190875" y="3714750"/>
            <a:ext cx="2457450" cy="381000"/>
          </a:xfrm>
          <a:prstGeom prst="rect">
            <a:avLst/>
          </a:prstGeom>
          <a:noFill/>
          <a:ln w="0">
            <a:noFill/>
            <a:prstDash val="solid"/>
          </a:ln>
        </p:spPr>
        <p:txBody>
          <a:bodyPr/>
          <a:lstStyle/>
          <a:p>
            <a:pPr algn="l">
              <a:defRPr sz="990" b="0" i="0">
                <a:solidFill>
                  <a:srgbClr val="4B5563"/>
                </a:solidFill>
              </a:defRPr>
            </a:pPr>
            <a:r>
              <a:rPr sz="990" b="0" i="0">
                <a:solidFill>
                  <a:srgbClr val="4B5563"/>
                </a:solidFill>
              </a:rPr>
              <a:t>Live bus positions and messaging</a:t>
            </a:r>
          </a:p>
        </p:txBody>
      </p:sp>
      <p:sp>
        <p:nvSpPr>
          <p:cNvPr id="38" name="Straight Connector 37">
            <a:extLst>
              <a:ext uri="{FF2B5EF4-FFF2-40B4-BE49-F238E27FC236}">
                <a16:creationId xmlns:a16="http://schemas.microsoft.com/office/drawing/2014/main" id="{D089A570-930F-475E-81BF-DE09494ED9FD}"/>
              </a:ext>
            </a:extLst>
          </p:cNvPr>
          <p:cNvSpPr>
            <a:spLocks noGrp="1"/>
          </p:cNvSpPr>
          <p:nvPr/>
        </p:nvSpPr>
        <p:spPr>
          <a:xfrm>
            <a:off x="762000" y="4210050"/>
            <a:ext cx="4933950" cy="0"/>
          </a:xfrm>
          <a:prstGeom prst="line">
            <a:avLst/>
          </a:prstGeom>
          <a:noFill/>
          <a:ln w="7620">
            <a:solidFill>
              <a:srgbClr val="D1D5DB"/>
            </a:solidFill>
            <a:prstDash val="solid"/>
          </a:ln>
        </p:spPr>
      </p:sp>
      <p:sp>
        <p:nvSpPr>
          <p:cNvPr id="39" name="Rectangle 38">
            <a:extLst>
              <a:ext uri="{FF2B5EF4-FFF2-40B4-BE49-F238E27FC236}">
                <a16:creationId xmlns:a16="http://schemas.microsoft.com/office/drawing/2014/main" id="{2F65A6C7-C137-4980-87A5-B72A02E2E23B}"/>
              </a:ext>
            </a:extLst>
          </p:cNvPr>
          <p:cNvSpPr>
            <a:spLocks noGrp="1"/>
          </p:cNvSpPr>
          <p:nvPr/>
        </p:nvSpPr>
        <p:spPr>
          <a:xfrm>
            <a:off x="600075" y="4219575"/>
            <a:ext cx="5267325" cy="609600"/>
          </a:xfrm>
          <a:prstGeom prst="rect">
            <a:avLst/>
          </a:prstGeom>
          <a:solidFill>
            <a:srgbClr val="F3F4F6"/>
          </a:solidFill>
          <a:ln w="0">
            <a:noFill/>
            <a:prstDash val="solid"/>
          </a:ln>
        </p:spPr>
      </p:sp>
      <p:sp>
        <p:nvSpPr>
          <p:cNvPr id="40" name="Oval 39">
            <a:extLst>
              <a:ext uri="{FF2B5EF4-FFF2-40B4-BE49-F238E27FC236}">
                <a16:creationId xmlns:a16="http://schemas.microsoft.com/office/drawing/2014/main" id="{060D9980-4EF1-44D3-8C09-A478FFF18427}"/>
              </a:ext>
            </a:extLst>
          </p:cNvPr>
          <p:cNvSpPr>
            <a:spLocks noGrp="1"/>
          </p:cNvSpPr>
          <p:nvPr/>
        </p:nvSpPr>
        <p:spPr>
          <a:xfrm>
            <a:off x="762000" y="4343400"/>
            <a:ext cx="361950" cy="361950"/>
          </a:xfrm>
          <a:prstGeom prst="ellipse">
            <a:avLst/>
          </a:prstGeom>
          <a:solidFill>
            <a:srgbClr val="ECFDF5"/>
          </a:solidFill>
          <a:ln w="0">
            <a:noFill/>
            <a:prstDash val="solid"/>
          </a:ln>
        </p:spPr>
      </p:sp>
      <p:pic>
        <p:nvPicPr>
          <p:cNvPr id="132" name="Graphic 131"/>
          <p:cNvPicPr>
            <a:picLocks noChangeAspect="1"/>
          </p:cNvPicPr>
          <p:nvPr/>
        </p:nvPicPr>
        <p:blipFill>
          <a:blip>
            <a:extLst>
              <a:ext uri="{96DAC541-7B7A-43D3-8B79-37D633B846F1}">
                <asvg:svgBlip xmlns:asvg="http://schemas.microsoft.com/office/drawing/2016/SVG/main" r:embed="rId8"/>
              </a:ext>
            </a:extLst>
          </a:blip>
          <a:stretch/>
        </p:blipFill>
        <p:spPr>
          <a:xfrm>
            <a:off x="845249" y="4426649"/>
            <a:ext cx="195453" cy="195453"/>
          </a:xfrm>
          <a:prstGeom prst="rect">
            <a:avLst/>
          </a:prstGeom>
        </p:spPr>
      </p:pic>
      <p:sp>
        <p:nvSpPr>
          <p:cNvPr id="42" name="Rectangle 41">
            <a:extLst>
              <a:ext uri="{FF2B5EF4-FFF2-40B4-BE49-F238E27FC236}">
                <a16:creationId xmlns:a16="http://schemas.microsoft.com/office/drawing/2014/main" id="{CA50F4A4-16FC-40A1-8EEB-476E70BB6055}"/>
              </a:ext>
            </a:extLst>
          </p:cNvPr>
          <p:cNvSpPr>
            <a:spLocks noGrp="1"/>
          </p:cNvSpPr>
          <p:nvPr/>
        </p:nvSpPr>
        <p:spPr>
          <a:xfrm>
            <a:off x="1257300" y="4324350"/>
            <a:ext cx="1905000" cy="361950"/>
          </a:xfrm>
          <a:prstGeom prst="rect">
            <a:avLst/>
          </a:prstGeom>
          <a:noFill/>
          <a:ln w="0">
            <a:noFill/>
            <a:prstDash val="solid"/>
          </a:ln>
        </p:spPr>
        <p:txBody>
          <a:bodyPr/>
          <a:lstStyle/>
          <a:p>
            <a:pPr algn="l">
              <a:defRPr sz="1088" b="1" i="0">
                <a:solidFill>
                  <a:srgbClr val="172554"/>
                </a:solidFill>
              </a:defRPr>
            </a:pPr>
            <a:r>
              <a:rPr sz="1088" b="1" i="0" dirty="0">
                <a:solidFill>
                  <a:srgbClr val="172554"/>
                </a:solidFill>
              </a:rPr>
              <a:t>Socket.IO and </a:t>
            </a:r>
            <a:r>
              <a:rPr sz="1088" b="1" i="0" dirty="0" err="1">
                <a:solidFill>
                  <a:srgbClr val="172554"/>
                </a:solidFill>
              </a:rPr>
              <a:t>WebSockets</a:t>
            </a:r>
            <a:endParaRPr sz="1088" b="1" i="0" dirty="0">
              <a:solidFill>
                <a:srgbClr val="172554"/>
              </a:solidFill>
            </a:endParaRPr>
          </a:p>
        </p:txBody>
      </p:sp>
      <p:sp>
        <p:nvSpPr>
          <p:cNvPr id="43" name="Rectangle 42">
            <a:extLst>
              <a:ext uri="{FF2B5EF4-FFF2-40B4-BE49-F238E27FC236}">
                <a16:creationId xmlns:a16="http://schemas.microsoft.com/office/drawing/2014/main" id="{3616148B-5C81-48EC-BC28-0D9DCCD31072}"/>
              </a:ext>
            </a:extLst>
          </p:cNvPr>
          <p:cNvSpPr>
            <a:spLocks noGrp="1"/>
          </p:cNvSpPr>
          <p:nvPr/>
        </p:nvSpPr>
        <p:spPr>
          <a:xfrm>
            <a:off x="3190875" y="4324350"/>
            <a:ext cx="2457450" cy="381000"/>
          </a:xfrm>
          <a:prstGeom prst="rect">
            <a:avLst/>
          </a:prstGeom>
          <a:noFill/>
          <a:ln w="0">
            <a:noFill/>
            <a:prstDash val="solid"/>
          </a:ln>
        </p:spPr>
        <p:txBody>
          <a:bodyPr/>
          <a:lstStyle/>
          <a:p>
            <a:pPr algn="l">
              <a:defRPr sz="990" b="0" i="0">
                <a:solidFill>
                  <a:srgbClr val="4B5563"/>
                </a:solidFill>
              </a:defRPr>
            </a:pPr>
            <a:r>
              <a:rPr sz="990" b="0" i="0">
                <a:solidFill>
                  <a:srgbClr val="4B5563"/>
                </a:solidFill>
              </a:rPr>
              <a:t>Instant live updates</a:t>
            </a:r>
          </a:p>
        </p:txBody>
      </p:sp>
      <p:sp>
        <p:nvSpPr>
          <p:cNvPr id="44" name="Straight Connector 43">
            <a:extLst>
              <a:ext uri="{FF2B5EF4-FFF2-40B4-BE49-F238E27FC236}">
                <a16:creationId xmlns:a16="http://schemas.microsoft.com/office/drawing/2014/main" id="{9790B0D7-1B38-49BD-AF3C-46511F7D1E90}"/>
              </a:ext>
            </a:extLst>
          </p:cNvPr>
          <p:cNvSpPr>
            <a:spLocks noGrp="1"/>
          </p:cNvSpPr>
          <p:nvPr/>
        </p:nvSpPr>
        <p:spPr>
          <a:xfrm>
            <a:off x="762000" y="4819650"/>
            <a:ext cx="4933950" cy="0"/>
          </a:xfrm>
          <a:prstGeom prst="line">
            <a:avLst/>
          </a:prstGeom>
          <a:noFill/>
          <a:ln w="7620">
            <a:solidFill>
              <a:srgbClr val="D1D5DB"/>
            </a:solidFill>
            <a:prstDash val="solid"/>
          </a:ln>
        </p:spPr>
      </p:sp>
      <p:sp>
        <p:nvSpPr>
          <p:cNvPr id="45" name="Rectangle 44">
            <a:extLst>
              <a:ext uri="{FF2B5EF4-FFF2-40B4-BE49-F238E27FC236}">
                <a16:creationId xmlns:a16="http://schemas.microsoft.com/office/drawing/2014/main" id="{2A4A215E-BE9C-4DB8-857E-D59CB30B24C1}"/>
              </a:ext>
            </a:extLst>
          </p:cNvPr>
          <p:cNvSpPr>
            <a:spLocks noGrp="1"/>
          </p:cNvSpPr>
          <p:nvPr/>
        </p:nvSpPr>
        <p:spPr>
          <a:xfrm>
            <a:off x="600075" y="4829175"/>
            <a:ext cx="5267325" cy="609600"/>
          </a:xfrm>
          <a:prstGeom prst="rect">
            <a:avLst/>
          </a:prstGeom>
          <a:solidFill>
            <a:srgbClr val="FFFFFF"/>
          </a:solidFill>
          <a:ln w="0">
            <a:noFill/>
            <a:prstDash val="solid"/>
          </a:ln>
        </p:spPr>
      </p:sp>
      <p:sp>
        <p:nvSpPr>
          <p:cNvPr id="46" name="Oval 45">
            <a:extLst>
              <a:ext uri="{FF2B5EF4-FFF2-40B4-BE49-F238E27FC236}">
                <a16:creationId xmlns:a16="http://schemas.microsoft.com/office/drawing/2014/main" id="{1F81B38C-5455-411E-B01E-B6189CED0B5D}"/>
              </a:ext>
            </a:extLst>
          </p:cNvPr>
          <p:cNvSpPr>
            <a:spLocks noGrp="1"/>
          </p:cNvSpPr>
          <p:nvPr/>
        </p:nvSpPr>
        <p:spPr>
          <a:xfrm>
            <a:off x="762000" y="4953000"/>
            <a:ext cx="361950" cy="361950"/>
          </a:xfrm>
          <a:prstGeom prst="ellipse">
            <a:avLst/>
          </a:prstGeom>
          <a:solidFill>
            <a:srgbClr val="ECFDF5"/>
          </a:solidFill>
          <a:ln w="0">
            <a:noFill/>
            <a:prstDash val="solid"/>
          </a:ln>
        </p:spPr>
      </p:sp>
      <p:pic>
        <p:nvPicPr>
          <p:cNvPr id="138" name="Graphic 137"/>
          <p:cNvPicPr>
            <a:picLocks noChangeAspect="1"/>
          </p:cNvPicPr>
          <p:nvPr/>
        </p:nvPicPr>
        <p:blipFill>
          <a:blip>
            <a:extLst>
              <a:ext uri="{96DAC541-7B7A-43D3-8B79-37D633B846F1}">
                <asvg:svgBlip xmlns:asvg="http://schemas.microsoft.com/office/drawing/2016/SVG/main" r:embed="rId9"/>
              </a:ext>
            </a:extLst>
          </a:blip>
          <a:stretch/>
        </p:blipFill>
        <p:spPr>
          <a:xfrm>
            <a:off x="845249" y="5036249"/>
            <a:ext cx="195453" cy="195453"/>
          </a:xfrm>
          <a:prstGeom prst="rect">
            <a:avLst/>
          </a:prstGeom>
        </p:spPr>
      </p:pic>
      <p:sp>
        <p:nvSpPr>
          <p:cNvPr id="48" name="Rectangle 47">
            <a:extLst>
              <a:ext uri="{FF2B5EF4-FFF2-40B4-BE49-F238E27FC236}">
                <a16:creationId xmlns:a16="http://schemas.microsoft.com/office/drawing/2014/main" id="{B767F49C-F477-4841-8C5A-7D0BA8AF36C0}"/>
              </a:ext>
            </a:extLst>
          </p:cNvPr>
          <p:cNvSpPr>
            <a:spLocks noGrp="1"/>
          </p:cNvSpPr>
          <p:nvPr/>
        </p:nvSpPr>
        <p:spPr>
          <a:xfrm>
            <a:off x="1257300" y="4933950"/>
            <a:ext cx="1905000" cy="361950"/>
          </a:xfrm>
          <a:prstGeom prst="rect">
            <a:avLst/>
          </a:prstGeom>
          <a:noFill/>
          <a:ln w="0">
            <a:noFill/>
            <a:prstDash val="solid"/>
          </a:ln>
        </p:spPr>
        <p:txBody>
          <a:bodyPr/>
          <a:lstStyle/>
          <a:p>
            <a:pPr algn="l">
              <a:defRPr sz="1088" b="1" i="0">
                <a:solidFill>
                  <a:srgbClr val="172554"/>
                </a:solidFill>
              </a:defRPr>
            </a:pPr>
            <a:r>
              <a:rPr sz="1088" b="1" i="0">
                <a:solidFill>
                  <a:srgbClr val="172554"/>
                </a:solidFill>
              </a:rPr>
              <a:t>Leaflet with OpenStreetMap</a:t>
            </a:r>
          </a:p>
        </p:txBody>
      </p:sp>
      <p:sp>
        <p:nvSpPr>
          <p:cNvPr id="49" name="Rectangle 48">
            <a:extLst>
              <a:ext uri="{FF2B5EF4-FFF2-40B4-BE49-F238E27FC236}">
                <a16:creationId xmlns:a16="http://schemas.microsoft.com/office/drawing/2014/main" id="{FC05CD1E-4E3F-4AB2-A4CC-FBCE9C9C7E9B}"/>
              </a:ext>
            </a:extLst>
          </p:cNvPr>
          <p:cNvSpPr>
            <a:spLocks noGrp="1"/>
          </p:cNvSpPr>
          <p:nvPr/>
        </p:nvSpPr>
        <p:spPr>
          <a:xfrm>
            <a:off x="3190875" y="4933950"/>
            <a:ext cx="2457450" cy="381000"/>
          </a:xfrm>
          <a:prstGeom prst="rect">
            <a:avLst/>
          </a:prstGeom>
          <a:noFill/>
          <a:ln w="0">
            <a:noFill/>
            <a:prstDash val="solid"/>
          </a:ln>
        </p:spPr>
        <p:txBody>
          <a:bodyPr/>
          <a:lstStyle/>
          <a:p>
            <a:pPr algn="l">
              <a:defRPr sz="990" b="0" i="0">
                <a:solidFill>
                  <a:srgbClr val="4B5563"/>
                </a:solidFill>
              </a:defRPr>
            </a:pPr>
            <a:r>
              <a:rPr sz="990" b="0" i="0">
                <a:solidFill>
                  <a:srgbClr val="4B5563"/>
                </a:solidFill>
              </a:rPr>
              <a:t>Interactive maps</a:t>
            </a:r>
          </a:p>
        </p:txBody>
      </p:sp>
      <p:sp>
        <p:nvSpPr>
          <p:cNvPr id="50" name="Straight Connector 49">
            <a:extLst>
              <a:ext uri="{FF2B5EF4-FFF2-40B4-BE49-F238E27FC236}">
                <a16:creationId xmlns:a16="http://schemas.microsoft.com/office/drawing/2014/main" id="{91DD2456-06BB-4AF4-B8A3-A7CEC516BCF7}"/>
              </a:ext>
            </a:extLst>
          </p:cNvPr>
          <p:cNvSpPr>
            <a:spLocks noGrp="1"/>
          </p:cNvSpPr>
          <p:nvPr/>
        </p:nvSpPr>
        <p:spPr>
          <a:xfrm>
            <a:off x="762000" y="5429250"/>
            <a:ext cx="4933950" cy="0"/>
          </a:xfrm>
          <a:prstGeom prst="line">
            <a:avLst/>
          </a:prstGeom>
          <a:noFill/>
          <a:ln w="7620">
            <a:solidFill>
              <a:srgbClr val="D1D5DB"/>
            </a:solidFill>
            <a:prstDash val="solid"/>
          </a:ln>
        </p:spPr>
      </p:sp>
      <p:sp>
        <p:nvSpPr>
          <p:cNvPr id="51" name="Rectangle 50">
            <a:extLst>
              <a:ext uri="{FF2B5EF4-FFF2-40B4-BE49-F238E27FC236}">
                <a16:creationId xmlns:a16="http://schemas.microsoft.com/office/drawing/2014/main" id="{109FF741-E33C-47A6-A5DA-7B79D4E0BCB6}"/>
              </a:ext>
            </a:extLst>
          </p:cNvPr>
          <p:cNvSpPr>
            <a:spLocks noGrp="1"/>
          </p:cNvSpPr>
          <p:nvPr/>
        </p:nvSpPr>
        <p:spPr>
          <a:xfrm>
            <a:off x="600075" y="5438775"/>
            <a:ext cx="5267325" cy="609600"/>
          </a:xfrm>
          <a:prstGeom prst="rect">
            <a:avLst/>
          </a:prstGeom>
          <a:solidFill>
            <a:srgbClr val="F3F4F6"/>
          </a:solidFill>
          <a:ln w="0">
            <a:noFill/>
            <a:prstDash val="solid"/>
          </a:ln>
        </p:spPr>
      </p:sp>
      <p:sp>
        <p:nvSpPr>
          <p:cNvPr id="52" name="Oval 51">
            <a:extLst>
              <a:ext uri="{FF2B5EF4-FFF2-40B4-BE49-F238E27FC236}">
                <a16:creationId xmlns:a16="http://schemas.microsoft.com/office/drawing/2014/main" id="{467CA0F2-E79B-4D68-848C-345F27E2FF47}"/>
              </a:ext>
            </a:extLst>
          </p:cNvPr>
          <p:cNvSpPr>
            <a:spLocks noGrp="1"/>
          </p:cNvSpPr>
          <p:nvPr/>
        </p:nvSpPr>
        <p:spPr>
          <a:xfrm>
            <a:off x="762000" y="5562600"/>
            <a:ext cx="361950" cy="361950"/>
          </a:xfrm>
          <a:prstGeom prst="ellipse">
            <a:avLst/>
          </a:prstGeom>
          <a:solidFill>
            <a:srgbClr val="ECFDF5"/>
          </a:solidFill>
          <a:ln w="0">
            <a:noFill/>
            <a:prstDash val="solid"/>
          </a:ln>
        </p:spPr>
      </p:sp>
      <p:pic>
        <p:nvPicPr>
          <p:cNvPr id="144" name="Graphic 143"/>
          <p:cNvPicPr>
            <a:picLocks noChangeAspect="1"/>
          </p:cNvPicPr>
          <p:nvPr/>
        </p:nvPicPr>
        <p:blipFill>
          <a:blip>
            <a:extLst>
              <a:ext uri="{96DAC541-7B7A-43D3-8B79-37D633B846F1}">
                <asvg:svgBlip xmlns:asvg="http://schemas.microsoft.com/office/drawing/2016/SVG/main" r:embed="rId10"/>
              </a:ext>
            </a:extLst>
          </a:blip>
          <a:stretch/>
        </p:blipFill>
        <p:spPr>
          <a:xfrm>
            <a:off x="845249" y="5645849"/>
            <a:ext cx="195453" cy="195453"/>
          </a:xfrm>
          <a:prstGeom prst="rect">
            <a:avLst/>
          </a:prstGeom>
        </p:spPr>
      </p:pic>
      <p:sp>
        <p:nvSpPr>
          <p:cNvPr id="54" name="Rectangle 53">
            <a:extLst>
              <a:ext uri="{FF2B5EF4-FFF2-40B4-BE49-F238E27FC236}">
                <a16:creationId xmlns:a16="http://schemas.microsoft.com/office/drawing/2014/main" id="{772C9F01-B924-4616-A8D7-9051F80AAE9D}"/>
              </a:ext>
            </a:extLst>
          </p:cNvPr>
          <p:cNvSpPr>
            <a:spLocks noGrp="1"/>
          </p:cNvSpPr>
          <p:nvPr/>
        </p:nvSpPr>
        <p:spPr>
          <a:xfrm>
            <a:off x="1257300" y="5543550"/>
            <a:ext cx="1905000" cy="361950"/>
          </a:xfrm>
          <a:prstGeom prst="rect">
            <a:avLst/>
          </a:prstGeom>
          <a:noFill/>
          <a:ln w="0">
            <a:noFill/>
            <a:prstDash val="solid"/>
          </a:ln>
        </p:spPr>
        <p:txBody>
          <a:bodyPr/>
          <a:lstStyle/>
          <a:p>
            <a:pPr algn="l">
              <a:defRPr sz="1088" b="1" i="0">
                <a:solidFill>
                  <a:srgbClr val="172554"/>
                </a:solidFill>
              </a:defRPr>
            </a:pPr>
            <a:r>
              <a:rPr sz="1088" b="1" i="0">
                <a:solidFill>
                  <a:srgbClr val="172554"/>
                </a:solidFill>
              </a:rPr>
              <a:t>Web Speech API</a:t>
            </a:r>
          </a:p>
        </p:txBody>
      </p:sp>
      <p:sp>
        <p:nvSpPr>
          <p:cNvPr id="55" name="Rectangle 54">
            <a:extLst>
              <a:ext uri="{FF2B5EF4-FFF2-40B4-BE49-F238E27FC236}">
                <a16:creationId xmlns:a16="http://schemas.microsoft.com/office/drawing/2014/main" id="{7AC1EA7C-7D44-48A6-8AA1-1EF1BCA67AD8}"/>
              </a:ext>
            </a:extLst>
          </p:cNvPr>
          <p:cNvSpPr>
            <a:spLocks noGrp="1"/>
          </p:cNvSpPr>
          <p:nvPr/>
        </p:nvSpPr>
        <p:spPr>
          <a:xfrm>
            <a:off x="3190875" y="5543550"/>
            <a:ext cx="2457450" cy="381000"/>
          </a:xfrm>
          <a:prstGeom prst="rect">
            <a:avLst/>
          </a:prstGeom>
          <a:noFill/>
          <a:ln w="0">
            <a:noFill/>
            <a:prstDash val="solid"/>
          </a:ln>
        </p:spPr>
        <p:txBody>
          <a:bodyPr/>
          <a:lstStyle/>
          <a:p>
            <a:pPr algn="l">
              <a:defRPr sz="990" b="0" i="0">
                <a:solidFill>
                  <a:srgbClr val="4B5563"/>
                </a:solidFill>
              </a:defRPr>
            </a:pPr>
            <a:r>
              <a:rPr sz="990" b="0" i="0">
                <a:solidFill>
                  <a:srgbClr val="4B5563"/>
                </a:solidFill>
              </a:rPr>
              <a:t>Multilingual voice notifications</a:t>
            </a:r>
          </a:p>
        </p:txBody>
      </p:sp>
      <p:sp>
        <p:nvSpPr>
          <p:cNvPr id="56" name="Rectangle: Rounded Corners 55">
            <a:extLst>
              <a:ext uri="{FF2B5EF4-FFF2-40B4-BE49-F238E27FC236}">
                <a16:creationId xmlns:a16="http://schemas.microsoft.com/office/drawing/2014/main" id="{D07706B0-7025-43FD-BD65-BA9C5A12C4E8}"/>
              </a:ext>
            </a:extLst>
          </p:cNvPr>
          <p:cNvSpPr>
            <a:spLocks noGrp="1"/>
          </p:cNvSpPr>
          <p:nvPr/>
        </p:nvSpPr>
        <p:spPr>
          <a:xfrm>
            <a:off x="6191250" y="1381125"/>
            <a:ext cx="5410200" cy="4733925"/>
          </a:xfrm>
          <a:prstGeom prst="roundRect">
            <a:avLst>
              <a:gd name="adj" fmla="val 2616"/>
            </a:avLst>
          </a:prstGeom>
          <a:solidFill>
            <a:srgbClr val="F3F4F6"/>
          </a:solidFill>
          <a:ln w="0">
            <a:noFill/>
            <a:prstDash val="solid"/>
          </a:ln>
        </p:spPr>
      </p:sp>
      <p:sp>
        <p:nvSpPr>
          <p:cNvPr id="57" name="Rectangle 56">
            <a:extLst>
              <a:ext uri="{FF2B5EF4-FFF2-40B4-BE49-F238E27FC236}">
                <a16:creationId xmlns:a16="http://schemas.microsoft.com/office/drawing/2014/main" id="{B5D5CB61-A8AA-49E6-BAB5-553914F90173}"/>
              </a:ext>
            </a:extLst>
          </p:cNvPr>
          <p:cNvSpPr>
            <a:spLocks noGrp="1"/>
          </p:cNvSpPr>
          <p:nvPr/>
        </p:nvSpPr>
        <p:spPr>
          <a:xfrm>
            <a:off x="6477000" y="1609725"/>
            <a:ext cx="4838700" cy="228600"/>
          </a:xfrm>
          <a:prstGeom prst="rect">
            <a:avLst/>
          </a:prstGeom>
          <a:noFill/>
          <a:ln w="0">
            <a:noFill/>
            <a:prstDash val="solid"/>
          </a:ln>
        </p:spPr>
        <p:txBody>
          <a:bodyPr/>
          <a:lstStyle/>
          <a:p>
            <a:pPr algn="ctr">
              <a:defRPr sz="1275" b="1" i="0">
                <a:solidFill>
                  <a:srgbClr val="172554"/>
                </a:solidFill>
              </a:defRPr>
            </a:pPr>
            <a:r>
              <a:rPr sz="1275" b="1" i="0">
                <a:solidFill>
                  <a:srgbClr val="172554"/>
                </a:solidFill>
              </a:rPr>
              <a:t>A working MVP anchors the plan at week 8.</a:t>
            </a:r>
          </a:p>
        </p:txBody>
      </p:sp>
      <p:sp>
        <p:nvSpPr>
          <p:cNvPr id="58" name="Straight Connector 57">
            <a:extLst>
              <a:ext uri="{FF2B5EF4-FFF2-40B4-BE49-F238E27FC236}">
                <a16:creationId xmlns:a16="http://schemas.microsoft.com/office/drawing/2014/main" id="{37D79474-968C-4AB5-B50F-4E7929A55FC9}"/>
              </a:ext>
            </a:extLst>
          </p:cNvPr>
          <p:cNvSpPr>
            <a:spLocks noGrp="1"/>
          </p:cNvSpPr>
          <p:nvPr/>
        </p:nvSpPr>
        <p:spPr>
          <a:xfrm>
            <a:off x="6572250" y="3219450"/>
            <a:ext cx="4591050" cy="0"/>
          </a:xfrm>
          <a:prstGeom prst="line">
            <a:avLst/>
          </a:prstGeom>
          <a:noFill/>
          <a:ln w="47625">
            <a:solidFill>
              <a:srgbClr val="1E3A8A"/>
            </a:solidFill>
            <a:prstDash val="solid"/>
          </a:ln>
        </p:spPr>
      </p:sp>
      <p:sp>
        <p:nvSpPr>
          <p:cNvPr id="59" name="Oval 58">
            <a:extLst>
              <a:ext uri="{FF2B5EF4-FFF2-40B4-BE49-F238E27FC236}">
                <a16:creationId xmlns:a16="http://schemas.microsoft.com/office/drawing/2014/main" id="{708AB26C-61DB-472B-BC11-0D7B915C77FA}"/>
              </a:ext>
            </a:extLst>
          </p:cNvPr>
          <p:cNvSpPr>
            <a:spLocks noGrp="1"/>
          </p:cNvSpPr>
          <p:nvPr/>
        </p:nvSpPr>
        <p:spPr>
          <a:xfrm>
            <a:off x="6467475" y="3114675"/>
            <a:ext cx="209550" cy="209550"/>
          </a:xfrm>
          <a:prstGeom prst="ellipse">
            <a:avLst/>
          </a:prstGeom>
          <a:solidFill>
            <a:srgbClr val="0F766E"/>
          </a:solidFill>
          <a:ln w="19050">
            <a:solidFill>
              <a:srgbClr val="FFFFFF"/>
            </a:solidFill>
            <a:prstDash val="solid"/>
          </a:ln>
        </p:spPr>
      </p:sp>
      <p:sp>
        <p:nvSpPr>
          <p:cNvPr id="60" name="Rectangle: Rounded Corners 59">
            <a:extLst>
              <a:ext uri="{FF2B5EF4-FFF2-40B4-BE49-F238E27FC236}">
                <a16:creationId xmlns:a16="http://schemas.microsoft.com/office/drawing/2014/main" id="{6485D1E5-117A-49EF-A3BD-5BE43E787DA1}"/>
              </a:ext>
            </a:extLst>
          </p:cNvPr>
          <p:cNvSpPr>
            <a:spLocks noGrp="1"/>
          </p:cNvSpPr>
          <p:nvPr/>
        </p:nvSpPr>
        <p:spPr>
          <a:xfrm>
            <a:off x="6286500" y="2057400"/>
            <a:ext cx="1143000" cy="819150"/>
          </a:xfrm>
          <a:prstGeom prst="roundRect">
            <a:avLst>
              <a:gd name="adj" fmla="val 11628"/>
            </a:avLst>
          </a:prstGeom>
          <a:solidFill>
            <a:srgbClr val="FFFFFF"/>
          </a:solidFill>
          <a:ln w="9525">
            <a:solidFill>
              <a:srgbClr val="D1D5DB"/>
            </a:solidFill>
            <a:prstDash val="solid"/>
          </a:ln>
        </p:spPr>
      </p:sp>
      <p:sp>
        <p:nvSpPr>
          <p:cNvPr id="61" name="Rectangle 60">
            <a:extLst>
              <a:ext uri="{FF2B5EF4-FFF2-40B4-BE49-F238E27FC236}">
                <a16:creationId xmlns:a16="http://schemas.microsoft.com/office/drawing/2014/main" id="{D6D65AA4-3695-4855-BBAB-B69560B287B3}"/>
              </a:ext>
            </a:extLst>
          </p:cNvPr>
          <p:cNvSpPr>
            <a:spLocks noGrp="1"/>
          </p:cNvSpPr>
          <p:nvPr/>
        </p:nvSpPr>
        <p:spPr>
          <a:xfrm>
            <a:off x="6381750" y="2143125"/>
            <a:ext cx="952500" cy="152400"/>
          </a:xfrm>
          <a:prstGeom prst="rect">
            <a:avLst/>
          </a:prstGeom>
          <a:noFill/>
          <a:ln w="0">
            <a:noFill/>
            <a:prstDash val="solid"/>
          </a:ln>
        </p:spPr>
        <p:txBody>
          <a:bodyPr/>
          <a:lstStyle/>
          <a:p>
            <a:pPr algn="ctr">
              <a:defRPr sz="750" b="1" i="0">
                <a:solidFill>
                  <a:srgbClr val="0F766E"/>
                </a:solidFill>
              </a:defRPr>
            </a:pPr>
            <a:r>
              <a:rPr sz="750" b="1" i="0">
                <a:solidFill>
                  <a:srgbClr val="0F766E"/>
                </a:solidFill>
              </a:rPr>
              <a:t>WEEK 1</a:t>
            </a:r>
          </a:p>
        </p:txBody>
      </p:sp>
      <p:sp>
        <p:nvSpPr>
          <p:cNvPr id="62" name="Rectangle 61">
            <a:extLst>
              <a:ext uri="{FF2B5EF4-FFF2-40B4-BE49-F238E27FC236}">
                <a16:creationId xmlns:a16="http://schemas.microsoft.com/office/drawing/2014/main" id="{17A9C3A3-4FD6-46A2-B33E-2A0934CE595D}"/>
              </a:ext>
            </a:extLst>
          </p:cNvPr>
          <p:cNvSpPr>
            <a:spLocks noGrp="1"/>
          </p:cNvSpPr>
          <p:nvPr/>
        </p:nvSpPr>
        <p:spPr>
          <a:xfrm>
            <a:off x="6372225" y="2333625"/>
            <a:ext cx="971550" cy="457200"/>
          </a:xfrm>
          <a:prstGeom prst="rect">
            <a:avLst/>
          </a:prstGeom>
          <a:noFill/>
          <a:ln w="0">
            <a:noFill/>
            <a:prstDash val="solid"/>
          </a:ln>
        </p:spPr>
        <p:txBody>
          <a:bodyPr/>
          <a:lstStyle/>
          <a:p>
            <a:pPr algn="ctr">
              <a:defRPr sz="788" b="1" i="0">
                <a:solidFill>
                  <a:srgbClr val="172554"/>
                </a:solidFill>
              </a:defRPr>
            </a:pPr>
            <a:r>
              <a:rPr sz="788" b="1" i="0">
                <a:solidFill>
                  <a:srgbClr val="172554"/>
                </a:solidFill>
              </a:rPr>
              <a:t>Foundations</a:t>
            </a:r>
          </a:p>
        </p:txBody>
      </p:sp>
      <p:sp>
        <p:nvSpPr>
          <p:cNvPr id="63" name="Rectangle 62">
            <a:extLst>
              <a:ext uri="{FF2B5EF4-FFF2-40B4-BE49-F238E27FC236}">
                <a16:creationId xmlns:a16="http://schemas.microsoft.com/office/drawing/2014/main" id="{A14A5FB1-A68D-4DEF-84AA-41CFF773847B}"/>
              </a:ext>
            </a:extLst>
          </p:cNvPr>
          <p:cNvSpPr>
            <a:spLocks noGrp="1"/>
          </p:cNvSpPr>
          <p:nvPr/>
        </p:nvSpPr>
        <p:spPr>
          <a:xfrm>
            <a:off x="6562725" y="2876550"/>
            <a:ext cx="19050" cy="238125"/>
          </a:xfrm>
          <a:prstGeom prst="rect">
            <a:avLst/>
          </a:prstGeom>
          <a:solidFill>
            <a:srgbClr val="9CA3AF"/>
          </a:solidFill>
          <a:ln w="0">
            <a:noFill/>
            <a:prstDash val="solid"/>
          </a:ln>
        </p:spPr>
      </p:sp>
      <p:sp>
        <p:nvSpPr>
          <p:cNvPr id="64" name="Oval 63">
            <a:extLst>
              <a:ext uri="{FF2B5EF4-FFF2-40B4-BE49-F238E27FC236}">
                <a16:creationId xmlns:a16="http://schemas.microsoft.com/office/drawing/2014/main" id="{6F10C9EE-E377-493E-85BE-846750E6AE07}"/>
              </a:ext>
            </a:extLst>
          </p:cNvPr>
          <p:cNvSpPr>
            <a:spLocks noGrp="1"/>
          </p:cNvSpPr>
          <p:nvPr/>
        </p:nvSpPr>
        <p:spPr>
          <a:xfrm>
            <a:off x="7372350" y="3114675"/>
            <a:ext cx="209550" cy="209550"/>
          </a:xfrm>
          <a:prstGeom prst="ellipse">
            <a:avLst/>
          </a:prstGeom>
          <a:solidFill>
            <a:srgbClr val="0F766E"/>
          </a:solidFill>
          <a:ln w="19050">
            <a:solidFill>
              <a:srgbClr val="FFFFFF"/>
            </a:solidFill>
            <a:prstDash val="solid"/>
          </a:ln>
        </p:spPr>
      </p:sp>
      <p:sp>
        <p:nvSpPr>
          <p:cNvPr id="65" name="Rectangle: Rounded Corners 64">
            <a:extLst>
              <a:ext uri="{FF2B5EF4-FFF2-40B4-BE49-F238E27FC236}">
                <a16:creationId xmlns:a16="http://schemas.microsoft.com/office/drawing/2014/main" id="{84D76EC6-27E7-45CC-9F03-069FFD047E0D}"/>
              </a:ext>
            </a:extLst>
          </p:cNvPr>
          <p:cNvSpPr>
            <a:spLocks noGrp="1"/>
          </p:cNvSpPr>
          <p:nvPr/>
        </p:nvSpPr>
        <p:spPr>
          <a:xfrm>
            <a:off x="6905625" y="3733800"/>
            <a:ext cx="1143000" cy="819150"/>
          </a:xfrm>
          <a:prstGeom prst="roundRect">
            <a:avLst>
              <a:gd name="adj" fmla="val 11628"/>
            </a:avLst>
          </a:prstGeom>
          <a:solidFill>
            <a:srgbClr val="FFFFFF"/>
          </a:solidFill>
          <a:ln w="9525">
            <a:solidFill>
              <a:srgbClr val="D1D5DB"/>
            </a:solidFill>
            <a:prstDash val="solid"/>
          </a:ln>
        </p:spPr>
      </p:sp>
      <p:sp>
        <p:nvSpPr>
          <p:cNvPr id="66" name="Rectangle 65">
            <a:extLst>
              <a:ext uri="{FF2B5EF4-FFF2-40B4-BE49-F238E27FC236}">
                <a16:creationId xmlns:a16="http://schemas.microsoft.com/office/drawing/2014/main" id="{20635C87-B57A-4DD0-990C-9B3589DA6CA5}"/>
              </a:ext>
            </a:extLst>
          </p:cNvPr>
          <p:cNvSpPr>
            <a:spLocks noGrp="1"/>
          </p:cNvSpPr>
          <p:nvPr/>
        </p:nvSpPr>
        <p:spPr>
          <a:xfrm>
            <a:off x="7000875" y="3819525"/>
            <a:ext cx="952500" cy="152400"/>
          </a:xfrm>
          <a:prstGeom prst="rect">
            <a:avLst/>
          </a:prstGeom>
          <a:noFill/>
          <a:ln w="0">
            <a:noFill/>
            <a:prstDash val="solid"/>
          </a:ln>
        </p:spPr>
        <p:txBody>
          <a:bodyPr/>
          <a:lstStyle/>
          <a:p>
            <a:pPr algn="ctr">
              <a:defRPr sz="750" b="1" i="0">
                <a:solidFill>
                  <a:srgbClr val="0F766E"/>
                </a:solidFill>
              </a:defRPr>
            </a:pPr>
            <a:r>
              <a:rPr sz="750" b="1" i="0">
                <a:solidFill>
                  <a:srgbClr val="0F766E"/>
                </a:solidFill>
              </a:rPr>
              <a:t>WEEK 4</a:t>
            </a:r>
          </a:p>
        </p:txBody>
      </p:sp>
      <p:sp>
        <p:nvSpPr>
          <p:cNvPr id="67" name="Rectangle 66">
            <a:extLst>
              <a:ext uri="{FF2B5EF4-FFF2-40B4-BE49-F238E27FC236}">
                <a16:creationId xmlns:a16="http://schemas.microsoft.com/office/drawing/2014/main" id="{DBC8EC7A-02A9-4465-9DE5-C989E4FD7AF7}"/>
              </a:ext>
            </a:extLst>
          </p:cNvPr>
          <p:cNvSpPr>
            <a:spLocks noGrp="1"/>
          </p:cNvSpPr>
          <p:nvPr/>
        </p:nvSpPr>
        <p:spPr>
          <a:xfrm>
            <a:off x="6991350" y="4010025"/>
            <a:ext cx="971550" cy="457200"/>
          </a:xfrm>
          <a:prstGeom prst="rect">
            <a:avLst/>
          </a:prstGeom>
          <a:noFill/>
          <a:ln w="0">
            <a:noFill/>
            <a:prstDash val="solid"/>
          </a:ln>
        </p:spPr>
        <p:txBody>
          <a:bodyPr/>
          <a:lstStyle/>
          <a:p>
            <a:pPr algn="ctr">
              <a:defRPr sz="788" b="1" i="0">
                <a:solidFill>
                  <a:srgbClr val="172554"/>
                </a:solidFill>
              </a:defRPr>
            </a:pPr>
            <a:r>
              <a:rPr sz="788" b="1" i="0">
                <a:solidFill>
                  <a:srgbClr val="172554"/>
                </a:solidFill>
              </a:rPr>
              <a:t>Trips and locations working</a:t>
            </a:r>
          </a:p>
        </p:txBody>
      </p:sp>
      <p:sp>
        <p:nvSpPr>
          <p:cNvPr id="68" name="Rectangle 67">
            <a:extLst>
              <a:ext uri="{FF2B5EF4-FFF2-40B4-BE49-F238E27FC236}">
                <a16:creationId xmlns:a16="http://schemas.microsoft.com/office/drawing/2014/main" id="{305B7E77-7ABE-46BB-B5FE-10BC53278EDD}"/>
              </a:ext>
            </a:extLst>
          </p:cNvPr>
          <p:cNvSpPr>
            <a:spLocks noGrp="1"/>
          </p:cNvSpPr>
          <p:nvPr/>
        </p:nvSpPr>
        <p:spPr>
          <a:xfrm>
            <a:off x="7467600" y="3324225"/>
            <a:ext cx="19050" cy="409575"/>
          </a:xfrm>
          <a:prstGeom prst="rect">
            <a:avLst/>
          </a:prstGeom>
          <a:solidFill>
            <a:srgbClr val="9CA3AF"/>
          </a:solidFill>
          <a:ln w="0">
            <a:noFill/>
            <a:prstDash val="solid"/>
          </a:ln>
        </p:spPr>
      </p:sp>
      <p:sp>
        <p:nvSpPr>
          <p:cNvPr id="69" name="Oval 68">
            <a:extLst>
              <a:ext uri="{FF2B5EF4-FFF2-40B4-BE49-F238E27FC236}">
                <a16:creationId xmlns:a16="http://schemas.microsoft.com/office/drawing/2014/main" id="{9726B270-77A6-4A62-88FE-232F40EC7705}"/>
              </a:ext>
            </a:extLst>
          </p:cNvPr>
          <p:cNvSpPr>
            <a:spLocks noGrp="1"/>
          </p:cNvSpPr>
          <p:nvPr/>
        </p:nvSpPr>
        <p:spPr>
          <a:xfrm>
            <a:off x="8229600" y="3114675"/>
            <a:ext cx="209550" cy="209550"/>
          </a:xfrm>
          <a:prstGeom prst="ellipse">
            <a:avLst/>
          </a:prstGeom>
          <a:solidFill>
            <a:srgbClr val="0F766E"/>
          </a:solidFill>
          <a:ln w="19050">
            <a:solidFill>
              <a:srgbClr val="FFFFFF"/>
            </a:solidFill>
            <a:prstDash val="solid"/>
          </a:ln>
        </p:spPr>
      </p:sp>
      <p:sp>
        <p:nvSpPr>
          <p:cNvPr id="70" name="Rectangle: Rounded Corners 69">
            <a:extLst>
              <a:ext uri="{FF2B5EF4-FFF2-40B4-BE49-F238E27FC236}">
                <a16:creationId xmlns:a16="http://schemas.microsoft.com/office/drawing/2014/main" id="{9878DFCA-FD12-487A-BD12-A24E73ADD261}"/>
              </a:ext>
            </a:extLst>
          </p:cNvPr>
          <p:cNvSpPr>
            <a:spLocks noGrp="1"/>
          </p:cNvSpPr>
          <p:nvPr/>
        </p:nvSpPr>
        <p:spPr>
          <a:xfrm>
            <a:off x="7762875" y="2057400"/>
            <a:ext cx="1143000" cy="819150"/>
          </a:xfrm>
          <a:prstGeom prst="roundRect">
            <a:avLst>
              <a:gd name="adj" fmla="val 11628"/>
            </a:avLst>
          </a:prstGeom>
          <a:solidFill>
            <a:srgbClr val="FFFFFF"/>
          </a:solidFill>
          <a:ln w="9525">
            <a:solidFill>
              <a:srgbClr val="D1D5DB"/>
            </a:solidFill>
            <a:prstDash val="solid"/>
          </a:ln>
        </p:spPr>
      </p:sp>
      <p:sp>
        <p:nvSpPr>
          <p:cNvPr id="71" name="Rectangle 70">
            <a:extLst>
              <a:ext uri="{FF2B5EF4-FFF2-40B4-BE49-F238E27FC236}">
                <a16:creationId xmlns:a16="http://schemas.microsoft.com/office/drawing/2014/main" id="{59A6D649-DFA7-4B6A-AC9C-B8861BC275C6}"/>
              </a:ext>
            </a:extLst>
          </p:cNvPr>
          <p:cNvSpPr>
            <a:spLocks noGrp="1"/>
          </p:cNvSpPr>
          <p:nvPr/>
        </p:nvSpPr>
        <p:spPr>
          <a:xfrm>
            <a:off x="7858125" y="2143125"/>
            <a:ext cx="952500" cy="152400"/>
          </a:xfrm>
          <a:prstGeom prst="rect">
            <a:avLst/>
          </a:prstGeom>
          <a:noFill/>
          <a:ln w="0">
            <a:noFill/>
            <a:prstDash val="solid"/>
          </a:ln>
        </p:spPr>
        <p:txBody>
          <a:bodyPr/>
          <a:lstStyle/>
          <a:p>
            <a:pPr algn="ctr">
              <a:defRPr sz="750" b="1" i="0">
                <a:solidFill>
                  <a:srgbClr val="0F766E"/>
                </a:solidFill>
              </a:defRPr>
            </a:pPr>
            <a:r>
              <a:rPr sz="750" b="1" i="0">
                <a:solidFill>
                  <a:srgbClr val="0F766E"/>
                </a:solidFill>
              </a:rPr>
              <a:t>WEEK 6</a:t>
            </a:r>
          </a:p>
        </p:txBody>
      </p:sp>
      <p:sp>
        <p:nvSpPr>
          <p:cNvPr id="72" name="Rectangle 71">
            <a:extLst>
              <a:ext uri="{FF2B5EF4-FFF2-40B4-BE49-F238E27FC236}">
                <a16:creationId xmlns:a16="http://schemas.microsoft.com/office/drawing/2014/main" id="{5BD53DCE-7345-4458-9766-404E02BF8905}"/>
              </a:ext>
            </a:extLst>
          </p:cNvPr>
          <p:cNvSpPr>
            <a:spLocks noGrp="1"/>
          </p:cNvSpPr>
          <p:nvPr/>
        </p:nvSpPr>
        <p:spPr>
          <a:xfrm>
            <a:off x="7848600" y="2333625"/>
            <a:ext cx="971550" cy="457200"/>
          </a:xfrm>
          <a:prstGeom prst="rect">
            <a:avLst/>
          </a:prstGeom>
          <a:noFill/>
          <a:ln w="0">
            <a:noFill/>
            <a:prstDash val="solid"/>
          </a:ln>
        </p:spPr>
        <p:txBody>
          <a:bodyPr/>
          <a:lstStyle/>
          <a:p>
            <a:pPr algn="ctr">
              <a:defRPr sz="788" b="1" i="0">
                <a:solidFill>
                  <a:srgbClr val="172554"/>
                </a:solidFill>
              </a:defRPr>
            </a:pPr>
            <a:r>
              <a:rPr sz="788" b="1" i="0">
                <a:solidFill>
                  <a:srgbClr val="172554"/>
                </a:solidFill>
              </a:rPr>
              <a:t>Geofencing and ETA engine</a:t>
            </a:r>
          </a:p>
        </p:txBody>
      </p:sp>
      <p:sp>
        <p:nvSpPr>
          <p:cNvPr id="73" name="Rectangle 72">
            <a:extLst>
              <a:ext uri="{FF2B5EF4-FFF2-40B4-BE49-F238E27FC236}">
                <a16:creationId xmlns:a16="http://schemas.microsoft.com/office/drawing/2014/main" id="{A1234960-D86D-4293-86C7-53905B326946}"/>
              </a:ext>
            </a:extLst>
          </p:cNvPr>
          <p:cNvSpPr>
            <a:spLocks noGrp="1"/>
          </p:cNvSpPr>
          <p:nvPr/>
        </p:nvSpPr>
        <p:spPr>
          <a:xfrm>
            <a:off x="8324850" y="2876550"/>
            <a:ext cx="19050" cy="238125"/>
          </a:xfrm>
          <a:prstGeom prst="rect">
            <a:avLst/>
          </a:prstGeom>
          <a:solidFill>
            <a:srgbClr val="9CA3AF"/>
          </a:solidFill>
          <a:ln w="0">
            <a:noFill/>
            <a:prstDash val="solid"/>
          </a:ln>
        </p:spPr>
      </p:sp>
      <p:sp>
        <p:nvSpPr>
          <p:cNvPr id="74" name="Oval 73">
            <a:extLst>
              <a:ext uri="{FF2B5EF4-FFF2-40B4-BE49-F238E27FC236}">
                <a16:creationId xmlns:a16="http://schemas.microsoft.com/office/drawing/2014/main" id="{DC1A0226-E1D6-4F8B-951A-A3B5B18694CB}"/>
              </a:ext>
            </a:extLst>
          </p:cNvPr>
          <p:cNvSpPr>
            <a:spLocks noGrp="1"/>
          </p:cNvSpPr>
          <p:nvPr/>
        </p:nvSpPr>
        <p:spPr>
          <a:xfrm>
            <a:off x="9086850" y="3114675"/>
            <a:ext cx="209550" cy="209550"/>
          </a:xfrm>
          <a:prstGeom prst="ellipse">
            <a:avLst/>
          </a:prstGeom>
          <a:solidFill>
            <a:srgbClr val="EA580C"/>
          </a:solidFill>
          <a:ln w="19050">
            <a:solidFill>
              <a:srgbClr val="FFFFFF"/>
            </a:solidFill>
            <a:prstDash val="solid"/>
          </a:ln>
        </p:spPr>
      </p:sp>
      <p:sp>
        <p:nvSpPr>
          <p:cNvPr id="75" name="Rectangle: Rounded Corners 74">
            <a:extLst>
              <a:ext uri="{FF2B5EF4-FFF2-40B4-BE49-F238E27FC236}">
                <a16:creationId xmlns:a16="http://schemas.microsoft.com/office/drawing/2014/main" id="{389C11A8-FE59-4977-89E3-592FAC5F4075}"/>
              </a:ext>
            </a:extLst>
          </p:cNvPr>
          <p:cNvSpPr>
            <a:spLocks noGrp="1"/>
          </p:cNvSpPr>
          <p:nvPr/>
        </p:nvSpPr>
        <p:spPr>
          <a:xfrm>
            <a:off x="8620125" y="3733800"/>
            <a:ext cx="1143000" cy="819150"/>
          </a:xfrm>
          <a:prstGeom prst="roundRect">
            <a:avLst>
              <a:gd name="adj" fmla="val 11628"/>
            </a:avLst>
          </a:prstGeom>
          <a:solidFill>
            <a:srgbClr val="FFF7ED"/>
          </a:solidFill>
          <a:ln w="17145">
            <a:solidFill>
              <a:srgbClr val="EA580C"/>
            </a:solidFill>
            <a:prstDash val="solid"/>
          </a:ln>
        </p:spPr>
      </p:sp>
      <p:sp>
        <p:nvSpPr>
          <p:cNvPr id="76" name="Rectangle 75">
            <a:extLst>
              <a:ext uri="{FF2B5EF4-FFF2-40B4-BE49-F238E27FC236}">
                <a16:creationId xmlns:a16="http://schemas.microsoft.com/office/drawing/2014/main" id="{4DEEE5B5-8A9B-4791-A37F-356049331325}"/>
              </a:ext>
            </a:extLst>
          </p:cNvPr>
          <p:cNvSpPr>
            <a:spLocks noGrp="1"/>
          </p:cNvSpPr>
          <p:nvPr/>
        </p:nvSpPr>
        <p:spPr>
          <a:xfrm>
            <a:off x="8715375" y="3819525"/>
            <a:ext cx="952500" cy="152400"/>
          </a:xfrm>
          <a:prstGeom prst="rect">
            <a:avLst/>
          </a:prstGeom>
          <a:noFill/>
          <a:ln w="0">
            <a:noFill/>
            <a:prstDash val="solid"/>
          </a:ln>
        </p:spPr>
        <p:txBody>
          <a:bodyPr/>
          <a:lstStyle/>
          <a:p>
            <a:pPr algn="ctr">
              <a:defRPr sz="750" b="1" i="0">
                <a:solidFill>
                  <a:srgbClr val="EA580C"/>
                </a:solidFill>
              </a:defRPr>
            </a:pPr>
            <a:r>
              <a:rPr sz="750" b="1" i="0">
                <a:solidFill>
                  <a:srgbClr val="EA580C"/>
                </a:solidFill>
              </a:rPr>
              <a:t>WEEK 8</a:t>
            </a:r>
          </a:p>
        </p:txBody>
      </p:sp>
      <p:sp>
        <p:nvSpPr>
          <p:cNvPr id="77" name="Rectangle 76">
            <a:extLst>
              <a:ext uri="{FF2B5EF4-FFF2-40B4-BE49-F238E27FC236}">
                <a16:creationId xmlns:a16="http://schemas.microsoft.com/office/drawing/2014/main" id="{E9BD752B-D1F5-49BF-B680-44C8EEEA27C2}"/>
              </a:ext>
            </a:extLst>
          </p:cNvPr>
          <p:cNvSpPr>
            <a:spLocks noGrp="1"/>
          </p:cNvSpPr>
          <p:nvPr/>
        </p:nvSpPr>
        <p:spPr>
          <a:xfrm>
            <a:off x="8705850" y="4010025"/>
            <a:ext cx="971550" cy="457200"/>
          </a:xfrm>
          <a:prstGeom prst="rect">
            <a:avLst/>
          </a:prstGeom>
          <a:noFill/>
          <a:ln w="0">
            <a:noFill/>
            <a:prstDash val="solid"/>
          </a:ln>
        </p:spPr>
        <p:txBody>
          <a:bodyPr/>
          <a:lstStyle/>
          <a:p>
            <a:pPr algn="ctr">
              <a:defRPr sz="788" b="1" i="0">
                <a:solidFill>
                  <a:srgbClr val="172554"/>
                </a:solidFill>
              </a:defRPr>
            </a:pPr>
            <a:r>
              <a:rPr sz="788" b="1" i="0">
                <a:solidFill>
                  <a:srgbClr val="172554"/>
                </a:solidFill>
              </a:rPr>
              <a:t>MVP complete</a:t>
            </a:r>
          </a:p>
        </p:txBody>
      </p:sp>
      <p:sp>
        <p:nvSpPr>
          <p:cNvPr id="78" name="Rectangle 77">
            <a:extLst>
              <a:ext uri="{FF2B5EF4-FFF2-40B4-BE49-F238E27FC236}">
                <a16:creationId xmlns:a16="http://schemas.microsoft.com/office/drawing/2014/main" id="{F9AA688D-D2EB-46A5-95D3-C07496496E11}"/>
              </a:ext>
            </a:extLst>
          </p:cNvPr>
          <p:cNvSpPr>
            <a:spLocks noGrp="1"/>
          </p:cNvSpPr>
          <p:nvPr/>
        </p:nvSpPr>
        <p:spPr>
          <a:xfrm>
            <a:off x="9182100" y="3324225"/>
            <a:ext cx="19050" cy="409575"/>
          </a:xfrm>
          <a:prstGeom prst="rect">
            <a:avLst/>
          </a:prstGeom>
          <a:solidFill>
            <a:srgbClr val="EA580C"/>
          </a:solidFill>
          <a:ln w="0">
            <a:noFill/>
            <a:prstDash val="solid"/>
          </a:ln>
        </p:spPr>
      </p:sp>
      <p:sp>
        <p:nvSpPr>
          <p:cNvPr id="79" name="Oval 78">
            <a:extLst>
              <a:ext uri="{FF2B5EF4-FFF2-40B4-BE49-F238E27FC236}">
                <a16:creationId xmlns:a16="http://schemas.microsoft.com/office/drawing/2014/main" id="{A9CED1D8-A8A2-4FFF-B752-E7CAB0FAA0D4}"/>
              </a:ext>
            </a:extLst>
          </p:cNvPr>
          <p:cNvSpPr>
            <a:spLocks noGrp="1"/>
          </p:cNvSpPr>
          <p:nvPr/>
        </p:nvSpPr>
        <p:spPr>
          <a:xfrm>
            <a:off x="9991725" y="3114675"/>
            <a:ext cx="209550" cy="209550"/>
          </a:xfrm>
          <a:prstGeom prst="ellipse">
            <a:avLst/>
          </a:prstGeom>
          <a:solidFill>
            <a:srgbClr val="0F766E"/>
          </a:solidFill>
          <a:ln w="19050">
            <a:solidFill>
              <a:srgbClr val="FFFFFF"/>
            </a:solidFill>
            <a:prstDash val="solid"/>
          </a:ln>
        </p:spPr>
      </p:sp>
      <p:sp>
        <p:nvSpPr>
          <p:cNvPr id="80" name="Rectangle: Rounded Corners 79">
            <a:extLst>
              <a:ext uri="{FF2B5EF4-FFF2-40B4-BE49-F238E27FC236}">
                <a16:creationId xmlns:a16="http://schemas.microsoft.com/office/drawing/2014/main" id="{0D703615-C4F4-4A03-9B4E-2DC9D7ECA629}"/>
              </a:ext>
            </a:extLst>
          </p:cNvPr>
          <p:cNvSpPr>
            <a:spLocks noGrp="1"/>
          </p:cNvSpPr>
          <p:nvPr/>
        </p:nvSpPr>
        <p:spPr>
          <a:xfrm>
            <a:off x="9525000" y="2057400"/>
            <a:ext cx="1143000" cy="819150"/>
          </a:xfrm>
          <a:prstGeom prst="roundRect">
            <a:avLst>
              <a:gd name="adj" fmla="val 11628"/>
            </a:avLst>
          </a:prstGeom>
          <a:solidFill>
            <a:srgbClr val="FFFFFF"/>
          </a:solidFill>
          <a:ln w="9525">
            <a:solidFill>
              <a:srgbClr val="D1D5DB"/>
            </a:solidFill>
            <a:prstDash val="solid"/>
          </a:ln>
        </p:spPr>
      </p:sp>
      <p:sp>
        <p:nvSpPr>
          <p:cNvPr id="81" name="Rectangle 80">
            <a:extLst>
              <a:ext uri="{FF2B5EF4-FFF2-40B4-BE49-F238E27FC236}">
                <a16:creationId xmlns:a16="http://schemas.microsoft.com/office/drawing/2014/main" id="{1CC39084-0D18-46BB-AC2D-8562BE8C4F7D}"/>
              </a:ext>
            </a:extLst>
          </p:cNvPr>
          <p:cNvSpPr>
            <a:spLocks noGrp="1"/>
          </p:cNvSpPr>
          <p:nvPr/>
        </p:nvSpPr>
        <p:spPr>
          <a:xfrm>
            <a:off x="9620250" y="2143125"/>
            <a:ext cx="952500" cy="152400"/>
          </a:xfrm>
          <a:prstGeom prst="rect">
            <a:avLst/>
          </a:prstGeom>
          <a:noFill/>
          <a:ln w="0">
            <a:noFill/>
            <a:prstDash val="solid"/>
          </a:ln>
        </p:spPr>
        <p:txBody>
          <a:bodyPr/>
          <a:lstStyle/>
          <a:p>
            <a:pPr algn="ctr">
              <a:defRPr sz="750" b="1" i="0">
                <a:solidFill>
                  <a:srgbClr val="0F766E"/>
                </a:solidFill>
              </a:defRPr>
            </a:pPr>
            <a:r>
              <a:rPr sz="750" b="1" i="0">
                <a:solidFill>
                  <a:srgbClr val="0F766E"/>
                </a:solidFill>
              </a:rPr>
              <a:t>WEEK 10</a:t>
            </a:r>
          </a:p>
        </p:txBody>
      </p:sp>
      <p:sp>
        <p:nvSpPr>
          <p:cNvPr id="82" name="Rectangle 81">
            <a:extLst>
              <a:ext uri="{FF2B5EF4-FFF2-40B4-BE49-F238E27FC236}">
                <a16:creationId xmlns:a16="http://schemas.microsoft.com/office/drawing/2014/main" id="{17BF7464-CE42-4301-B485-2614A01EC12A}"/>
              </a:ext>
            </a:extLst>
          </p:cNvPr>
          <p:cNvSpPr>
            <a:spLocks noGrp="1"/>
          </p:cNvSpPr>
          <p:nvPr/>
        </p:nvSpPr>
        <p:spPr>
          <a:xfrm>
            <a:off x="9610725" y="2333625"/>
            <a:ext cx="971550" cy="457200"/>
          </a:xfrm>
          <a:prstGeom prst="rect">
            <a:avLst/>
          </a:prstGeom>
          <a:noFill/>
          <a:ln w="0">
            <a:noFill/>
            <a:prstDash val="solid"/>
          </a:ln>
        </p:spPr>
        <p:txBody>
          <a:bodyPr/>
          <a:lstStyle/>
          <a:p>
            <a:pPr algn="ctr">
              <a:defRPr sz="788" b="1" i="0">
                <a:solidFill>
                  <a:srgbClr val="172554"/>
                </a:solidFill>
              </a:defRPr>
            </a:pPr>
            <a:r>
              <a:rPr sz="788" b="1" i="0">
                <a:solidFill>
                  <a:srgbClr val="172554"/>
                </a:solidFill>
              </a:rPr>
              <a:t>Voice, SOS, dashboard complete</a:t>
            </a:r>
          </a:p>
        </p:txBody>
      </p:sp>
      <p:sp>
        <p:nvSpPr>
          <p:cNvPr id="83" name="Rectangle 82">
            <a:extLst>
              <a:ext uri="{FF2B5EF4-FFF2-40B4-BE49-F238E27FC236}">
                <a16:creationId xmlns:a16="http://schemas.microsoft.com/office/drawing/2014/main" id="{A54070F8-6AF0-4573-94B7-25432F0F41F9}"/>
              </a:ext>
            </a:extLst>
          </p:cNvPr>
          <p:cNvSpPr>
            <a:spLocks noGrp="1"/>
          </p:cNvSpPr>
          <p:nvPr/>
        </p:nvSpPr>
        <p:spPr>
          <a:xfrm>
            <a:off x="10086975" y="2876550"/>
            <a:ext cx="19050" cy="238125"/>
          </a:xfrm>
          <a:prstGeom prst="rect">
            <a:avLst/>
          </a:prstGeom>
          <a:solidFill>
            <a:srgbClr val="9CA3AF"/>
          </a:solidFill>
          <a:ln w="0">
            <a:noFill/>
            <a:prstDash val="solid"/>
          </a:ln>
        </p:spPr>
      </p:sp>
      <p:sp>
        <p:nvSpPr>
          <p:cNvPr id="84" name="Oval 83">
            <a:extLst>
              <a:ext uri="{FF2B5EF4-FFF2-40B4-BE49-F238E27FC236}">
                <a16:creationId xmlns:a16="http://schemas.microsoft.com/office/drawing/2014/main" id="{ED756045-1B92-4123-A9F3-01A49301435A}"/>
              </a:ext>
            </a:extLst>
          </p:cNvPr>
          <p:cNvSpPr>
            <a:spLocks noGrp="1"/>
          </p:cNvSpPr>
          <p:nvPr/>
        </p:nvSpPr>
        <p:spPr>
          <a:xfrm>
            <a:off x="11058525" y="3114675"/>
            <a:ext cx="209550" cy="209550"/>
          </a:xfrm>
          <a:prstGeom prst="ellipse">
            <a:avLst/>
          </a:prstGeom>
          <a:solidFill>
            <a:srgbClr val="0F766E"/>
          </a:solidFill>
          <a:ln w="19050">
            <a:solidFill>
              <a:srgbClr val="FFFFFF"/>
            </a:solidFill>
            <a:prstDash val="solid"/>
          </a:ln>
        </p:spPr>
      </p:sp>
      <p:sp>
        <p:nvSpPr>
          <p:cNvPr id="85" name="Rectangle: Rounded Corners 84">
            <a:extLst>
              <a:ext uri="{FF2B5EF4-FFF2-40B4-BE49-F238E27FC236}">
                <a16:creationId xmlns:a16="http://schemas.microsoft.com/office/drawing/2014/main" id="{79D60BAB-9F6F-48C3-B912-8B79550F62BA}"/>
              </a:ext>
            </a:extLst>
          </p:cNvPr>
          <p:cNvSpPr>
            <a:spLocks noGrp="1"/>
          </p:cNvSpPr>
          <p:nvPr/>
        </p:nvSpPr>
        <p:spPr>
          <a:xfrm>
            <a:off x="10401300" y="3733800"/>
            <a:ext cx="1143000" cy="819150"/>
          </a:xfrm>
          <a:prstGeom prst="roundRect">
            <a:avLst>
              <a:gd name="adj" fmla="val 11628"/>
            </a:avLst>
          </a:prstGeom>
          <a:solidFill>
            <a:srgbClr val="FFFFFF"/>
          </a:solidFill>
          <a:ln w="9525">
            <a:solidFill>
              <a:srgbClr val="D1D5DB"/>
            </a:solidFill>
            <a:prstDash val="solid"/>
          </a:ln>
        </p:spPr>
      </p:sp>
      <p:sp>
        <p:nvSpPr>
          <p:cNvPr id="86" name="Rectangle 85">
            <a:extLst>
              <a:ext uri="{FF2B5EF4-FFF2-40B4-BE49-F238E27FC236}">
                <a16:creationId xmlns:a16="http://schemas.microsoft.com/office/drawing/2014/main" id="{8484FD47-A603-4293-9F44-1B6B3DC89AAD}"/>
              </a:ext>
            </a:extLst>
          </p:cNvPr>
          <p:cNvSpPr>
            <a:spLocks noGrp="1"/>
          </p:cNvSpPr>
          <p:nvPr/>
        </p:nvSpPr>
        <p:spPr>
          <a:xfrm>
            <a:off x="10496550" y="3819525"/>
            <a:ext cx="952500" cy="152400"/>
          </a:xfrm>
          <a:prstGeom prst="rect">
            <a:avLst/>
          </a:prstGeom>
          <a:noFill/>
          <a:ln w="0">
            <a:noFill/>
            <a:prstDash val="solid"/>
          </a:ln>
        </p:spPr>
        <p:txBody>
          <a:bodyPr/>
          <a:lstStyle/>
          <a:p>
            <a:pPr algn="ctr">
              <a:defRPr sz="750" b="1" i="0">
                <a:solidFill>
                  <a:srgbClr val="0F766E"/>
                </a:solidFill>
              </a:defRPr>
            </a:pPr>
            <a:r>
              <a:rPr sz="750" b="1" i="0">
                <a:solidFill>
                  <a:srgbClr val="0F766E"/>
                </a:solidFill>
              </a:rPr>
              <a:t>WEEK 12</a:t>
            </a:r>
          </a:p>
        </p:txBody>
      </p:sp>
      <p:sp>
        <p:nvSpPr>
          <p:cNvPr id="87" name="Rectangle 86">
            <a:extLst>
              <a:ext uri="{FF2B5EF4-FFF2-40B4-BE49-F238E27FC236}">
                <a16:creationId xmlns:a16="http://schemas.microsoft.com/office/drawing/2014/main" id="{6A070140-768A-45E9-9DBE-01133843D9E7}"/>
              </a:ext>
            </a:extLst>
          </p:cNvPr>
          <p:cNvSpPr>
            <a:spLocks noGrp="1"/>
          </p:cNvSpPr>
          <p:nvPr/>
        </p:nvSpPr>
        <p:spPr>
          <a:xfrm>
            <a:off x="10487025" y="4010025"/>
            <a:ext cx="971550" cy="457200"/>
          </a:xfrm>
          <a:prstGeom prst="rect">
            <a:avLst/>
          </a:prstGeom>
          <a:noFill/>
          <a:ln w="0">
            <a:noFill/>
            <a:prstDash val="solid"/>
          </a:ln>
        </p:spPr>
        <p:txBody>
          <a:bodyPr/>
          <a:lstStyle/>
          <a:p>
            <a:pPr algn="ctr">
              <a:defRPr sz="788" b="1" i="0">
                <a:solidFill>
                  <a:srgbClr val="172554"/>
                </a:solidFill>
              </a:defRPr>
            </a:pPr>
            <a:r>
              <a:rPr sz="788" b="1" i="0">
                <a:solidFill>
                  <a:srgbClr val="172554"/>
                </a:solidFill>
              </a:rPr>
              <a:t>Deployment and final demonstration</a:t>
            </a:r>
          </a:p>
        </p:txBody>
      </p:sp>
      <p:sp>
        <p:nvSpPr>
          <p:cNvPr id="88" name="Rectangle 87">
            <a:extLst>
              <a:ext uri="{FF2B5EF4-FFF2-40B4-BE49-F238E27FC236}">
                <a16:creationId xmlns:a16="http://schemas.microsoft.com/office/drawing/2014/main" id="{5B80C642-8112-4B1E-9414-D0C9BBF43B7F}"/>
              </a:ext>
            </a:extLst>
          </p:cNvPr>
          <p:cNvSpPr>
            <a:spLocks noGrp="1"/>
          </p:cNvSpPr>
          <p:nvPr/>
        </p:nvSpPr>
        <p:spPr>
          <a:xfrm>
            <a:off x="11153775" y="3324225"/>
            <a:ext cx="19050" cy="409575"/>
          </a:xfrm>
          <a:prstGeom prst="rect">
            <a:avLst/>
          </a:prstGeom>
          <a:solidFill>
            <a:srgbClr val="9CA3AF"/>
          </a:solidFill>
          <a:ln w="0">
            <a:noFill/>
            <a:prstDash val="solid"/>
          </a:ln>
        </p:spPr>
      </p:sp>
      <p:sp>
        <p:nvSpPr>
          <p:cNvPr id="89" name="Rectangle: Rounded Corners 88">
            <a:extLst>
              <a:ext uri="{FF2B5EF4-FFF2-40B4-BE49-F238E27FC236}">
                <a16:creationId xmlns:a16="http://schemas.microsoft.com/office/drawing/2014/main" id="{D434796C-D094-4125-A13E-1CB1B6DA64D5}"/>
              </a:ext>
            </a:extLst>
          </p:cNvPr>
          <p:cNvSpPr>
            <a:spLocks noGrp="1"/>
          </p:cNvSpPr>
          <p:nvPr/>
        </p:nvSpPr>
        <p:spPr>
          <a:xfrm>
            <a:off x="6800850" y="5041610"/>
            <a:ext cx="4362450" cy="647700"/>
          </a:xfrm>
          <a:prstGeom prst="roundRect">
            <a:avLst>
              <a:gd name="adj" fmla="val 19118"/>
            </a:avLst>
          </a:prstGeom>
          <a:solidFill>
            <a:srgbClr val="1E3A8A"/>
          </a:solidFill>
          <a:ln w="0">
            <a:noFill/>
            <a:prstDash val="solid"/>
          </a:ln>
        </p:spPr>
      </p:sp>
      <p:pic>
        <p:nvPicPr>
          <p:cNvPr id="181" name="Graphic 180"/>
          <p:cNvPicPr>
            <a:picLocks noChangeAspect="1"/>
          </p:cNvPicPr>
          <p:nvPr/>
        </p:nvPicPr>
        <p:blipFill>
          <a:blip>
            <a:extLst>
              <a:ext uri="{96DAC541-7B7A-43D3-8B79-37D633B846F1}">
                <asvg:svgBlip xmlns:asvg="http://schemas.microsoft.com/office/drawing/2016/SVG/main" r:embed="rId11"/>
              </a:ext>
            </a:extLst>
          </a:blip>
          <a:stretch/>
        </p:blipFill>
        <p:spPr>
          <a:xfrm>
            <a:off x="6972300" y="5257800"/>
            <a:ext cx="247650" cy="247650"/>
          </a:xfrm>
          <a:prstGeom prst="rect">
            <a:avLst/>
          </a:prstGeom>
        </p:spPr>
      </p:pic>
      <p:sp>
        <p:nvSpPr>
          <p:cNvPr id="91" name="Rectangle 90">
            <a:extLst>
              <a:ext uri="{FF2B5EF4-FFF2-40B4-BE49-F238E27FC236}">
                <a16:creationId xmlns:a16="http://schemas.microsoft.com/office/drawing/2014/main" id="{4C5C8BAB-84C1-441B-A090-44D9BEF44DD1}"/>
              </a:ext>
            </a:extLst>
          </p:cNvPr>
          <p:cNvSpPr>
            <a:spLocks noGrp="1"/>
          </p:cNvSpPr>
          <p:nvPr/>
        </p:nvSpPr>
        <p:spPr>
          <a:xfrm>
            <a:off x="7410450" y="5200650"/>
            <a:ext cx="3381375" cy="445199"/>
          </a:xfrm>
          <a:prstGeom prst="rect">
            <a:avLst/>
          </a:prstGeom>
          <a:noFill/>
          <a:ln w="0">
            <a:noFill/>
            <a:prstDash val="solid"/>
          </a:ln>
        </p:spPr>
        <p:txBody>
          <a:bodyPr/>
          <a:lstStyle/>
          <a:p>
            <a:pPr algn="ctr">
              <a:defRPr sz="1163" b="1" i="0">
                <a:solidFill>
                  <a:srgbClr val="FFFFFF"/>
                </a:solidFill>
              </a:defRPr>
            </a:pPr>
            <a:r>
              <a:rPr lang="en-IN" sz="1163" dirty="0">
                <a:solidFill>
                  <a:srgbClr val="FFFFFF"/>
                </a:solidFill>
              </a:rPr>
              <a:t>Tentative Time :  </a:t>
            </a:r>
            <a:r>
              <a:rPr sz="1163" b="1" i="0" dirty="0">
                <a:solidFill>
                  <a:srgbClr val="FFFFFF"/>
                </a:solidFill>
              </a:rPr>
              <a:t>Week 12 delivers deployment and the final demonstration.</a:t>
            </a:r>
          </a:p>
        </p:txBody>
      </p:sp>
    </p:spTree>
    <p:extLst>
      <p:ext uri="{BB962C8B-B14F-4D97-AF65-F5344CB8AC3E}">
        <p14:creationId xmlns:p14="http://schemas.microsoft.com/office/powerpoint/2010/main" val="1387635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B955734-63AE-B2E8-D331-61598A9ACE5E}"/>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47F67F75-5C51-DB43-A186-7777FA791230}"/>
              </a:ext>
            </a:extLst>
          </p:cNvPr>
          <p:cNvSpPr>
            <a:spLocks noGrp="1"/>
          </p:cNvSpPr>
          <p:nvPr/>
        </p:nvSpPr>
        <p:spPr>
          <a:xfrm>
            <a:off x="0" y="0"/>
            <a:ext cx="171450" cy="6858000"/>
          </a:xfrm>
          <a:prstGeom prst="rect">
            <a:avLst/>
          </a:prstGeom>
          <a:solidFill>
            <a:srgbClr val="1E3A8A"/>
          </a:solidFill>
          <a:ln w="0">
            <a:noFill/>
            <a:prstDash val="solid"/>
          </a:ln>
        </p:spPr>
      </p:sp>
      <p:sp>
        <p:nvSpPr>
          <p:cNvPr id="16" name="Straight Connector 15">
            <a:extLst>
              <a:ext uri="{FF2B5EF4-FFF2-40B4-BE49-F238E27FC236}">
                <a16:creationId xmlns:a16="http://schemas.microsoft.com/office/drawing/2014/main" id="{CFC2C050-0E91-D7A6-2195-7A26B51A03CA}"/>
              </a:ext>
            </a:extLst>
          </p:cNvPr>
          <p:cNvSpPr>
            <a:spLocks noGrp="1"/>
          </p:cNvSpPr>
          <p:nvPr/>
        </p:nvSpPr>
        <p:spPr>
          <a:xfrm>
            <a:off x="514350" y="6419850"/>
            <a:ext cx="11163300" cy="0"/>
          </a:xfrm>
          <a:prstGeom prst="line">
            <a:avLst/>
          </a:prstGeom>
          <a:noFill/>
          <a:ln w="9525">
            <a:solidFill>
              <a:srgbClr val="D1D5DB"/>
            </a:solidFill>
            <a:prstDash val="solid"/>
          </a:ln>
        </p:spPr>
      </p:sp>
      <p:sp>
        <p:nvSpPr>
          <p:cNvPr id="17" name="Rectangle 16">
            <a:extLst>
              <a:ext uri="{FF2B5EF4-FFF2-40B4-BE49-F238E27FC236}">
                <a16:creationId xmlns:a16="http://schemas.microsoft.com/office/drawing/2014/main" id="{27F55C6F-D37A-9977-5EE4-AC059C83B0CB}"/>
              </a:ext>
            </a:extLst>
          </p:cNvPr>
          <p:cNvSpPr>
            <a:spLocks noGrp="1"/>
          </p:cNvSpPr>
          <p:nvPr/>
        </p:nvSpPr>
        <p:spPr>
          <a:xfrm>
            <a:off x="571500" y="6515100"/>
            <a:ext cx="6858000" cy="171450"/>
          </a:xfrm>
          <a:prstGeom prst="rect">
            <a:avLst/>
          </a:prstGeom>
          <a:noFill/>
          <a:ln w="0">
            <a:noFill/>
            <a:prstDash val="solid"/>
          </a:ln>
        </p:spPr>
        <p:txBody>
          <a:bodyPr/>
          <a:lstStyle/>
          <a:p>
            <a:pPr algn="l">
              <a:defRPr sz="825" b="1" i="0">
                <a:solidFill>
                  <a:srgbClr val="4B5563"/>
                </a:solidFill>
              </a:defRPr>
            </a:pPr>
            <a:r>
              <a:rPr sz="825" b="1" i="0" dirty="0">
                <a:solidFill>
                  <a:srgbClr val="4B5563"/>
                </a:solidFill>
              </a:rPr>
              <a:t>Smart Public Bus Management System </a:t>
            </a:r>
          </a:p>
        </p:txBody>
      </p:sp>
      <p:sp>
        <p:nvSpPr>
          <p:cNvPr id="18" name="Rectangle 17">
            <a:extLst>
              <a:ext uri="{FF2B5EF4-FFF2-40B4-BE49-F238E27FC236}">
                <a16:creationId xmlns:a16="http://schemas.microsoft.com/office/drawing/2014/main" id="{17DB91F7-7B8C-04ED-4CCB-AE9E203CDD4D}"/>
              </a:ext>
            </a:extLst>
          </p:cNvPr>
          <p:cNvSpPr>
            <a:spLocks noGrp="1"/>
          </p:cNvSpPr>
          <p:nvPr/>
        </p:nvSpPr>
        <p:spPr>
          <a:xfrm>
            <a:off x="11049000" y="6505575"/>
            <a:ext cx="571500" cy="171450"/>
          </a:xfrm>
          <a:prstGeom prst="rect">
            <a:avLst/>
          </a:prstGeom>
          <a:noFill/>
          <a:ln w="0">
            <a:noFill/>
            <a:prstDash val="solid"/>
          </a:ln>
        </p:spPr>
        <p:txBody>
          <a:bodyPr/>
          <a:lstStyle/>
          <a:p>
            <a:pPr algn="r">
              <a:defRPr sz="825" b="1" i="0">
                <a:solidFill>
                  <a:srgbClr val="1E3A8A"/>
                </a:solidFill>
              </a:defRPr>
            </a:pPr>
            <a:r>
              <a:rPr sz="825" b="1" i="0">
                <a:solidFill>
                  <a:srgbClr val="1E3A8A"/>
                </a:solidFill>
              </a:rPr>
              <a:t>11</a:t>
            </a:r>
          </a:p>
        </p:txBody>
      </p:sp>
      <p:pic>
        <p:nvPicPr>
          <p:cNvPr id="2" name="end of presentation hamster">
            <a:hlinkClick r:id="" action="ppaction://media"/>
            <a:extLst>
              <a:ext uri="{FF2B5EF4-FFF2-40B4-BE49-F238E27FC236}">
                <a16:creationId xmlns:a16="http://schemas.microsoft.com/office/drawing/2014/main" id="{85E6E3AA-92DD-87F5-9CB8-DB6C8DD93DB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3152" y="-73148"/>
            <a:ext cx="12353544" cy="7037828"/>
          </a:xfrm>
          <a:prstGeom prst="rect">
            <a:avLst/>
          </a:prstGeom>
        </p:spPr>
      </p:pic>
    </p:spTree>
    <p:extLst>
      <p:ext uri="{BB962C8B-B14F-4D97-AF65-F5344CB8AC3E}">
        <p14:creationId xmlns:p14="http://schemas.microsoft.com/office/powerpoint/2010/main" val="2392760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55734-63AE-B2E8-D331-61598A9ACE5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E78432A-FAD2-4D97-9540-49BF79F55272}"/>
              </a:ext>
            </a:extLst>
          </p:cNvPr>
          <p:cNvSpPr/>
          <p:nvPr/>
        </p:nvSpPr>
        <p:spPr>
          <a:xfrm>
            <a:off x="4566663" y="3133725"/>
            <a:ext cx="2802636" cy="256946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47F67F75-5C51-DB43-A186-7777FA791230}"/>
              </a:ext>
            </a:extLst>
          </p:cNvPr>
          <p:cNvSpPr>
            <a:spLocks noGrp="1"/>
          </p:cNvSpPr>
          <p:nvPr/>
        </p:nvSpPr>
        <p:spPr>
          <a:xfrm>
            <a:off x="0" y="0"/>
            <a:ext cx="171450" cy="6858000"/>
          </a:xfrm>
          <a:prstGeom prst="rect">
            <a:avLst/>
          </a:prstGeom>
          <a:solidFill>
            <a:srgbClr val="1E3A8A"/>
          </a:solidFill>
          <a:ln w="0">
            <a:noFill/>
            <a:prstDash val="solid"/>
          </a:ln>
        </p:spPr>
      </p:sp>
      <p:sp>
        <p:nvSpPr>
          <p:cNvPr id="16" name="Straight Connector 15">
            <a:extLst>
              <a:ext uri="{FF2B5EF4-FFF2-40B4-BE49-F238E27FC236}">
                <a16:creationId xmlns:a16="http://schemas.microsoft.com/office/drawing/2014/main" id="{CFC2C050-0E91-D7A6-2195-7A26B51A03CA}"/>
              </a:ext>
            </a:extLst>
          </p:cNvPr>
          <p:cNvSpPr>
            <a:spLocks noGrp="1"/>
          </p:cNvSpPr>
          <p:nvPr/>
        </p:nvSpPr>
        <p:spPr>
          <a:xfrm>
            <a:off x="514350" y="6419850"/>
            <a:ext cx="11163300" cy="0"/>
          </a:xfrm>
          <a:prstGeom prst="line">
            <a:avLst/>
          </a:prstGeom>
          <a:noFill/>
          <a:ln w="9525">
            <a:solidFill>
              <a:srgbClr val="D1D5DB"/>
            </a:solidFill>
            <a:prstDash val="solid"/>
          </a:ln>
        </p:spPr>
      </p:sp>
      <p:sp>
        <p:nvSpPr>
          <p:cNvPr id="17" name="Rectangle 16">
            <a:extLst>
              <a:ext uri="{FF2B5EF4-FFF2-40B4-BE49-F238E27FC236}">
                <a16:creationId xmlns:a16="http://schemas.microsoft.com/office/drawing/2014/main" id="{27F55C6F-D37A-9977-5EE4-AC059C83B0CB}"/>
              </a:ext>
            </a:extLst>
          </p:cNvPr>
          <p:cNvSpPr>
            <a:spLocks noGrp="1"/>
          </p:cNvSpPr>
          <p:nvPr/>
        </p:nvSpPr>
        <p:spPr>
          <a:xfrm>
            <a:off x="571500" y="6515100"/>
            <a:ext cx="6858000" cy="171450"/>
          </a:xfrm>
          <a:prstGeom prst="rect">
            <a:avLst/>
          </a:prstGeom>
          <a:noFill/>
          <a:ln w="0">
            <a:noFill/>
            <a:prstDash val="solid"/>
          </a:ln>
        </p:spPr>
        <p:txBody>
          <a:bodyPr/>
          <a:lstStyle/>
          <a:p>
            <a:pPr algn="l">
              <a:defRPr sz="825" b="1" i="0">
                <a:solidFill>
                  <a:srgbClr val="4B5563"/>
                </a:solidFill>
              </a:defRPr>
            </a:pPr>
            <a:r>
              <a:rPr sz="825" b="1" i="0" dirty="0">
                <a:solidFill>
                  <a:srgbClr val="4B5563"/>
                </a:solidFill>
              </a:rPr>
              <a:t>Smart Public Bus Management System </a:t>
            </a:r>
          </a:p>
        </p:txBody>
      </p:sp>
      <p:sp>
        <p:nvSpPr>
          <p:cNvPr id="18" name="Rectangle 17">
            <a:extLst>
              <a:ext uri="{FF2B5EF4-FFF2-40B4-BE49-F238E27FC236}">
                <a16:creationId xmlns:a16="http://schemas.microsoft.com/office/drawing/2014/main" id="{17DB91F7-7B8C-04ED-4CCB-AE9E203CDD4D}"/>
              </a:ext>
            </a:extLst>
          </p:cNvPr>
          <p:cNvSpPr>
            <a:spLocks noGrp="1"/>
          </p:cNvSpPr>
          <p:nvPr/>
        </p:nvSpPr>
        <p:spPr>
          <a:xfrm>
            <a:off x="11049000" y="6505575"/>
            <a:ext cx="571500" cy="171450"/>
          </a:xfrm>
          <a:prstGeom prst="rect">
            <a:avLst/>
          </a:prstGeom>
          <a:noFill/>
          <a:ln w="0">
            <a:noFill/>
            <a:prstDash val="solid"/>
          </a:ln>
        </p:spPr>
        <p:txBody>
          <a:bodyPr/>
          <a:lstStyle/>
          <a:p>
            <a:pPr algn="r">
              <a:defRPr sz="825" b="1" i="0">
                <a:solidFill>
                  <a:srgbClr val="1E3A8A"/>
                </a:solidFill>
              </a:defRPr>
            </a:pPr>
            <a:r>
              <a:rPr sz="825" b="1" i="0" dirty="0">
                <a:solidFill>
                  <a:srgbClr val="1E3A8A"/>
                </a:solidFill>
              </a:rPr>
              <a:t>1</a:t>
            </a:r>
            <a:r>
              <a:rPr lang="en-IN" sz="825" b="1" i="0" dirty="0">
                <a:solidFill>
                  <a:srgbClr val="1E3A8A"/>
                </a:solidFill>
              </a:rPr>
              <a:t>2</a:t>
            </a:r>
            <a:endParaRPr sz="825" b="1" i="0" dirty="0">
              <a:solidFill>
                <a:srgbClr val="1E3A8A"/>
              </a:solidFill>
            </a:endParaRPr>
          </a:p>
        </p:txBody>
      </p:sp>
      <p:sp>
        <p:nvSpPr>
          <p:cNvPr id="3" name="Rectangle 2">
            <a:extLst>
              <a:ext uri="{FF2B5EF4-FFF2-40B4-BE49-F238E27FC236}">
                <a16:creationId xmlns:a16="http://schemas.microsoft.com/office/drawing/2014/main" id="{73EE3A08-3384-A359-6990-524204B460F1}"/>
              </a:ext>
            </a:extLst>
          </p:cNvPr>
          <p:cNvSpPr>
            <a:spLocks noGrp="1"/>
          </p:cNvSpPr>
          <p:nvPr/>
        </p:nvSpPr>
        <p:spPr>
          <a:xfrm>
            <a:off x="3248594" y="1895099"/>
            <a:ext cx="5438775" cy="521965"/>
          </a:xfrm>
          <a:prstGeom prst="rect">
            <a:avLst/>
          </a:prstGeom>
          <a:noFill/>
          <a:ln w="0">
            <a:noFill/>
            <a:prstDash val="solid"/>
          </a:ln>
        </p:spPr>
        <p:txBody>
          <a:bodyPr/>
          <a:lstStyle/>
          <a:p>
            <a:pPr algn="ctr">
              <a:defRPr sz="2700" b="1" i="0">
                <a:solidFill>
                  <a:srgbClr val="172554"/>
                </a:solidFill>
              </a:defRPr>
            </a:pPr>
            <a:r>
              <a:rPr lang="en-IN" sz="6000" b="1" i="0" dirty="0">
                <a:solidFill>
                  <a:srgbClr val="172554"/>
                </a:solidFill>
              </a:rPr>
              <a:t>THANK YOU</a:t>
            </a:r>
            <a:endParaRPr sz="6000" b="1" i="0" dirty="0">
              <a:solidFill>
                <a:srgbClr val="172554"/>
              </a:solidFill>
            </a:endParaRPr>
          </a:p>
        </p:txBody>
      </p:sp>
      <p:pic>
        <p:nvPicPr>
          <p:cNvPr id="4" name="Picture 3">
            <a:extLst>
              <a:ext uri="{FF2B5EF4-FFF2-40B4-BE49-F238E27FC236}">
                <a16:creationId xmlns:a16="http://schemas.microsoft.com/office/drawing/2014/main" id="{98D4BEB7-5CEF-C22F-E442-10F5E2A43C84}"/>
              </a:ext>
            </a:extLst>
          </p:cNvPr>
          <p:cNvPicPr>
            <a:picLocks noChangeAspect="1"/>
          </p:cNvPicPr>
          <p:nvPr/>
        </p:nvPicPr>
        <p:blipFill>
          <a:blip r:embed="rId3"/>
          <a:stretch>
            <a:fillRect/>
          </a:stretch>
        </p:blipFill>
        <p:spPr>
          <a:xfrm>
            <a:off x="5117588" y="3641098"/>
            <a:ext cx="1700786" cy="1752598"/>
          </a:xfrm>
          <a:prstGeom prst="rect">
            <a:avLst/>
          </a:prstGeom>
        </p:spPr>
      </p:pic>
      <p:sp>
        <p:nvSpPr>
          <p:cNvPr id="5" name="TextBox 4">
            <a:extLst>
              <a:ext uri="{FF2B5EF4-FFF2-40B4-BE49-F238E27FC236}">
                <a16:creationId xmlns:a16="http://schemas.microsoft.com/office/drawing/2014/main" id="{B38134EF-8CEC-041F-F23F-C3C3BDADFE4B}"/>
              </a:ext>
            </a:extLst>
          </p:cNvPr>
          <p:cNvSpPr txBox="1"/>
          <p:nvPr/>
        </p:nvSpPr>
        <p:spPr>
          <a:xfrm>
            <a:off x="4852413" y="3271766"/>
            <a:ext cx="2359152" cy="369332"/>
          </a:xfrm>
          <a:prstGeom prst="rect">
            <a:avLst/>
          </a:prstGeom>
          <a:noFill/>
        </p:spPr>
        <p:txBody>
          <a:bodyPr wrap="square" rtlCol="0">
            <a:spAutoFit/>
          </a:bodyPr>
          <a:lstStyle/>
          <a:p>
            <a:r>
              <a:rPr lang="en-IN" dirty="0"/>
              <a:t>Scan to fill up the form</a:t>
            </a:r>
          </a:p>
        </p:txBody>
      </p:sp>
    </p:spTree>
    <p:extLst>
      <p:ext uri="{BB962C8B-B14F-4D97-AF65-F5344CB8AC3E}">
        <p14:creationId xmlns:p14="http://schemas.microsoft.com/office/powerpoint/2010/main" val="24976875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706</TotalTime>
  <Words>1073</Words>
  <Application>Microsoft Office PowerPoint</Application>
  <DocSecurity>0</DocSecurity>
  <PresentationFormat>Widescreen</PresentationFormat>
  <Paragraphs>265</Paragraphs>
  <Slides>12</Slides>
  <Notes>12</Notes>
  <HiddenSlides>0</HiddenSlides>
  <MMClips>1</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Nirmalya Mandal</cp:lastModifiedBy>
  <cp:revision>9</cp:revision>
  <dcterms:created xsi:type="dcterms:W3CDTF">2026-08-25T17:29:29Z</dcterms:created>
  <dcterms:modified xsi:type="dcterms:W3CDTF">2026-08-27T07:28:37Z</dcterms:modified>
</cp:coreProperties>
</file>